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4" r:id="rId2"/>
    <p:sldId id="2562" r:id="rId3"/>
    <p:sldId id="2563" r:id="rId4"/>
    <p:sldId id="2564" r:id="rId5"/>
    <p:sldId id="2565" r:id="rId6"/>
    <p:sldId id="2581" r:id="rId7"/>
    <p:sldId id="2575" r:id="rId8"/>
    <p:sldId id="2580" r:id="rId9"/>
    <p:sldId id="2579" r:id="rId10"/>
    <p:sldId id="2576" r:id="rId11"/>
    <p:sldId id="2577" r:id="rId12"/>
    <p:sldId id="2585" r:id="rId13"/>
    <p:sldId id="2578" r:id="rId14"/>
    <p:sldId id="2582" r:id="rId15"/>
    <p:sldId id="2566" r:id="rId16"/>
    <p:sldId id="2583" r:id="rId17"/>
    <p:sldId id="2572" r:id="rId18"/>
    <p:sldId id="25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and Overview" id="{9DC4C828-24E9-40EC-AFF5-FF6280CFABB6}">
          <p14:sldIdLst>
            <p14:sldId id="2574"/>
            <p14:sldId id="2562"/>
            <p14:sldId id="2563"/>
            <p14:sldId id="2564"/>
            <p14:sldId id="2565"/>
          </p14:sldIdLst>
        </p14:section>
        <p14:section name="POC Assessment" id="{10D71EDF-28C1-4820-BD2F-1CF58F9E4A17}">
          <p14:sldIdLst>
            <p14:sldId id="2581"/>
            <p14:sldId id="2575"/>
            <p14:sldId id="2580"/>
            <p14:sldId id="2579"/>
            <p14:sldId id="2576"/>
            <p14:sldId id="2577"/>
            <p14:sldId id="2585"/>
            <p14:sldId id="2578"/>
          </p14:sldIdLst>
        </p14:section>
        <p14:section name="Features and Benefits" id="{2AAAAAA2-1202-461F-894F-F59447166B6E}">
          <p14:sldIdLst>
            <p14:sldId id="2582"/>
            <p14:sldId id="2566"/>
          </p14:sldIdLst>
        </p14:section>
        <p14:section name="Conclusion" id="{A89CA4ED-57F4-4525-8A8B-8E9D64D11E89}">
          <p14:sldIdLst>
            <p14:sldId id="2583"/>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849243-AA1B-4341-AAA8-E18077FE5C7E}" v="408" dt="2025-01-28T13:47:32.6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1260"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02A5DB-66FA-46BD-B59A-A64851ED6FA7}"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GB"/>
        </a:p>
      </dgm:t>
    </dgm:pt>
    <dgm:pt modelId="{C8A84758-0C8F-48C9-808D-82E61D280909}">
      <dgm:prSet/>
      <dgm:spPr/>
      <dgm:t>
        <a:bodyPr/>
        <a:lstStyle/>
        <a:p>
          <a:pPr>
            <a:lnSpc>
              <a:spcPct val="100000"/>
            </a:lnSpc>
            <a:defRPr b="1"/>
          </a:pPr>
          <a:r>
            <a:rPr lang="en-GB"/>
            <a:t>Integrated Data Platform</a:t>
          </a:r>
        </a:p>
      </dgm:t>
    </dgm:pt>
    <dgm:pt modelId="{7D80DF00-59C5-489B-BFBC-9C450E001DE9}" type="parTrans" cxnId="{B8390989-4F90-42C1-A97B-B746D2F65F38}">
      <dgm:prSet/>
      <dgm:spPr/>
      <dgm:t>
        <a:bodyPr/>
        <a:lstStyle/>
        <a:p>
          <a:endParaRPr lang="en-GB"/>
        </a:p>
      </dgm:t>
    </dgm:pt>
    <dgm:pt modelId="{988AEFEF-F71C-4098-82C8-26CEF1BE88D1}" type="sibTrans" cxnId="{B8390989-4F90-42C1-A97B-B746D2F65F38}">
      <dgm:prSet/>
      <dgm:spPr/>
      <dgm:t>
        <a:bodyPr/>
        <a:lstStyle/>
        <a:p>
          <a:pPr>
            <a:lnSpc>
              <a:spcPct val="100000"/>
            </a:lnSpc>
            <a:defRPr b="1"/>
          </a:pPr>
          <a:endParaRPr lang="en-GB"/>
        </a:p>
      </dgm:t>
    </dgm:pt>
    <dgm:pt modelId="{DDA28F45-C786-4F53-A290-53CB52603895}">
      <dgm:prSet/>
      <dgm:spPr/>
      <dgm:t>
        <a:bodyPr/>
        <a:lstStyle/>
        <a:p>
          <a:pPr>
            <a:lnSpc>
              <a:spcPct val="100000"/>
            </a:lnSpc>
          </a:pPr>
          <a:r>
            <a:rPr lang="en-GB"/>
            <a:t>Microsoft Fabric combines multiple data functions into one cohesive platform, simplifying data management.</a:t>
          </a:r>
        </a:p>
      </dgm:t>
    </dgm:pt>
    <dgm:pt modelId="{3DDA95CA-312F-4696-94A5-4EFBFDD1CA48}" type="parTrans" cxnId="{3608A834-42E0-49CB-8AB5-B2243D2466FD}">
      <dgm:prSet/>
      <dgm:spPr/>
      <dgm:t>
        <a:bodyPr/>
        <a:lstStyle/>
        <a:p>
          <a:endParaRPr lang="en-GB"/>
        </a:p>
      </dgm:t>
    </dgm:pt>
    <dgm:pt modelId="{CF17A682-9896-473F-960C-0347A85790DE}" type="sibTrans" cxnId="{3608A834-42E0-49CB-8AB5-B2243D2466FD}">
      <dgm:prSet/>
      <dgm:spPr/>
      <dgm:t>
        <a:bodyPr/>
        <a:lstStyle/>
        <a:p>
          <a:endParaRPr lang="en-GB"/>
        </a:p>
      </dgm:t>
    </dgm:pt>
    <dgm:pt modelId="{AE87BAB3-169B-48A7-BA5E-B2CF07BCE96C}">
      <dgm:prSet/>
      <dgm:spPr/>
      <dgm:t>
        <a:bodyPr/>
        <a:lstStyle/>
        <a:p>
          <a:pPr>
            <a:lnSpc>
              <a:spcPct val="100000"/>
            </a:lnSpc>
            <a:defRPr b="1"/>
          </a:pPr>
          <a:r>
            <a:rPr lang="en-GB"/>
            <a:t>Collaboration Across Departments</a:t>
          </a:r>
        </a:p>
      </dgm:t>
    </dgm:pt>
    <dgm:pt modelId="{62D3C70E-6F0D-4D53-8FAB-46ABA8EFD343}" type="parTrans" cxnId="{96475BC9-A0E5-4C87-A79A-C4B9637E45C5}">
      <dgm:prSet/>
      <dgm:spPr/>
      <dgm:t>
        <a:bodyPr/>
        <a:lstStyle/>
        <a:p>
          <a:endParaRPr lang="en-GB"/>
        </a:p>
      </dgm:t>
    </dgm:pt>
    <dgm:pt modelId="{1C96D8A2-9EA6-4B68-88DB-AD83F62CC57A}" type="sibTrans" cxnId="{96475BC9-A0E5-4C87-A79A-C4B9637E45C5}">
      <dgm:prSet/>
      <dgm:spPr/>
      <dgm:t>
        <a:bodyPr/>
        <a:lstStyle/>
        <a:p>
          <a:pPr>
            <a:lnSpc>
              <a:spcPct val="100000"/>
            </a:lnSpc>
            <a:defRPr b="1"/>
          </a:pPr>
          <a:endParaRPr lang="en-GB"/>
        </a:p>
      </dgm:t>
    </dgm:pt>
    <dgm:pt modelId="{50D6A566-9844-4F22-B819-7DA88F6E6C64}">
      <dgm:prSet/>
      <dgm:spPr/>
      <dgm:t>
        <a:bodyPr/>
        <a:lstStyle/>
        <a:p>
          <a:pPr>
            <a:lnSpc>
              <a:spcPct val="100000"/>
            </a:lnSpc>
          </a:pPr>
          <a:r>
            <a:rPr lang="en-GB"/>
            <a:t>The platform enables collaboration between different departments, fostering teamwork and data sharing.</a:t>
          </a:r>
        </a:p>
      </dgm:t>
    </dgm:pt>
    <dgm:pt modelId="{8B7B6194-5427-45CC-8998-22867CB179F4}" type="parTrans" cxnId="{BFFC98E0-06A6-43AD-8844-7F31D2452DBB}">
      <dgm:prSet/>
      <dgm:spPr/>
      <dgm:t>
        <a:bodyPr/>
        <a:lstStyle/>
        <a:p>
          <a:endParaRPr lang="en-GB"/>
        </a:p>
      </dgm:t>
    </dgm:pt>
    <dgm:pt modelId="{17871528-0A86-4FF6-B6D4-A4379F3BDB0A}" type="sibTrans" cxnId="{BFFC98E0-06A6-43AD-8844-7F31D2452DBB}">
      <dgm:prSet/>
      <dgm:spPr/>
      <dgm:t>
        <a:bodyPr/>
        <a:lstStyle/>
        <a:p>
          <a:endParaRPr lang="en-GB"/>
        </a:p>
      </dgm:t>
    </dgm:pt>
    <dgm:pt modelId="{0018357F-988F-4BCA-8FB7-4995A80439E0}">
      <dgm:prSet/>
      <dgm:spPr/>
      <dgm:t>
        <a:bodyPr/>
        <a:lstStyle/>
        <a:p>
          <a:pPr>
            <a:lnSpc>
              <a:spcPct val="100000"/>
            </a:lnSpc>
            <a:defRPr b="1"/>
          </a:pPr>
          <a:r>
            <a:rPr lang="en-GB"/>
            <a:t>Harnessing Insights</a:t>
          </a:r>
        </a:p>
      </dgm:t>
    </dgm:pt>
    <dgm:pt modelId="{4D7E9AE9-C537-423E-99C2-907C927DF0AB}" type="parTrans" cxnId="{545A4820-6367-4EC0-98C1-14A1F95F7B82}">
      <dgm:prSet/>
      <dgm:spPr/>
      <dgm:t>
        <a:bodyPr/>
        <a:lstStyle/>
        <a:p>
          <a:endParaRPr lang="en-GB"/>
        </a:p>
      </dgm:t>
    </dgm:pt>
    <dgm:pt modelId="{61FEAD5C-59B3-45A0-B45A-7BC42F89B014}" type="sibTrans" cxnId="{545A4820-6367-4EC0-98C1-14A1F95F7B82}">
      <dgm:prSet/>
      <dgm:spPr/>
      <dgm:t>
        <a:bodyPr/>
        <a:lstStyle/>
        <a:p>
          <a:endParaRPr lang="en-GB"/>
        </a:p>
      </dgm:t>
    </dgm:pt>
    <dgm:pt modelId="{011F0062-9266-4AEA-A8E7-5C94717435AB}">
      <dgm:prSet/>
      <dgm:spPr/>
      <dgm:t>
        <a:bodyPr/>
        <a:lstStyle/>
        <a:p>
          <a:pPr>
            <a:lnSpc>
              <a:spcPct val="100000"/>
            </a:lnSpc>
          </a:pPr>
          <a:r>
            <a:rPr lang="en-GB"/>
            <a:t>Organizations can derive valuable insights from their data, enhancing decision-making processes.</a:t>
          </a:r>
        </a:p>
      </dgm:t>
    </dgm:pt>
    <dgm:pt modelId="{BCC5DB30-9FB0-4461-B32F-A4444144285C}" type="parTrans" cxnId="{3D2D987D-9F3B-4D86-9382-3CFACFD410F3}">
      <dgm:prSet/>
      <dgm:spPr/>
      <dgm:t>
        <a:bodyPr/>
        <a:lstStyle/>
        <a:p>
          <a:endParaRPr lang="en-GB"/>
        </a:p>
      </dgm:t>
    </dgm:pt>
    <dgm:pt modelId="{5F6DC3E1-A42E-43F3-9343-6E5E57F1C4B1}" type="sibTrans" cxnId="{3D2D987D-9F3B-4D86-9382-3CFACFD410F3}">
      <dgm:prSet/>
      <dgm:spPr/>
      <dgm:t>
        <a:bodyPr/>
        <a:lstStyle/>
        <a:p>
          <a:endParaRPr lang="en-GB"/>
        </a:p>
      </dgm:t>
    </dgm:pt>
    <dgm:pt modelId="{6B450AE2-104F-42C2-9444-8DE3486BC09A}" type="pres">
      <dgm:prSet presAssocID="{D602A5DB-66FA-46BD-B59A-A64851ED6FA7}" presName="Root" presStyleCnt="0">
        <dgm:presLayoutVars>
          <dgm:dir/>
          <dgm:resizeHandles val="exact"/>
        </dgm:presLayoutVars>
      </dgm:prSet>
      <dgm:spPr/>
    </dgm:pt>
    <dgm:pt modelId="{C7280B81-28D3-407F-ABE4-1EDC6B1D884E}" type="pres">
      <dgm:prSet presAssocID="{C8A84758-0C8F-48C9-808D-82E61D280909}" presName="Composite" presStyleCnt="0"/>
      <dgm:spPr/>
    </dgm:pt>
    <dgm:pt modelId="{6062D2B1-AA0A-43EF-A967-68522BA34FD5}" type="pres">
      <dgm:prSet presAssocID="{C8A84758-0C8F-48C9-808D-82E61D280909}"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1959" r="21290" b="-2"/>
          <a:stretch>
            <a:fillRect l="-25000" r="-25000"/>
          </a:stretch>
        </a:blipFill>
      </dgm:spPr>
      <dgm:extLst>
        <a:ext uri="{E40237B7-FDA0-4F09-8148-C483321AD2D9}">
          <dgm14:cNvPr xmlns:dgm14="http://schemas.microsoft.com/office/drawing/2010/diagram" id="0" name="" descr="Internet of Things Concept"/>
        </a:ext>
      </dgm:extLst>
    </dgm:pt>
    <dgm:pt modelId="{A7CA8706-338A-46B9-AC59-985C0B87C1AD}" type="pres">
      <dgm:prSet presAssocID="{C8A84758-0C8F-48C9-808D-82E61D280909}" presName="Subtitle" presStyleLbl="revTx" presStyleIdx="0" presStyleCnt="6">
        <dgm:presLayoutVars>
          <dgm:chMax val="0"/>
          <dgm:bulletEnabled/>
        </dgm:presLayoutVars>
      </dgm:prSet>
      <dgm:spPr/>
    </dgm:pt>
    <dgm:pt modelId="{7E764D8D-19D0-4232-8016-3CE1BB9BDF3F}" type="pres">
      <dgm:prSet presAssocID="{C8A84758-0C8F-48C9-808D-82E61D280909}" presName="Description" presStyleLbl="revTx" presStyleIdx="1" presStyleCnt="6">
        <dgm:presLayoutVars>
          <dgm:bulletEnabled/>
        </dgm:presLayoutVars>
      </dgm:prSet>
      <dgm:spPr/>
    </dgm:pt>
    <dgm:pt modelId="{53FEDFC5-B779-469B-A5B4-10305040EEE0}" type="pres">
      <dgm:prSet presAssocID="{988AEFEF-F71C-4098-82C8-26CEF1BE88D1}" presName="sibTrans" presStyleLbl="sibTrans2D1" presStyleIdx="0" presStyleCnt="0"/>
      <dgm:spPr/>
    </dgm:pt>
    <dgm:pt modelId="{FD1E7E99-4120-4B0C-9C1B-AFB235D1F48E}" type="pres">
      <dgm:prSet presAssocID="{AE87BAB3-169B-48A7-BA5E-B2CF07BCE96C}" presName="Composite" presStyleCnt="0"/>
      <dgm:spPr/>
    </dgm:pt>
    <dgm:pt modelId="{5D74DCC7-F532-4232-97D7-50C7C9ED2603}" type="pres">
      <dgm:prSet presAssocID="{AE87BAB3-169B-48A7-BA5E-B2CF07BCE96C}"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8884" r="4365" b="-2"/>
          <a:stretch>
            <a:fillRect l="-25000" r="-25000"/>
          </a:stretch>
        </a:blipFill>
      </dgm:spPr>
      <dgm:extLst>
        <a:ext uri="{E40237B7-FDA0-4F09-8148-C483321AD2D9}">
          <dgm14:cNvPr xmlns:dgm14="http://schemas.microsoft.com/office/drawing/2010/diagram" id="0" name="" descr="Group working on graphs"/>
        </a:ext>
      </dgm:extLst>
    </dgm:pt>
    <dgm:pt modelId="{706341F7-8E95-4BF3-ABBE-1E2E15163486}" type="pres">
      <dgm:prSet presAssocID="{AE87BAB3-169B-48A7-BA5E-B2CF07BCE96C}" presName="Subtitle" presStyleLbl="revTx" presStyleIdx="2" presStyleCnt="6">
        <dgm:presLayoutVars>
          <dgm:chMax val="0"/>
          <dgm:bulletEnabled/>
        </dgm:presLayoutVars>
      </dgm:prSet>
      <dgm:spPr/>
    </dgm:pt>
    <dgm:pt modelId="{0CB2E7AC-1799-4300-AA23-495FA065666F}" type="pres">
      <dgm:prSet presAssocID="{AE87BAB3-169B-48A7-BA5E-B2CF07BCE96C}" presName="Description" presStyleLbl="revTx" presStyleIdx="3" presStyleCnt="6">
        <dgm:presLayoutVars>
          <dgm:bulletEnabled/>
        </dgm:presLayoutVars>
      </dgm:prSet>
      <dgm:spPr/>
    </dgm:pt>
    <dgm:pt modelId="{58B7F029-6BE2-4762-9AC3-8AEF21E8BFE9}" type="pres">
      <dgm:prSet presAssocID="{1C96D8A2-9EA6-4B68-88DB-AD83F62CC57A}" presName="sibTrans" presStyleLbl="sibTrans2D1" presStyleIdx="0" presStyleCnt="0"/>
      <dgm:spPr/>
    </dgm:pt>
    <dgm:pt modelId="{48C7D860-F462-4688-A82E-7172DDD71F9C}" type="pres">
      <dgm:prSet presAssocID="{0018357F-988F-4BCA-8FB7-4995A80439E0}" presName="Composite" presStyleCnt="0"/>
      <dgm:spPr/>
    </dgm:pt>
    <dgm:pt modelId="{75B61A29-EFCD-46B2-8FF8-A870DDCE8985}" type="pres">
      <dgm:prSet presAssocID="{0018357F-988F-4BCA-8FB7-4995A80439E0}"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r="33249" b="-2"/>
          <a:stretch>
            <a:fillRect l="-25000" r="-25000"/>
          </a:stretch>
        </a:blipFill>
      </dgm:spPr>
      <dgm:extLst>
        <a:ext uri="{E40237B7-FDA0-4F09-8148-C483321AD2D9}">
          <dgm14:cNvPr xmlns:dgm14="http://schemas.microsoft.com/office/drawing/2010/diagram" id="0" name="" descr="Shot of a businessman looking thoughtfully at a graph against a white background"/>
        </a:ext>
      </dgm:extLst>
    </dgm:pt>
    <dgm:pt modelId="{26808B0C-F38D-4301-8DF3-F49033765B5D}" type="pres">
      <dgm:prSet presAssocID="{0018357F-988F-4BCA-8FB7-4995A80439E0}" presName="Subtitle" presStyleLbl="revTx" presStyleIdx="4" presStyleCnt="6">
        <dgm:presLayoutVars>
          <dgm:chMax val="0"/>
          <dgm:bulletEnabled/>
        </dgm:presLayoutVars>
      </dgm:prSet>
      <dgm:spPr/>
    </dgm:pt>
    <dgm:pt modelId="{32F34F55-BAB1-4E05-8903-29D653AE0DDC}" type="pres">
      <dgm:prSet presAssocID="{0018357F-988F-4BCA-8FB7-4995A80439E0}" presName="Description" presStyleLbl="revTx" presStyleIdx="5" presStyleCnt="6">
        <dgm:presLayoutVars>
          <dgm:bulletEnabled/>
        </dgm:presLayoutVars>
      </dgm:prSet>
      <dgm:spPr/>
    </dgm:pt>
  </dgm:ptLst>
  <dgm:cxnLst>
    <dgm:cxn modelId="{2E6F7A1D-6888-48BA-BF13-7CE393881247}" type="presOf" srcId="{DDA28F45-C786-4F53-A290-53CB52603895}" destId="{7E764D8D-19D0-4232-8016-3CE1BB9BDF3F}" srcOrd="0" destOrd="0" presId="urn:microsoft.com/office/officeart/2024/3/layout/verticalVisualTextBlock1"/>
    <dgm:cxn modelId="{AC9D521F-2BE2-42D3-A73F-0080BF81FC7B}" type="presOf" srcId="{011F0062-9266-4AEA-A8E7-5C94717435AB}" destId="{32F34F55-BAB1-4E05-8903-29D653AE0DDC}" srcOrd="0" destOrd="0" presId="urn:microsoft.com/office/officeart/2024/3/layout/verticalVisualTextBlock1"/>
    <dgm:cxn modelId="{545A4820-6367-4EC0-98C1-14A1F95F7B82}" srcId="{D602A5DB-66FA-46BD-B59A-A64851ED6FA7}" destId="{0018357F-988F-4BCA-8FB7-4995A80439E0}" srcOrd="2" destOrd="0" parTransId="{4D7E9AE9-C537-423E-99C2-907C927DF0AB}" sibTransId="{61FEAD5C-59B3-45A0-B45A-7BC42F89B014}"/>
    <dgm:cxn modelId="{3608A834-42E0-49CB-8AB5-B2243D2466FD}" srcId="{C8A84758-0C8F-48C9-808D-82E61D280909}" destId="{DDA28F45-C786-4F53-A290-53CB52603895}" srcOrd="0" destOrd="0" parTransId="{3DDA95CA-312F-4696-94A5-4EFBFDD1CA48}" sibTransId="{CF17A682-9896-473F-960C-0347A85790DE}"/>
    <dgm:cxn modelId="{80206435-2CA9-4048-8003-F02393946C76}" type="presOf" srcId="{0018357F-988F-4BCA-8FB7-4995A80439E0}" destId="{26808B0C-F38D-4301-8DF3-F49033765B5D}" srcOrd="0" destOrd="0" presId="urn:microsoft.com/office/officeart/2024/3/layout/verticalVisualTextBlock1"/>
    <dgm:cxn modelId="{7DC04B63-9EF5-41B4-A0B7-561AFF651779}" type="presOf" srcId="{C8A84758-0C8F-48C9-808D-82E61D280909}" destId="{A7CA8706-338A-46B9-AC59-985C0B87C1AD}" srcOrd="0" destOrd="0" presId="urn:microsoft.com/office/officeart/2024/3/layout/verticalVisualTextBlock1"/>
    <dgm:cxn modelId="{3D2D987D-9F3B-4D86-9382-3CFACFD410F3}" srcId="{0018357F-988F-4BCA-8FB7-4995A80439E0}" destId="{011F0062-9266-4AEA-A8E7-5C94717435AB}" srcOrd="0" destOrd="0" parTransId="{BCC5DB30-9FB0-4461-B32F-A4444144285C}" sibTransId="{5F6DC3E1-A42E-43F3-9343-6E5E57F1C4B1}"/>
    <dgm:cxn modelId="{B8390989-4F90-42C1-A97B-B746D2F65F38}" srcId="{D602A5DB-66FA-46BD-B59A-A64851ED6FA7}" destId="{C8A84758-0C8F-48C9-808D-82E61D280909}" srcOrd="0" destOrd="0" parTransId="{7D80DF00-59C5-489B-BFBC-9C450E001DE9}" sibTransId="{988AEFEF-F71C-4098-82C8-26CEF1BE88D1}"/>
    <dgm:cxn modelId="{FBB61390-FF7F-4D26-ACE3-8340575E14B2}" type="presOf" srcId="{50D6A566-9844-4F22-B819-7DA88F6E6C64}" destId="{0CB2E7AC-1799-4300-AA23-495FA065666F}" srcOrd="0" destOrd="0" presId="urn:microsoft.com/office/officeart/2024/3/layout/verticalVisualTextBlock1"/>
    <dgm:cxn modelId="{3EFFF3A2-829E-486F-B121-63D9497EE4B1}" type="presOf" srcId="{1C96D8A2-9EA6-4B68-88DB-AD83F62CC57A}" destId="{58B7F029-6BE2-4762-9AC3-8AEF21E8BFE9}" srcOrd="0" destOrd="0" presId="urn:microsoft.com/office/officeart/2024/3/layout/verticalVisualTextBlock1"/>
    <dgm:cxn modelId="{96475BC9-A0E5-4C87-A79A-C4B9637E45C5}" srcId="{D602A5DB-66FA-46BD-B59A-A64851ED6FA7}" destId="{AE87BAB3-169B-48A7-BA5E-B2CF07BCE96C}" srcOrd="1" destOrd="0" parTransId="{62D3C70E-6F0D-4D53-8FAB-46ABA8EFD343}" sibTransId="{1C96D8A2-9EA6-4B68-88DB-AD83F62CC57A}"/>
    <dgm:cxn modelId="{9FBD24CD-285A-49BF-A532-A2973F99F5CE}" type="presOf" srcId="{D602A5DB-66FA-46BD-B59A-A64851ED6FA7}" destId="{6B450AE2-104F-42C2-9444-8DE3486BC09A}" srcOrd="0" destOrd="0" presId="urn:microsoft.com/office/officeart/2024/3/layout/verticalVisualTextBlock1"/>
    <dgm:cxn modelId="{BFFC98E0-06A6-43AD-8844-7F31D2452DBB}" srcId="{AE87BAB3-169B-48A7-BA5E-B2CF07BCE96C}" destId="{50D6A566-9844-4F22-B819-7DA88F6E6C64}" srcOrd="0" destOrd="0" parTransId="{8B7B6194-5427-45CC-8998-22867CB179F4}" sibTransId="{17871528-0A86-4FF6-B6D4-A4379F3BDB0A}"/>
    <dgm:cxn modelId="{049F38E2-9E77-4A62-94D8-DFEFD726AF16}" type="presOf" srcId="{988AEFEF-F71C-4098-82C8-26CEF1BE88D1}" destId="{53FEDFC5-B779-469B-A5B4-10305040EEE0}" srcOrd="0" destOrd="0" presId="urn:microsoft.com/office/officeart/2024/3/layout/verticalVisualTextBlock1"/>
    <dgm:cxn modelId="{DAD263E7-8BA8-49C2-86F4-4D08E1C1F50F}" type="presOf" srcId="{AE87BAB3-169B-48A7-BA5E-B2CF07BCE96C}" destId="{706341F7-8E95-4BF3-ABBE-1E2E15163486}" srcOrd="0" destOrd="0" presId="urn:microsoft.com/office/officeart/2024/3/layout/verticalVisualTextBlock1"/>
    <dgm:cxn modelId="{735CD644-22E6-43D2-A934-C428AA67C6F6}" type="presParOf" srcId="{6B450AE2-104F-42C2-9444-8DE3486BC09A}" destId="{C7280B81-28D3-407F-ABE4-1EDC6B1D884E}" srcOrd="0" destOrd="0" presId="urn:microsoft.com/office/officeart/2024/3/layout/verticalVisualTextBlock1"/>
    <dgm:cxn modelId="{A8588622-C8DE-4459-A966-786E354B78DF}" type="presParOf" srcId="{C7280B81-28D3-407F-ABE4-1EDC6B1D884E}" destId="{6062D2B1-AA0A-43EF-A967-68522BA34FD5}" srcOrd="0" destOrd="0" presId="urn:microsoft.com/office/officeart/2024/3/layout/verticalVisualTextBlock1"/>
    <dgm:cxn modelId="{C4F362B5-F712-4B52-9B63-F307C9B16F0F}" type="presParOf" srcId="{C7280B81-28D3-407F-ABE4-1EDC6B1D884E}" destId="{A7CA8706-338A-46B9-AC59-985C0B87C1AD}" srcOrd="1" destOrd="0" presId="urn:microsoft.com/office/officeart/2024/3/layout/verticalVisualTextBlock1"/>
    <dgm:cxn modelId="{D1403091-9768-4423-B194-16D2D1D673A8}" type="presParOf" srcId="{C7280B81-28D3-407F-ABE4-1EDC6B1D884E}" destId="{7E764D8D-19D0-4232-8016-3CE1BB9BDF3F}" srcOrd="2" destOrd="0" presId="urn:microsoft.com/office/officeart/2024/3/layout/verticalVisualTextBlock1"/>
    <dgm:cxn modelId="{2E508963-A596-4A42-BF8A-22BEA1989302}" type="presParOf" srcId="{6B450AE2-104F-42C2-9444-8DE3486BC09A}" destId="{53FEDFC5-B779-469B-A5B4-10305040EEE0}" srcOrd="1" destOrd="0" presId="urn:microsoft.com/office/officeart/2024/3/layout/verticalVisualTextBlock1"/>
    <dgm:cxn modelId="{880AABD7-0F00-4D58-9F7F-E45DC17587B8}" type="presParOf" srcId="{6B450AE2-104F-42C2-9444-8DE3486BC09A}" destId="{FD1E7E99-4120-4B0C-9C1B-AFB235D1F48E}" srcOrd="2" destOrd="0" presId="urn:microsoft.com/office/officeart/2024/3/layout/verticalVisualTextBlock1"/>
    <dgm:cxn modelId="{327B6347-EF64-4D12-B50C-3655E131039C}" type="presParOf" srcId="{FD1E7E99-4120-4B0C-9C1B-AFB235D1F48E}" destId="{5D74DCC7-F532-4232-97D7-50C7C9ED2603}" srcOrd="0" destOrd="0" presId="urn:microsoft.com/office/officeart/2024/3/layout/verticalVisualTextBlock1"/>
    <dgm:cxn modelId="{530B707E-9832-4E36-B474-833114BD95F7}" type="presParOf" srcId="{FD1E7E99-4120-4B0C-9C1B-AFB235D1F48E}" destId="{706341F7-8E95-4BF3-ABBE-1E2E15163486}" srcOrd="1" destOrd="0" presId="urn:microsoft.com/office/officeart/2024/3/layout/verticalVisualTextBlock1"/>
    <dgm:cxn modelId="{50C9438D-E94B-4F26-B303-7E8C0D896B44}" type="presParOf" srcId="{FD1E7E99-4120-4B0C-9C1B-AFB235D1F48E}" destId="{0CB2E7AC-1799-4300-AA23-495FA065666F}" srcOrd="2" destOrd="0" presId="urn:microsoft.com/office/officeart/2024/3/layout/verticalVisualTextBlock1"/>
    <dgm:cxn modelId="{69E41442-A277-4456-B906-719EE86A5716}" type="presParOf" srcId="{6B450AE2-104F-42C2-9444-8DE3486BC09A}" destId="{58B7F029-6BE2-4762-9AC3-8AEF21E8BFE9}" srcOrd="3" destOrd="0" presId="urn:microsoft.com/office/officeart/2024/3/layout/verticalVisualTextBlock1"/>
    <dgm:cxn modelId="{9A0B6953-A632-497C-8DDD-344FBA7076CF}" type="presParOf" srcId="{6B450AE2-104F-42C2-9444-8DE3486BC09A}" destId="{48C7D860-F462-4688-A82E-7172DDD71F9C}" srcOrd="4" destOrd="0" presId="urn:microsoft.com/office/officeart/2024/3/layout/verticalVisualTextBlock1"/>
    <dgm:cxn modelId="{AA224FBD-A278-4A49-9F51-255350CD1C5C}" type="presParOf" srcId="{48C7D860-F462-4688-A82E-7172DDD71F9C}" destId="{75B61A29-EFCD-46B2-8FF8-A870DDCE8985}" srcOrd="0" destOrd="0" presId="urn:microsoft.com/office/officeart/2024/3/layout/verticalVisualTextBlock1"/>
    <dgm:cxn modelId="{06B14830-F540-4F0A-B7BB-398CB398A2FD}" type="presParOf" srcId="{48C7D860-F462-4688-A82E-7172DDD71F9C}" destId="{26808B0C-F38D-4301-8DF3-F49033765B5D}" srcOrd="1" destOrd="0" presId="urn:microsoft.com/office/officeart/2024/3/layout/verticalVisualTextBlock1"/>
    <dgm:cxn modelId="{F93198E7-276F-4C44-9CC9-41008E24D409}" type="presParOf" srcId="{48C7D860-F462-4688-A82E-7172DDD71F9C}" destId="{32F34F55-BAB1-4E05-8903-29D653AE0DDC}"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CB55A1-F623-49D4-B176-F9FA254A3FAB}" type="doc">
      <dgm:prSet loTypeId="urn:microsoft.com/office/officeart/2005/8/layout/orgChart1" loCatId="hierarchy" qsTypeId="urn:microsoft.com/office/officeart/2005/8/quickstyle/simple1" qsCatId="simple" csTypeId="urn:microsoft.com/office/officeart/2005/8/colors/accent1_2" csCatId="accent1"/>
      <dgm:spPr/>
      <dgm:t>
        <a:bodyPr/>
        <a:lstStyle/>
        <a:p>
          <a:endParaRPr lang="en-US"/>
        </a:p>
      </dgm:t>
    </dgm:pt>
    <dgm:pt modelId="{3F3E3827-8341-438B-AD2D-BADFB5AA7528}">
      <dgm:prSet/>
      <dgm:spPr/>
      <dgm:t>
        <a:bodyPr/>
        <a:lstStyle/>
        <a:p>
          <a:r>
            <a:rPr lang="en-GB" b="1" dirty="0" err="1"/>
            <a:t>IngestFile_TPP_SRCode_NB</a:t>
          </a:r>
          <a:r>
            <a:rPr lang="en-GB" dirty="0"/>
            <a:t>: Ingested 1.3 billion rows in 37 minutes using 16 </a:t>
          </a:r>
          <a:r>
            <a:rPr lang="en-GB" dirty="0" err="1"/>
            <a:t>vCores</a:t>
          </a:r>
          <a:r>
            <a:rPr lang="en-GB" dirty="0"/>
            <a:t>.</a:t>
          </a:r>
          <a:endParaRPr lang="en-US" dirty="0"/>
        </a:p>
      </dgm:t>
    </dgm:pt>
    <dgm:pt modelId="{32141EEC-29AF-451A-8202-2BB9B455D0A1}" type="parTrans" cxnId="{26646227-8626-4422-8695-4D454E14654C}">
      <dgm:prSet/>
      <dgm:spPr/>
      <dgm:t>
        <a:bodyPr/>
        <a:lstStyle/>
        <a:p>
          <a:endParaRPr lang="en-US"/>
        </a:p>
      </dgm:t>
    </dgm:pt>
    <dgm:pt modelId="{9796B59D-E8EC-4A44-87B1-F757739DB5F2}" type="sibTrans" cxnId="{26646227-8626-4422-8695-4D454E14654C}">
      <dgm:prSet/>
      <dgm:spPr/>
      <dgm:t>
        <a:bodyPr/>
        <a:lstStyle/>
        <a:p>
          <a:endParaRPr lang="en-US"/>
        </a:p>
      </dgm:t>
    </dgm:pt>
    <dgm:pt modelId="{91309503-8781-41D1-8694-2690277FB3C6}">
      <dgm:prSet/>
      <dgm:spPr/>
      <dgm:t>
        <a:bodyPr/>
        <a:lstStyle/>
        <a:p>
          <a:r>
            <a:rPr lang="en-GB" b="1" dirty="0" err="1"/>
            <a:t>IngestFile_TPP_SRPatient_NB</a:t>
          </a:r>
          <a:r>
            <a:rPr lang="en-GB" dirty="0"/>
            <a:t>: Ingested 7.1 million rows in 22 minutes with 16 </a:t>
          </a:r>
          <a:r>
            <a:rPr lang="en-GB" dirty="0" err="1"/>
            <a:t>vCores</a:t>
          </a:r>
          <a:r>
            <a:rPr lang="en-GB" dirty="0"/>
            <a:t>.</a:t>
          </a:r>
          <a:endParaRPr lang="en-US" dirty="0"/>
        </a:p>
      </dgm:t>
    </dgm:pt>
    <dgm:pt modelId="{8CEF3EBB-65E4-49A7-B031-0B8291049E01}" type="parTrans" cxnId="{91E17BEE-3837-4464-A7B7-7FA74C73D184}">
      <dgm:prSet/>
      <dgm:spPr/>
      <dgm:t>
        <a:bodyPr/>
        <a:lstStyle/>
        <a:p>
          <a:endParaRPr lang="en-US"/>
        </a:p>
      </dgm:t>
    </dgm:pt>
    <dgm:pt modelId="{87E5CB8C-F484-4B56-8AC7-F74EB24D2EDD}" type="sibTrans" cxnId="{91E17BEE-3837-4464-A7B7-7FA74C73D184}">
      <dgm:prSet/>
      <dgm:spPr/>
      <dgm:t>
        <a:bodyPr/>
        <a:lstStyle/>
        <a:p>
          <a:endParaRPr lang="en-US"/>
        </a:p>
      </dgm:t>
    </dgm:pt>
    <dgm:pt modelId="{2188D58F-C4C8-4514-B417-F3D4A1AD0E3D}">
      <dgm:prSet/>
      <dgm:spPr/>
      <dgm:t>
        <a:bodyPr/>
        <a:lstStyle/>
        <a:p>
          <a:r>
            <a:rPr lang="en-GB" b="1" dirty="0" err="1"/>
            <a:t>RainbowCode</a:t>
          </a:r>
          <a:r>
            <a:rPr lang="en-GB" b="1" dirty="0"/>
            <a:t> Table</a:t>
          </a:r>
          <a:r>
            <a:rPr lang="en-GB" dirty="0"/>
            <a:t>: Ingested 818 million rows in 24 minutes using 16 </a:t>
          </a:r>
          <a:r>
            <a:rPr lang="en-GB" dirty="0" err="1"/>
            <a:t>vCores</a:t>
          </a:r>
          <a:r>
            <a:rPr lang="en-GB" dirty="0"/>
            <a:t>.</a:t>
          </a:r>
          <a:endParaRPr lang="en-US" dirty="0"/>
        </a:p>
      </dgm:t>
    </dgm:pt>
    <dgm:pt modelId="{863B4FA3-6D27-4892-809D-0138587CAD03}" type="parTrans" cxnId="{87EFDB52-65CA-4EC5-B8DB-F35B8045E59D}">
      <dgm:prSet/>
      <dgm:spPr/>
      <dgm:t>
        <a:bodyPr/>
        <a:lstStyle/>
        <a:p>
          <a:endParaRPr lang="en-US"/>
        </a:p>
      </dgm:t>
    </dgm:pt>
    <dgm:pt modelId="{E6788E5B-215D-49BA-A264-5EAE124AB89C}" type="sibTrans" cxnId="{87EFDB52-65CA-4EC5-B8DB-F35B8045E59D}">
      <dgm:prSet/>
      <dgm:spPr/>
      <dgm:t>
        <a:bodyPr/>
        <a:lstStyle/>
        <a:p>
          <a:endParaRPr lang="en-US"/>
        </a:p>
      </dgm:t>
    </dgm:pt>
    <dgm:pt modelId="{ACD3AD67-4FE6-4748-943D-E81A5E648076}">
      <dgm:prSet/>
      <dgm:spPr/>
      <dgm:t>
        <a:bodyPr/>
        <a:lstStyle/>
        <a:p>
          <a:r>
            <a:rPr lang="en-GB" b="1"/>
            <a:t>Overall Performance</a:t>
          </a:r>
          <a:r>
            <a:rPr lang="en-GB"/>
            <a:t>: Fabric demonstrates strong data ingestion capabilities, efficiently handling large datasets with high throughput.</a:t>
          </a:r>
          <a:endParaRPr lang="en-US"/>
        </a:p>
      </dgm:t>
    </dgm:pt>
    <dgm:pt modelId="{818DA56C-BBFD-4474-BBC4-E40BB7464FF0}" type="parTrans" cxnId="{3C1925A9-2183-4C74-8708-FA563EF590DE}">
      <dgm:prSet/>
      <dgm:spPr/>
      <dgm:t>
        <a:bodyPr/>
        <a:lstStyle/>
        <a:p>
          <a:endParaRPr lang="en-US"/>
        </a:p>
      </dgm:t>
    </dgm:pt>
    <dgm:pt modelId="{316BE8E8-E254-4386-AB11-C3EB4D95E5E6}" type="sibTrans" cxnId="{3C1925A9-2183-4C74-8708-FA563EF590DE}">
      <dgm:prSet/>
      <dgm:spPr/>
      <dgm:t>
        <a:bodyPr/>
        <a:lstStyle/>
        <a:p>
          <a:endParaRPr lang="en-US"/>
        </a:p>
      </dgm:t>
    </dgm:pt>
    <dgm:pt modelId="{27653A0E-8C64-455D-BF33-0CBBE3FA410F}" type="pres">
      <dgm:prSet presAssocID="{3FCB55A1-F623-49D4-B176-F9FA254A3FAB}" presName="hierChild1" presStyleCnt="0">
        <dgm:presLayoutVars>
          <dgm:orgChart val="1"/>
          <dgm:chPref val="1"/>
          <dgm:dir/>
          <dgm:animOne val="branch"/>
          <dgm:animLvl val="lvl"/>
          <dgm:resizeHandles/>
        </dgm:presLayoutVars>
      </dgm:prSet>
      <dgm:spPr/>
    </dgm:pt>
    <dgm:pt modelId="{A07DED7E-BDEC-4B7A-8EF0-C35537A025FE}" type="pres">
      <dgm:prSet presAssocID="{3F3E3827-8341-438B-AD2D-BADFB5AA7528}" presName="hierRoot1" presStyleCnt="0">
        <dgm:presLayoutVars>
          <dgm:hierBranch val="init"/>
        </dgm:presLayoutVars>
      </dgm:prSet>
      <dgm:spPr/>
    </dgm:pt>
    <dgm:pt modelId="{00FE226F-B11E-4E1C-A55C-8F99923D1847}" type="pres">
      <dgm:prSet presAssocID="{3F3E3827-8341-438B-AD2D-BADFB5AA7528}" presName="rootComposite1" presStyleCnt="0"/>
      <dgm:spPr/>
    </dgm:pt>
    <dgm:pt modelId="{385DB2A4-5E0C-4B28-B819-AC539E4167B2}" type="pres">
      <dgm:prSet presAssocID="{3F3E3827-8341-438B-AD2D-BADFB5AA7528}" presName="rootText1" presStyleLbl="node0" presStyleIdx="0" presStyleCnt="4">
        <dgm:presLayoutVars>
          <dgm:chPref val="3"/>
        </dgm:presLayoutVars>
      </dgm:prSet>
      <dgm:spPr/>
    </dgm:pt>
    <dgm:pt modelId="{3FCE6B3E-7EC4-44CC-9367-33E865E2C3D3}" type="pres">
      <dgm:prSet presAssocID="{3F3E3827-8341-438B-AD2D-BADFB5AA7528}" presName="rootConnector1" presStyleLbl="node1" presStyleIdx="0" presStyleCnt="0"/>
      <dgm:spPr/>
    </dgm:pt>
    <dgm:pt modelId="{D509C6D7-9D21-4125-8AC1-FD8E985A0FBB}" type="pres">
      <dgm:prSet presAssocID="{3F3E3827-8341-438B-AD2D-BADFB5AA7528}" presName="hierChild2" presStyleCnt="0"/>
      <dgm:spPr/>
    </dgm:pt>
    <dgm:pt modelId="{1663D769-C12A-4249-8481-201640842BF1}" type="pres">
      <dgm:prSet presAssocID="{3F3E3827-8341-438B-AD2D-BADFB5AA7528}" presName="hierChild3" presStyleCnt="0"/>
      <dgm:spPr/>
    </dgm:pt>
    <dgm:pt modelId="{D4BAE5E2-E198-4CE0-B8E1-F0C162C3AC9D}" type="pres">
      <dgm:prSet presAssocID="{91309503-8781-41D1-8694-2690277FB3C6}" presName="hierRoot1" presStyleCnt="0">
        <dgm:presLayoutVars>
          <dgm:hierBranch val="init"/>
        </dgm:presLayoutVars>
      </dgm:prSet>
      <dgm:spPr/>
    </dgm:pt>
    <dgm:pt modelId="{F88FB3A6-6F31-4FAA-A0B9-65D0219E230B}" type="pres">
      <dgm:prSet presAssocID="{91309503-8781-41D1-8694-2690277FB3C6}" presName="rootComposite1" presStyleCnt="0"/>
      <dgm:spPr/>
    </dgm:pt>
    <dgm:pt modelId="{DB7FF238-F9B7-4D24-9B89-F104A82F0507}" type="pres">
      <dgm:prSet presAssocID="{91309503-8781-41D1-8694-2690277FB3C6}" presName="rootText1" presStyleLbl="node0" presStyleIdx="1" presStyleCnt="4">
        <dgm:presLayoutVars>
          <dgm:chPref val="3"/>
        </dgm:presLayoutVars>
      </dgm:prSet>
      <dgm:spPr/>
    </dgm:pt>
    <dgm:pt modelId="{8F70F72C-0521-4215-A1D2-A48F76D169E7}" type="pres">
      <dgm:prSet presAssocID="{91309503-8781-41D1-8694-2690277FB3C6}" presName="rootConnector1" presStyleLbl="node1" presStyleIdx="0" presStyleCnt="0"/>
      <dgm:spPr/>
    </dgm:pt>
    <dgm:pt modelId="{6C8AA9E4-DD8D-4FE0-8E98-33BAFABF4994}" type="pres">
      <dgm:prSet presAssocID="{91309503-8781-41D1-8694-2690277FB3C6}" presName="hierChild2" presStyleCnt="0"/>
      <dgm:spPr/>
    </dgm:pt>
    <dgm:pt modelId="{0B1B45EC-BF7C-4CDF-AEEC-89693728B5D5}" type="pres">
      <dgm:prSet presAssocID="{91309503-8781-41D1-8694-2690277FB3C6}" presName="hierChild3" presStyleCnt="0"/>
      <dgm:spPr/>
    </dgm:pt>
    <dgm:pt modelId="{AAB41715-CA1B-46B1-9AB7-CA7124E1D54D}" type="pres">
      <dgm:prSet presAssocID="{2188D58F-C4C8-4514-B417-F3D4A1AD0E3D}" presName="hierRoot1" presStyleCnt="0">
        <dgm:presLayoutVars>
          <dgm:hierBranch val="init"/>
        </dgm:presLayoutVars>
      </dgm:prSet>
      <dgm:spPr/>
    </dgm:pt>
    <dgm:pt modelId="{CD24FFDE-3DC2-4BDD-BC76-5663E5FDFBA1}" type="pres">
      <dgm:prSet presAssocID="{2188D58F-C4C8-4514-B417-F3D4A1AD0E3D}" presName="rootComposite1" presStyleCnt="0"/>
      <dgm:spPr/>
    </dgm:pt>
    <dgm:pt modelId="{F06C4AB9-3BAA-4CC8-9682-15C7FDA4DBC2}" type="pres">
      <dgm:prSet presAssocID="{2188D58F-C4C8-4514-B417-F3D4A1AD0E3D}" presName="rootText1" presStyleLbl="node0" presStyleIdx="2" presStyleCnt="4">
        <dgm:presLayoutVars>
          <dgm:chPref val="3"/>
        </dgm:presLayoutVars>
      </dgm:prSet>
      <dgm:spPr/>
    </dgm:pt>
    <dgm:pt modelId="{80B902D0-A44B-4D23-A288-19B48754EB8C}" type="pres">
      <dgm:prSet presAssocID="{2188D58F-C4C8-4514-B417-F3D4A1AD0E3D}" presName="rootConnector1" presStyleLbl="node1" presStyleIdx="0" presStyleCnt="0"/>
      <dgm:spPr/>
    </dgm:pt>
    <dgm:pt modelId="{0BB94A90-4551-42AE-99BF-FBD8F4BFC36B}" type="pres">
      <dgm:prSet presAssocID="{2188D58F-C4C8-4514-B417-F3D4A1AD0E3D}" presName="hierChild2" presStyleCnt="0"/>
      <dgm:spPr/>
    </dgm:pt>
    <dgm:pt modelId="{516F0341-03B0-4FA9-956F-EA6917EB0848}" type="pres">
      <dgm:prSet presAssocID="{2188D58F-C4C8-4514-B417-F3D4A1AD0E3D}" presName="hierChild3" presStyleCnt="0"/>
      <dgm:spPr/>
    </dgm:pt>
    <dgm:pt modelId="{A1B1EBCD-8798-425D-A538-64132C98433E}" type="pres">
      <dgm:prSet presAssocID="{ACD3AD67-4FE6-4748-943D-E81A5E648076}" presName="hierRoot1" presStyleCnt="0">
        <dgm:presLayoutVars>
          <dgm:hierBranch val="init"/>
        </dgm:presLayoutVars>
      </dgm:prSet>
      <dgm:spPr/>
    </dgm:pt>
    <dgm:pt modelId="{BC0B1170-9255-4F2A-9576-01F5118CE33E}" type="pres">
      <dgm:prSet presAssocID="{ACD3AD67-4FE6-4748-943D-E81A5E648076}" presName="rootComposite1" presStyleCnt="0"/>
      <dgm:spPr/>
    </dgm:pt>
    <dgm:pt modelId="{56C23FC5-126F-427F-8A09-1F9D6137DDA8}" type="pres">
      <dgm:prSet presAssocID="{ACD3AD67-4FE6-4748-943D-E81A5E648076}" presName="rootText1" presStyleLbl="node0" presStyleIdx="3" presStyleCnt="4">
        <dgm:presLayoutVars>
          <dgm:chPref val="3"/>
        </dgm:presLayoutVars>
      </dgm:prSet>
      <dgm:spPr/>
    </dgm:pt>
    <dgm:pt modelId="{FE9F4E65-FBA8-45BB-B7B1-FA02E5654B88}" type="pres">
      <dgm:prSet presAssocID="{ACD3AD67-4FE6-4748-943D-E81A5E648076}" presName="rootConnector1" presStyleLbl="node1" presStyleIdx="0" presStyleCnt="0"/>
      <dgm:spPr/>
    </dgm:pt>
    <dgm:pt modelId="{330F8EFE-38A3-4FB9-87FC-B0565D507334}" type="pres">
      <dgm:prSet presAssocID="{ACD3AD67-4FE6-4748-943D-E81A5E648076}" presName="hierChild2" presStyleCnt="0"/>
      <dgm:spPr/>
    </dgm:pt>
    <dgm:pt modelId="{748DE6E9-988D-4F92-AF82-C946F3ED108E}" type="pres">
      <dgm:prSet presAssocID="{ACD3AD67-4FE6-4748-943D-E81A5E648076}" presName="hierChild3" presStyleCnt="0"/>
      <dgm:spPr/>
    </dgm:pt>
  </dgm:ptLst>
  <dgm:cxnLst>
    <dgm:cxn modelId="{0B4B621B-7FC2-4EB6-8A06-9A9B609E6E9D}" type="presOf" srcId="{3FCB55A1-F623-49D4-B176-F9FA254A3FAB}" destId="{27653A0E-8C64-455D-BF33-0CBBE3FA410F}" srcOrd="0" destOrd="0" presId="urn:microsoft.com/office/officeart/2005/8/layout/orgChart1"/>
    <dgm:cxn modelId="{26646227-8626-4422-8695-4D454E14654C}" srcId="{3FCB55A1-F623-49D4-B176-F9FA254A3FAB}" destId="{3F3E3827-8341-438B-AD2D-BADFB5AA7528}" srcOrd="0" destOrd="0" parTransId="{32141EEC-29AF-451A-8202-2BB9B455D0A1}" sibTransId="{9796B59D-E8EC-4A44-87B1-F757739DB5F2}"/>
    <dgm:cxn modelId="{724B4F4B-1CA8-4F4C-B24F-443C14EEA60E}" type="presOf" srcId="{3F3E3827-8341-438B-AD2D-BADFB5AA7528}" destId="{385DB2A4-5E0C-4B28-B819-AC539E4167B2}" srcOrd="0" destOrd="0" presId="urn:microsoft.com/office/officeart/2005/8/layout/orgChart1"/>
    <dgm:cxn modelId="{006C5E6D-C7B5-40D6-8885-493A59C31B87}" type="presOf" srcId="{2188D58F-C4C8-4514-B417-F3D4A1AD0E3D}" destId="{F06C4AB9-3BAA-4CC8-9682-15C7FDA4DBC2}" srcOrd="0" destOrd="0" presId="urn:microsoft.com/office/officeart/2005/8/layout/orgChart1"/>
    <dgm:cxn modelId="{3DE3616D-5F1F-427D-8D46-3920AE636C87}" type="presOf" srcId="{3F3E3827-8341-438B-AD2D-BADFB5AA7528}" destId="{3FCE6B3E-7EC4-44CC-9367-33E865E2C3D3}" srcOrd="1" destOrd="0" presId="urn:microsoft.com/office/officeart/2005/8/layout/orgChart1"/>
    <dgm:cxn modelId="{87EFDB52-65CA-4EC5-B8DB-F35B8045E59D}" srcId="{3FCB55A1-F623-49D4-B176-F9FA254A3FAB}" destId="{2188D58F-C4C8-4514-B417-F3D4A1AD0E3D}" srcOrd="2" destOrd="0" parTransId="{863B4FA3-6D27-4892-809D-0138587CAD03}" sibTransId="{E6788E5B-215D-49BA-A264-5EAE124AB89C}"/>
    <dgm:cxn modelId="{3B9CE27F-4BD5-41B3-8A3F-253EE1828122}" type="presOf" srcId="{91309503-8781-41D1-8694-2690277FB3C6}" destId="{8F70F72C-0521-4215-A1D2-A48F76D169E7}" srcOrd="1" destOrd="0" presId="urn:microsoft.com/office/officeart/2005/8/layout/orgChart1"/>
    <dgm:cxn modelId="{3C1925A9-2183-4C74-8708-FA563EF590DE}" srcId="{3FCB55A1-F623-49D4-B176-F9FA254A3FAB}" destId="{ACD3AD67-4FE6-4748-943D-E81A5E648076}" srcOrd="3" destOrd="0" parTransId="{818DA56C-BBFD-4474-BBC4-E40BB7464FF0}" sibTransId="{316BE8E8-E254-4386-AB11-C3EB4D95E5E6}"/>
    <dgm:cxn modelId="{32F45BB5-8FCF-472E-B394-7ADF223AF330}" type="presOf" srcId="{ACD3AD67-4FE6-4748-943D-E81A5E648076}" destId="{56C23FC5-126F-427F-8A09-1F9D6137DDA8}" srcOrd="0" destOrd="0" presId="urn:microsoft.com/office/officeart/2005/8/layout/orgChart1"/>
    <dgm:cxn modelId="{A1415FB8-FC63-4F8A-82ED-8473DB834313}" type="presOf" srcId="{2188D58F-C4C8-4514-B417-F3D4A1AD0E3D}" destId="{80B902D0-A44B-4D23-A288-19B48754EB8C}" srcOrd="1" destOrd="0" presId="urn:microsoft.com/office/officeart/2005/8/layout/orgChart1"/>
    <dgm:cxn modelId="{6FF5F0E0-7C00-465F-B3D4-54C7EB8E58C8}" type="presOf" srcId="{ACD3AD67-4FE6-4748-943D-E81A5E648076}" destId="{FE9F4E65-FBA8-45BB-B7B1-FA02E5654B88}" srcOrd="1" destOrd="0" presId="urn:microsoft.com/office/officeart/2005/8/layout/orgChart1"/>
    <dgm:cxn modelId="{91E17BEE-3837-4464-A7B7-7FA74C73D184}" srcId="{3FCB55A1-F623-49D4-B176-F9FA254A3FAB}" destId="{91309503-8781-41D1-8694-2690277FB3C6}" srcOrd="1" destOrd="0" parTransId="{8CEF3EBB-65E4-49A7-B031-0B8291049E01}" sibTransId="{87E5CB8C-F484-4B56-8AC7-F74EB24D2EDD}"/>
    <dgm:cxn modelId="{EB879DF8-9A51-40EF-98A4-D5D01CED780C}" type="presOf" srcId="{91309503-8781-41D1-8694-2690277FB3C6}" destId="{DB7FF238-F9B7-4D24-9B89-F104A82F0507}" srcOrd="0" destOrd="0" presId="urn:microsoft.com/office/officeart/2005/8/layout/orgChart1"/>
    <dgm:cxn modelId="{494936A1-8C29-4D4B-9870-43271D73A05E}" type="presParOf" srcId="{27653A0E-8C64-455D-BF33-0CBBE3FA410F}" destId="{A07DED7E-BDEC-4B7A-8EF0-C35537A025FE}" srcOrd="0" destOrd="0" presId="urn:microsoft.com/office/officeart/2005/8/layout/orgChart1"/>
    <dgm:cxn modelId="{DA18F32B-AF93-4026-A715-CB5DD3CC94A0}" type="presParOf" srcId="{A07DED7E-BDEC-4B7A-8EF0-C35537A025FE}" destId="{00FE226F-B11E-4E1C-A55C-8F99923D1847}" srcOrd="0" destOrd="0" presId="urn:microsoft.com/office/officeart/2005/8/layout/orgChart1"/>
    <dgm:cxn modelId="{AA177DC6-0DBD-4294-AA0F-18F624829284}" type="presParOf" srcId="{00FE226F-B11E-4E1C-A55C-8F99923D1847}" destId="{385DB2A4-5E0C-4B28-B819-AC539E4167B2}" srcOrd="0" destOrd="0" presId="urn:microsoft.com/office/officeart/2005/8/layout/orgChart1"/>
    <dgm:cxn modelId="{CADAF589-1CC8-404C-9B2F-9B35235858C5}" type="presParOf" srcId="{00FE226F-B11E-4E1C-A55C-8F99923D1847}" destId="{3FCE6B3E-7EC4-44CC-9367-33E865E2C3D3}" srcOrd="1" destOrd="0" presId="urn:microsoft.com/office/officeart/2005/8/layout/orgChart1"/>
    <dgm:cxn modelId="{D154ADF4-2FAA-4ED8-9077-D50DEF18F4C5}" type="presParOf" srcId="{A07DED7E-BDEC-4B7A-8EF0-C35537A025FE}" destId="{D509C6D7-9D21-4125-8AC1-FD8E985A0FBB}" srcOrd="1" destOrd="0" presId="urn:microsoft.com/office/officeart/2005/8/layout/orgChart1"/>
    <dgm:cxn modelId="{BE7B95ED-2480-401A-B8C6-01177E02475F}" type="presParOf" srcId="{A07DED7E-BDEC-4B7A-8EF0-C35537A025FE}" destId="{1663D769-C12A-4249-8481-201640842BF1}" srcOrd="2" destOrd="0" presId="urn:microsoft.com/office/officeart/2005/8/layout/orgChart1"/>
    <dgm:cxn modelId="{80A471EE-3B4C-408B-B46F-89E3A62804D0}" type="presParOf" srcId="{27653A0E-8C64-455D-BF33-0CBBE3FA410F}" destId="{D4BAE5E2-E198-4CE0-B8E1-F0C162C3AC9D}" srcOrd="1" destOrd="0" presId="urn:microsoft.com/office/officeart/2005/8/layout/orgChart1"/>
    <dgm:cxn modelId="{365CBBE7-AE5B-4B6B-A110-C5F489F30D1B}" type="presParOf" srcId="{D4BAE5E2-E198-4CE0-B8E1-F0C162C3AC9D}" destId="{F88FB3A6-6F31-4FAA-A0B9-65D0219E230B}" srcOrd="0" destOrd="0" presId="urn:microsoft.com/office/officeart/2005/8/layout/orgChart1"/>
    <dgm:cxn modelId="{67F4E6C6-6203-415B-B022-3A837518178C}" type="presParOf" srcId="{F88FB3A6-6F31-4FAA-A0B9-65D0219E230B}" destId="{DB7FF238-F9B7-4D24-9B89-F104A82F0507}" srcOrd="0" destOrd="0" presId="urn:microsoft.com/office/officeart/2005/8/layout/orgChart1"/>
    <dgm:cxn modelId="{7C6C64F1-041C-4251-9AE9-1A37505B177F}" type="presParOf" srcId="{F88FB3A6-6F31-4FAA-A0B9-65D0219E230B}" destId="{8F70F72C-0521-4215-A1D2-A48F76D169E7}" srcOrd="1" destOrd="0" presId="urn:microsoft.com/office/officeart/2005/8/layout/orgChart1"/>
    <dgm:cxn modelId="{E309664D-05EB-4A3C-9171-1CCAC527CF95}" type="presParOf" srcId="{D4BAE5E2-E198-4CE0-B8E1-F0C162C3AC9D}" destId="{6C8AA9E4-DD8D-4FE0-8E98-33BAFABF4994}" srcOrd="1" destOrd="0" presId="urn:microsoft.com/office/officeart/2005/8/layout/orgChart1"/>
    <dgm:cxn modelId="{951866AC-DC49-4528-B38E-2DBBB9D7E61E}" type="presParOf" srcId="{D4BAE5E2-E198-4CE0-B8E1-F0C162C3AC9D}" destId="{0B1B45EC-BF7C-4CDF-AEEC-89693728B5D5}" srcOrd="2" destOrd="0" presId="urn:microsoft.com/office/officeart/2005/8/layout/orgChart1"/>
    <dgm:cxn modelId="{9A69FAC9-C96D-4FA6-91D8-16884147AADB}" type="presParOf" srcId="{27653A0E-8C64-455D-BF33-0CBBE3FA410F}" destId="{AAB41715-CA1B-46B1-9AB7-CA7124E1D54D}" srcOrd="2" destOrd="0" presId="urn:microsoft.com/office/officeart/2005/8/layout/orgChart1"/>
    <dgm:cxn modelId="{0C91CE0A-3A1F-475E-BB24-CA4074CEEA4B}" type="presParOf" srcId="{AAB41715-CA1B-46B1-9AB7-CA7124E1D54D}" destId="{CD24FFDE-3DC2-4BDD-BC76-5663E5FDFBA1}" srcOrd="0" destOrd="0" presId="urn:microsoft.com/office/officeart/2005/8/layout/orgChart1"/>
    <dgm:cxn modelId="{DD021B59-2535-4C66-A312-8E79E828A22E}" type="presParOf" srcId="{CD24FFDE-3DC2-4BDD-BC76-5663E5FDFBA1}" destId="{F06C4AB9-3BAA-4CC8-9682-15C7FDA4DBC2}" srcOrd="0" destOrd="0" presId="urn:microsoft.com/office/officeart/2005/8/layout/orgChart1"/>
    <dgm:cxn modelId="{40C41282-8F4A-416F-B2A9-0388056E4CC6}" type="presParOf" srcId="{CD24FFDE-3DC2-4BDD-BC76-5663E5FDFBA1}" destId="{80B902D0-A44B-4D23-A288-19B48754EB8C}" srcOrd="1" destOrd="0" presId="urn:microsoft.com/office/officeart/2005/8/layout/orgChart1"/>
    <dgm:cxn modelId="{AFD21616-CFC7-4C07-AADE-4439AF28F386}" type="presParOf" srcId="{AAB41715-CA1B-46B1-9AB7-CA7124E1D54D}" destId="{0BB94A90-4551-42AE-99BF-FBD8F4BFC36B}" srcOrd="1" destOrd="0" presId="urn:microsoft.com/office/officeart/2005/8/layout/orgChart1"/>
    <dgm:cxn modelId="{EC03E7FC-0FA3-4CE1-B72E-34C5FB869EAB}" type="presParOf" srcId="{AAB41715-CA1B-46B1-9AB7-CA7124E1D54D}" destId="{516F0341-03B0-4FA9-956F-EA6917EB0848}" srcOrd="2" destOrd="0" presId="urn:microsoft.com/office/officeart/2005/8/layout/orgChart1"/>
    <dgm:cxn modelId="{CE256C5C-D1D0-4E1C-BCEE-2B1B8C83568C}" type="presParOf" srcId="{27653A0E-8C64-455D-BF33-0CBBE3FA410F}" destId="{A1B1EBCD-8798-425D-A538-64132C98433E}" srcOrd="3" destOrd="0" presId="urn:microsoft.com/office/officeart/2005/8/layout/orgChart1"/>
    <dgm:cxn modelId="{3866947D-B425-442B-9853-05B0E3C52DC4}" type="presParOf" srcId="{A1B1EBCD-8798-425D-A538-64132C98433E}" destId="{BC0B1170-9255-4F2A-9576-01F5118CE33E}" srcOrd="0" destOrd="0" presId="urn:microsoft.com/office/officeart/2005/8/layout/orgChart1"/>
    <dgm:cxn modelId="{D2FEEE17-99EA-49B2-930D-B2D922647F82}" type="presParOf" srcId="{BC0B1170-9255-4F2A-9576-01F5118CE33E}" destId="{56C23FC5-126F-427F-8A09-1F9D6137DDA8}" srcOrd="0" destOrd="0" presId="urn:microsoft.com/office/officeart/2005/8/layout/orgChart1"/>
    <dgm:cxn modelId="{5AFBCBEE-C537-4A18-B8DB-DFB7FC496D7F}" type="presParOf" srcId="{BC0B1170-9255-4F2A-9576-01F5118CE33E}" destId="{FE9F4E65-FBA8-45BB-B7B1-FA02E5654B88}" srcOrd="1" destOrd="0" presId="urn:microsoft.com/office/officeart/2005/8/layout/orgChart1"/>
    <dgm:cxn modelId="{B2E23A43-4875-4BDB-BB85-BE73A57670AF}" type="presParOf" srcId="{A1B1EBCD-8798-425D-A538-64132C98433E}" destId="{330F8EFE-38A3-4FB9-87FC-B0565D507334}" srcOrd="1" destOrd="0" presId="urn:microsoft.com/office/officeart/2005/8/layout/orgChart1"/>
    <dgm:cxn modelId="{B1190595-D2BA-4B56-BA89-4FE029F83783}" type="presParOf" srcId="{A1B1EBCD-8798-425D-A538-64132C98433E}" destId="{748DE6E9-988D-4F92-AF82-C946F3ED108E}"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94D52C-3356-4747-A157-9F71F2C8D678}"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GB"/>
        </a:p>
      </dgm:t>
    </dgm:pt>
    <dgm:pt modelId="{C19634EB-9063-4650-8D74-81425BD47F6E}">
      <dgm:prSet phldrT="[Text]"/>
      <dgm:spPr/>
      <dgm:t>
        <a:bodyPr/>
        <a:lstStyle/>
        <a:p>
          <a:r>
            <a:rPr lang="en-GB" b="1" i="0" u="none" dirty="0"/>
            <a:t>Environment</a:t>
          </a:r>
          <a:endParaRPr lang="en-GB" b="1" dirty="0"/>
        </a:p>
      </dgm:t>
    </dgm:pt>
    <dgm:pt modelId="{B21C125F-4079-4FA0-B06F-8C2F33822A89}" type="parTrans" cxnId="{7F1F9577-78CF-4381-BD99-7DF0C766982B}">
      <dgm:prSet/>
      <dgm:spPr/>
      <dgm:t>
        <a:bodyPr/>
        <a:lstStyle/>
        <a:p>
          <a:endParaRPr lang="en-GB"/>
        </a:p>
      </dgm:t>
    </dgm:pt>
    <dgm:pt modelId="{1E91F3FA-0783-4FBE-9137-3DD0D8FDAAA6}" type="sibTrans" cxnId="{7F1F9577-78CF-4381-BD99-7DF0C766982B}">
      <dgm:prSet/>
      <dgm:spPr/>
      <dgm:t>
        <a:bodyPr/>
        <a:lstStyle/>
        <a:p>
          <a:endParaRPr lang="en-GB"/>
        </a:p>
      </dgm:t>
    </dgm:pt>
    <dgm:pt modelId="{5DF5A8D9-2109-40ED-9568-BCF025BB0A47}">
      <dgm:prSet/>
      <dgm:spPr/>
      <dgm:t>
        <a:bodyPr/>
        <a:lstStyle/>
        <a:p>
          <a:r>
            <a:rPr lang="en-GB" b="1" i="0" u="none" dirty="0"/>
            <a:t>Production</a:t>
          </a:r>
          <a:endParaRPr lang="en-GB" dirty="0"/>
        </a:p>
      </dgm:t>
    </dgm:pt>
    <dgm:pt modelId="{A8891FF2-A86D-4CEE-82A8-6CF3C752CA08}" type="parTrans" cxnId="{49993CBD-4E5B-47B7-9147-7B28F51C2FD8}">
      <dgm:prSet/>
      <dgm:spPr/>
      <dgm:t>
        <a:bodyPr/>
        <a:lstStyle/>
        <a:p>
          <a:endParaRPr lang="en-GB"/>
        </a:p>
      </dgm:t>
    </dgm:pt>
    <dgm:pt modelId="{C3C6B0D9-9ED5-4D12-8BC2-F5794F960568}" type="sibTrans" cxnId="{49993CBD-4E5B-47B7-9147-7B28F51C2FD8}">
      <dgm:prSet/>
      <dgm:spPr/>
      <dgm:t>
        <a:bodyPr/>
        <a:lstStyle/>
        <a:p>
          <a:endParaRPr lang="en-GB"/>
        </a:p>
      </dgm:t>
    </dgm:pt>
    <dgm:pt modelId="{8C6DAF9C-D233-4F3D-BAC1-D8472960CCD4}">
      <dgm:prSet/>
      <dgm:spPr/>
      <dgm:t>
        <a:bodyPr/>
        <a:lstStyle/>
        <a:p>
          <a:r>
            <a:rPr lang="en-GB" b="0" i="0" u="none" dirty="0"/>
            <a:t>Fabric_POC_vs1</a:t>
          </a:r>
        </a:p>
      </dgm:t>
    </dgm:pt>
    <dgm:pt modelId="{800ED3A3-E1A5-4E2C-AD54-8F5749EEB8E7}" type="parTrans" cxnId="{9371E5FC-761A-4635-9F66-67806EFEB93B}">
      <dgm:prSet/>
      <dgm:spPr/>
      <dgm:t>
        <a:bodyPr/>
        <a:lstStyle/>
        <a:p>
          <a:endParaRPr lang="en-GB"/>
        </a:p>
      </dgm:t>
    </dgm:pt>
    <dgm:pt modelId="{1FFF7CC2-4080-4B48-9D2E-D6B287413E46}" type="sibTrans" cxnId="{9371E5FC-761A-4635-9F66-67806EFEB93B}">
      <dgm:prSet/>
      <dgm:spPr/>
      <dgm:t>
        <a:bodyPr/>
        <a:lstStyle/>
        <a:p>
          <a:endParaRPr lang="en-GB"/>
        </a:p>
      </dgm:t>
    </dgm:pt>
    <dgm:pt modelId="{14456BFD-1F8D-4B68-94FE-2F5A8B918E4D}">
      <dgm:prSet/>
      <dgm:spPr/>
      <dgm:t>
        <a:bodyPr/>
        <a:lstStyle/>
        <a:p>
          <a:r>
            <a:rPr lang="en-GB" b="0" i="0" u="none"/>
            <a:t>Lakehouse/Warehouse</a:t>
          </a:r>
        </a:p>
      </dgm:t>
    </dgm:pt>
    <dgm:pt modelId="{C442161F-1ACF-44E8-A4B7-E1FE1C301CB3}" type="parTrans" cxnId="{36393949-2821-475B-B022-7F7DC014F586}">
      <dgm:prSet/>
      <dgm:spPr/>
      <dgm:t>
        <a:bodyPr/>
        <a:lstStyle/>
        <a:p>
          <a:endParaRPr lang="en-GB"/>
        </a:p>
      </dgm:t>
    </dgm:pt>
    <dgm:pt modelId="{3F6AEC0A-18D7-4F96-AE85-35E8CB8C5B23}" type="sibTrans" cxnId="{36393949-2821-475B-B022-7F7DC014F586}">
      <dgm:prSet/>
      <dgm:spPr/>
      <dgm:t>
        <a:bodyPr/>
        <a:lstStyle/>
        <a:p>
          <a:endParaRPr lang="en-GB"/>
        </a:p>
      </dgm:t>
    </dgm:pt>
    <dgm:pt modelId="{3DB12AFB-73AD-41A7-A1AA-AC60F29F5624}">
      <dgm:prSet/>
      <dgm:spPr/>
      <dgm:t>
        <a:bodyPr/>
        <a:lstStyle/>
        <a:p>
          <a:r>
            <a:rPr lang="en-GB" b="0" i="0" u="none"/>
            <a:t>Spark Pool Cluster</a:t>
          </a:r>
        </a:p>
      </dgm:t>
    </dgm:pt>
    <dgm:pt modelId="{9D74772D-827E-4A93-8654-668E0EA2AD4C}" type="parTrans" cxnId="{998892C9-0A28-4723-8258-06E205481045}">
      <dgm:prSet/>
      <dgm:spPr/>
      <dgm:t>
        <a:bodyPr/>
        <a:lstStyle/>
        <a:p>
          <a:endParaRPr lang="en-GB"/>
        </a:p>
      </dgm:t>
    </dgm:pt>
    <dgm:pt modelId="{763A59E6-1937-42B8-8605-056508767523}" type="sibTrans" cxnId="{998892C9-0A28-4723-8258-06E205481045}">
      <dgm:prSet/>
      <dgm:spPr/>
      <dgm:t>
        <a:bodyPr/>
        <a:lstStyle/>
        <a:p>
          <a:endParaRPr lang="en-GB"/>
        </a:p>
      </dgm:t>
    </dgm:pt>
    <dgm:pt modelId="{641F2845-2E2D-4B46-8B6C-B81E9EFBBB60}">
      <dgm:prSet/>
      <dgm:spPr/>
      <dgm:t>
        <a:bodyPr/>
        <a:lstStyle/>
        <a:p>
          <a:r>
            <a:rPr lang="en-GB" b="1" i="0" u="none"/>
            <a:t>Development</a:t>
          </a:r>
          <a:endParaRPr lang="en-GB" b="0" i="0" u="none"/>
        </a:p>
      </dgm:t>
    </dgm:pt>
    <dgm:pt modelId="{9794424E-5D17-4EC7-9D88-B5DE0356D3F3}" type="parTrans" cxnId="{1640020A-008F-4DB6-A997-A1080B70A513}">
      <dgm:prSet/>
      <dgm:spPr/>
      <dgm:t>
        <a:bodyPr/>
        <a:lstStyle/>
        <a:p>
          <a:endParaRPr lang="en-GB"/>
        </a:p>
      </dgm:t>
    </dgm:pt>
    <dgm:pt modelId="{D393982C-32EB-43AC-8280-3351A548BF3A}" type="sibTrans" cxnId="{1640020A-008F-4DB6-A997-A1080B70A513}">
      <dgm:prSet/>
      <dgm:spPr/>
      <dgm:t>
        <a:bodyPr/>
        <a:lstStyle/>
        <a:p>
          <a:endParaRPr lang="en-GB"/>
        </a:p>
      </dgm:t>
    </dgm:pt>
    <dgm:pt modelId="{D268746A-C450-435F-95FE-00F4A493D26F}">
      <dgm:prSet/>
      <dgm:spPr/>
      <dgm:t>
        <a:bodyPr/>
        <a:lstStyle/>
        <a:p>
          <a:r>
            <a:rPr lang="en-GB" b="0" i="0" u="none" dirty="0"/>
            <a:t>Dev-Workspace</a:t>
          </a:r>
        </a:p>
      </dgm:t>
    </dgm:pt>
    <dgm:pt modelId="{1ADACDA1-8E5F-4F7F-960C-2A43A034CD19}" type="parTrans" cxnId="{65617E2E-017B-497F-B4A6-94D32D009A4C}">
      <dgm:prSet/>
      <dgm:spPr/>
      <dgm:t>
        <a:bodyPr/>
        <a:lstStyle/>
        <a:p>
          <a:endParaRPr lang="en-GB"/>
        </a:p>
      </dgm:t>
    </dgm:pt>
    <dgm:pt modelId="{08E45B58-D8EC-4E5C-B428-A8631B9B7FCD}" type="sibTrans" cxnId="{65617E2E-017B-497F-B4A6-94D32D009A4C}">
      <dgm:prSet/>
      <dgm:spPr/>
      <dgm:t>
        <a:bodyPr/>
        <a:lstStyle/>
        <a:p>
          <a:endParaRPr lang="en-GB"/>
        </a:p>
      </dgm:t>
    </dgm:pt>
    <dgm:pt modelId="{7E51BAFF-1B29-4DEB-B6FB-253A2C52BF45}">
      <dgm:prSet/>
      <dgm:spPr/>
      <dgm:t>
        <a:bodyPr/>
        <a:lstStyle/>
        <a:p>
          <a:r>
            <a:rPr lang="en-GB" b="0" i="0" u="none"/>
            <a:t>Dev-Lakehouse</a:t>
          </a:r>
        </a:p>
      </dgm:t>
    </dgm:pt>
    <dgm:pt modelId="{68C2B4D2-C396-4E08-948D-AC3DA4A67BFD}" type="parTrans" cxnId="{C4F451C6-36EA-4C92-8E9D-51C67EA5BC70}">
      <dgm:prSet/>
      <dgm:spPr/>
      <dgm:t>
        <a:bodyPr/>
        <a:lstStyle/>
        <a:p>
          <a:endParaRPr lang="en-GB"/>
        </a:p>
      </dgm:t>
    </dgm:pt>
    <dgm:pt modelId="{A6945FD4-CED4-46D8-B500-69DC45E5526A}" type="sibTrans" cxnId="{C4F451C6-36EA-4C92-8E9D-51C67EA5BC70}">
      <dgm:prSet/>
      <dgm:spPr/>
      <dgm:t>
        <a:bodyPr/>
        <a:lstStyle/>
        <a:p>
          <a:endParaRPr lang="en-GB"/>
        </a:p>
      </dgm:t>
    </dgm:pt>
    <dgm:pt modelId="{9F3497BC-F9CE-46B5-AB97-097035552670}">
      <dgm:prSet/>
      <dgm:spPr/>
      <dgm:t>
        <a:bodyPr/>
        <a:lstStyle/>
        <a:p>
          <a:r>
            <a:rPr lang="en-GB" b="0" i="0" u="none"/>
            <a:t>Dev-Spark-Pool</a:t>
          </a:r>
        </a:p>
      </dgm:t>
    </dgm:pt>
    <dgm:pt modelId="{3791040A-EB1A-40D0-95CF-DFB23AE33424}" type="parTrans" cxnId="{8FCB243D-A6EC-40FE-9FA6-B3E31269E628}">
      <dgm:prSet/>
      <dgm:spPr/>
      <dgm:t>
        <a:bodyPr/>
        <a:lstStyle/>
        <a:p>
          <a:endParaRPr lang="en-GB"/>
        </a:p>
      </dgm:t>
    </dgm:pt>
    <dgm:pt modelId="{CDD5C763-B1B4-4FF5-AAE7-195A94EFD125}" type="sibTrans" cxnId="{8FCB243D-A6EC-40FE-9FA6-B3E31269E628}">
      <dgm:prSet/>
      <dgm:spPr/>
      <dgm:t>
        <a:bodyPr/>
        <a:lstStyle/>
        <a:p>
          <a:endParaRPr lang="en-GB"/>
        </a:p>
      </dgm:t>
    </dgm:pt>
    <dgm:pt modelId="{E6FC63C1-7604-44A0-8E28-00B3DB4007CA}">
      <dgm:prSet/>
      <dgm:spPr/>
      <dgm:t>
        <a:bodyPr/>
        <a:lstStyle/>
        <a:p>
          <a:r>
            <a:rPr lang="en-GB" b="1" i="0" u="none"/>
            <a:t>Testing</a:t>
          </a:r>
          <a:endParaRPr lang="en-GB" b="0" i="0" u="none"/>
        </a:p>
      </dgm:t>
    </dgm:pt>
    <dgm:pt modelId="{103B7ACB-12D6-4072-800E-ECE2776F4E39}" type="parTrans" cxnId="{EA29DBDA-AFBA-4516-AC28-D3A8833D1AD8}">
      <dgm:prSet/>
      <dgm:spPr/>
      <dgm:t>
        <a:bodyPr/>
        <a:lstStyle/>
        <a:p>
          <a:endParaRPr lang="en-GB"/>
        </a:p>
      </dgm:t>
    </dgm:pt>
    <dgm:pt modelId="{3119F8DF-25E4-4E0C-9E09-3BB086F13FFD}" type="sibTrans" cxnId="{EA29DBDA-AFBA-4516-AC28-D3A8833D1AD8}">
      <dgm:prSet/>
      <dgm:spPr/>
      <dgm:t>
        <a:bodyPr/>
        <a:lstStyle/>
        <a:p>
          <a:endParaRPr lang="en-GB"/>
        </a:p>
      </dgm:t>
    </dgm:pt>
    <dgm:pt modelId="{037C67C5-F716-4DC9-AF7F-4E497E8ED692}">
      <dgm:prSet/>
      <dgm:spPr/>
      <dgm:t>
        <a:bodyPr/>
        <a:lstStyle/>
        <a:p>
          <a:r>
            <a:rPr lang="en-GB" b="0" i="0" u="none"/>
            <a:t>Test-Workspace</a:t>
          </a:r>
        </a:p>
      </dgm:t>
    </dgm:pt>
    <dgm:pt modelId="{E6EEEFF1-C3E1-4C53-9607-07F6544BEF83}" type="parTrans" cxnId="{84B6DF58-9B56-45AD-99F7-C0C739E6499C}">
      <dgm:prSet/>
      <dgm:spPr/>
      <dgm:t>
        <a:bodyPr/>
        <a:lstStyle/>
        <a:p>
          <a:endParaRPr lang="en-GB"/>
        </a:p>
      </dgm:t>
    </dgm:pt>
    <dgm:pt modelId="{32F768C6-90A8-448B-954A-E84080A3A68C}" type="sibTrans" cxnId="{84B6DF58-9B56-45AD-99F7-C0C739E6499C}">
      <dgm:prSet/>
      <dgm:spPr/>
      <dgm:t>
        <a:bodyPr/>
        <a:lstStyle/>
        <a:p>
          <a:endParaRPr lang="en-GB"/>
        </a:p>
      </dgm:t>
    </dgm:pt>
    <dgm:pt modelId="{F08DC86E-30CE-40F3-8938-A6858E50801D}">
      <dgm:prSet/>
      <dgm:spPr/>
      <dgm:t>
        <a:bodyPr/>
        <a:lstStyle/>
        <a:p>
          <a:r>
            <a:rPr lang="en-GB" b="0" i="0" u="none"/>
            <a:t>Test-Lakehouse</a:t>
          </a:r>
        </a:p>
      </dgm:t>
    </dgm:pt>
    <dgm:pt modelId="{6E7D6864-7D13-4C40-9FB0-24D35FDB9843}" type="parTrans" cxnId="{4862C1E4-EF8A-4C24-8F24-DED479126128}">
      <dgm:prSet/>
      <dgm:spPr/>
      <dgm:t>
        <a:bodyPr/>
        <a:lstStyle/>
        <a:p>
          <a:endParaRPr lang="en-GB"/>
        </a:p>
      </dgm:t>
    </dgm:pt>
    <dgm:pt modelId="{0805B4D5-B4B9-4154-8FC4-85BB22E76BBE}" type="sibTrans" cxnId="{4862C1E4-EF8A-4C24-8F24-DED479126128}">
      <dgm:prSet/>
      <dgm:spPr/>
      <dgm:t>
        <a:bodyPr/>
        <a:lstStyle/>
        <a:p>
          <a:endParaRPr lang="en-GB"/>
        </a:p>
      </dgm:t>
    </dgm:pt>
    <dgm:pt modelId="{6D16AAAE-D534-4BC5-BD6E-241B4A729C17}">
      <dgm:prSet/>
      <dgm:spPr/>
      <dgm:t>
        <a:bodyPr/>
        <a:lstStyle/>
        <a:p>
          <a:r>
            <a:rPr lang="en-GB" b="0" i="0" u="none"/>
            <a:t>Test-Spark-Pool</a:t>
          </a:r>
        </a:p>
      </dgm:t>
    </dgm:pt>
    <dgm:pt modelId="{B0EC7F1F-285D-4554-BBBF-51DE1B6515CE}" type="parTrans" cxnId="{F961A9DC-6D0B-46C1-B415-2A86097108F4}">
      <dgm:prSet/>
      <dgm:spPr/>
      <dgm:t>
        <a:bodyPr/>
        <a:lstStyle/>
        <a:p>
          <a:endParaRPr lang="en-GB"/>
        </a:p>
      </dgm:t>
    </dgm:pt>
    <dgm:pt modelId="{6E0D2BEA-6276-485B-AAE2-EB0044626595}" type="sibTrans" cxnId="{F961A9DC-6D0B-46C1-B415-2A86097108F4}">
      <dgm:prSet/>
      <dgm:spPr/>
      <dgm:t>
        <a:bodyPr/>
        <a:lstStyle/>
        <a:p>
          <a:endParaRPr lang="en-GB"/>
        </a:p>
      </dgm:t>
    </dgm:pt>
    <dgm:pt modelId="{974C16D5-CC02-4C05-9433-C5D813F0CA66}">
      <dgm:prSet/>
      <dgm:spPr/>
      <dgm:t>
        <a:bodyPr/>
        <a:lstStyle/>
        <a:p>
          <a:r>
            <a:rPr lang="en-GB" b="0" i="0" u="none" dirty="0"/>
            <a:t>Prod-Workspace</a:t>
          </a:r>
        </a:p>
      </dgm:t>
    </dgm:pt>
    <dgm:pt modelId="{79FC8E22-14EA-414B-AA04-181E71B1E4FA}" type="parTrans" cxnId="{8993688C-E690-459D-8B0F-D816D494D8E0}">
      <dgm:prSet/>
      <dgm:spPr/>
      <dgm:t>
        <a:bodyPr/>
        <a:lstStyle/>
        <a:p>
          <a:endParaRPr lang="en-GB"/>
        </a:p>
      </dgm:t>
    </dgm:pt>
    <dgm:pt modelId="{B1C58C75-7B45-4D4F-AF7D-484B3EA38B62}" type="sibTrans" cxnId="{8993688C-E690-459D-8B0F-D816D494D8E0}">
      <dgm:prSet/>
      <dgm:spPr/>
      <dgm:t>
        <a:bodyPr/>
        <a:lstStyle/>
        <a:p>
          <a:endParaRPr lang="en-GB"/>
        </a:p>
      </dgm:t>
    </dgm:pt>
    <dgm:pt modelId="{E9AEEE77-175C-4312-8951-0DC7F73D037F}">
      <dgm:prSet/>
      <dgm:spPr/>
      <dgm:t>
        <a:bodyPr/>
        <a:lstStyle/>
        <a:p>
          <a:r>
            <a:rPr lang="en-GB" b="0" i="0" u="none" dirty="0"/>
            <a:t>Prod-Lakehouse</a:t>
          </a:r>
        </a:p>
      </dgm:t>
    </dgm:pt>
    <dgm:pt modelId="{FC6CC629-401F-4C65-A888-8F022F398003}" type="parTrans" cxnId="{72FEACE1-9D4D-4D49-9DFD-1F237F49EE2B}">
      <dgm:prSet/>
      <dgm:spPr/>
      <dgm:t>
        <a:bodyPr/>
        <a:lstStyle/>
        <a:p>
          <a:endParaRPr lang="en-GB"/>
        </a:p>
      </dgm:t>
    </dgm:pt>
    <dgm:pt modelId="{FB4CD058-C68A-4F68-882B-A09213AAF685}" type="sibTrans" cxnId="{72FEACE1-9D4D-4D49-9DFD-1F237F49EE2B}">
      <dgm:prSet/>
      <dgm:spPr/>
      <dgm:t>
        <a:bodyPr/>
        <a:lstStyle/>
        <a:p>
          <a:endParaRPr lang="en-GB"/>
        </a:p>
      </dgm:t>
    </dgm:pt>
    <dgm:pt modelId="{FFE04B87-E3C2-40FF-878C-33037220AD0B}">
      <dgm:prSet/>
      <dgm:spPr/>
      <dgm:t>
        <a:bodyPr/>
        <a:lstStyle/>
        <a:p>
          <a:r>
            <a:rPr lang="en-GB" b="0" i="0" u="none" dirty="0"/>
            <a:t>Prod-Spark-Pool</a:t>
          </a:r>
        </a:p>
      </dgm:t>
    </dgm:pt>
    <dgm:pt modelId="{5151239A-2D4F-4C65-8B12-CC5C8854B77A}" type="parTrans" cxnId="{CB342CFC-7D56-4214-9431-E76D59233012}">
      <dgm:prSet/>
      <dgm:spPr/>
      <dgm:t>
        <a:bodyPr/>
        <a:lstStyle/>
        <a:p>
          <a:endParaRPr lang="en-GB"/>
        </a:p>
      </dgm:t>
    </dgm:pt>
    <dgm:pt modelId="{04A702DA-29C0-463C-88EE-B7EAEB3AA080}" type="sibTrans" cxnId="{CB342CFC-7D56-4214-9431-E76D59233012}">
      <dgm:prSet/>
      <dgm:spPr/>
      <dgm:t>
        <a:bodyPr/>
        <a:lstStyle/>
        <a:p>
          <a:endParaRPr lang="en-GB"/>
        </a:p>
      </dgm:t>
    </dgm:pt>
    <dgm:pt modelId="{D46627A5-12B5-48BE-B80F-B5B14DC046E5}" type="pres">
      <dgm:prSet presAssocID="{CC94D52C-3356-4747-A157-9F71F2C8D678}" presName="theList" presStyleCnt="0">
        <dgm:presLayoutVars>
          <dgm:dir/>
          <dgm:animLvl val="lvl"/>
          <dgm:resizeHandles val="exact"/>
        </dgm:presLayoutVars>
      </dgm:prSet>
      <dgm:spPr/>
    </dgm:pt>
    <dgm:pt modelId="{1B1868B0-1D12-496F-8863-BFE1CF0D94E6}" type="pres">
      <dgm:prSet presAssocID="{C19634EB-9063-4650-8D74-81425BD47F6E}" presName="compNode" presStyleCnt="0"/>
      <dgm:spPr/>
    </dgm:pt>
    <dgm:pt modelId="{74D88A3B-3F92-4686-886E-2747F92AD30C}" type="pres">
      <dgm:prSet presAssocID="{C19634EB-9063-4650-8D74-81425BD47F6E}" presName="aNode" presStyleLbl="bgShp" presStyleIdx="0" presStyleCnt="4"/>
      <dgm:spPr/>
    </dgm:pt>
    <dgm:pt modelId="{80FBE564-24BF-4267-9D8E-5F042409E274}" type="pres">
      <dgm:prSet presAssocID="{C19634EB-9063-4650-8D74-81425BD47F6E}" presName="textNode" presStyleLbl="bgShp" presStyleIdx="0" presStyleCnt="4"/>
      <dgm:spPr/>
    </dgm:pt>
    <dgm:pt modelId="{A6E98D7E-75CB-4BCF-84D6-99994FB46684}" type="pres">
      <dgm:prSet presAssocID="{C19634EB-9063-4650-8D74-81425BD47F6E}" presName="compChildNode" presStyleCnt="0"/>
      <dgm:spPr/>
    </dgm:pt>
    <dgm:pt modelId="{92A39CCB-4624-415D-A1F8-13F88F9F4AAE}" type="pres">
      <dgm:prSet presAssocID="{C19634EB-9063-4650-8D74-81425BD47F6E}" presName="theInnerList" presStyleCnt="0"/>
      <dgm:spPr/>
    </dgm:pt>
    <dgm:pt modelId="{072D89E5-460E-4898-95EE-CFD9BF8B4271}" type="pres">
      <dgm:prSet presAssocID="{8C6DAF9C-D233-4F3D-BAC1-D8472960CCD4}" presName="childNode" presStyleLbl="node1" presStyleIdx="0" presStyleCnt="12">
        <dgm:presLayoutVars>
          <dgm:bulletEnabled val="1"/>
        </dgm:presLayoutVars>
      </dgm:prSet>
      <dgm:spPr/>
    </dgm:pt>
    <dgm:pt modelId="{87013C38-45C2-4FAF-B392-B5BB6AE10E36}" type="pres">
      <dgm:prSet presAssocID="{8C6DAF9C-D233-4F3D-BAC1-D8472960CCD4}" presName="aSpace2" presStyleCnt="0"/>
      <dgm:spPr/>
    </dgm:pt>
    <dgm:pt modelId="{6AE66CCF-4871-4E3E-8442-3D3A4CA2032C}" type="pres">
      <dgm:prSet presAssocID="{14456BFD-1F8D-4B68-94FE-2F5A8B918E4D}" presName="childNode" presStyleLbl="node1" presStyleIdx="1" presStyleCnt="12">
        <dgm:presLayoutVars>
          <dgm:bulletEnabled val="1"/>
        </dgm:presLayoutVars>
      </dgm:prSet>
      <dgm:spPr/>
    </dgm:pt>
    <dgm:pt modelId="{1D401163-CCC8-4C53-A73A-44A69DA6DC68}" type="pres">
      <dgm:prSet presAssocID="{14456BFD-1F8D-4B68-94FE-2F5A8B918E4D}" presName="aSpace2" presStyleCnt="0"/>
      <dgm:spPr/>
    </dgm:pt>
    <dgm:pt modelId="{6EE976E8-761A-4400-A5CD-593E8763FFFD}" type="pres">
      <dgm:prSet presAssocID="{3DB12AFB-73AD-41A7-A1AA-AC60F29F5624}" presName="childNode" presStyleLbl="node1" presStyleIdx="2" presStyleCnt="12">
        <dgm:presLayoutVars>
          <dgm:bulletEnabled val="1"/>
        </dgm:presLayoutVars>
      </dgm:prSet>
      <dgm:spPr/>
    </dgm:pt>
    <dgm:pt modelId="{E8C9E65C-CE2E-49ED-9721-8F5CC3191A5B}" type="pres">
      <dgm:prSet presAssocID="{C19634EB-9063-4650-8D74-81425BD47F6E}" presName="aSpace" presStyleCnt="0"/>
      <dgm:spPr/>
    </dgm:pt>
    <dgm:pt modelId="{A1678B74-5CF5-414F-99E3-5F06F1E8BF0C}" type="pres">
      <dgm:prSet presAssocID="{641F2845-2E2D-4B46-8B6C-B81E9EFBBB60}" presName="compNode" presStyleCnt="0"/>
      <dgm:spPr/>
    </dgm:pt>
    <dgm:pt modelId="{86890A2E-3BFB-4F27-B610-C92764D8F0A3}" type="pres">
      <dgm:prSet presAssocID="{641F2845-2E2D-4B46-8B6C-B81E9EFBBB60}" presName="aNode" presStyleLbl="bgShp" presStyleIdx="1" presStyleCnt="4"/>
      <dgm:spPr/>
    </dgm:pt>
    <dgm:pt modelId="{1AEC4710-7FBA-4E50-9721-B9499C852BB8}" type="pres">
      <dgm:prSet presAssocID="{641F2845-2E2D-4B46-8B6C-B81E9EFBBB60}" presName="textNode" presStyleLbl="bgShp" presStyleIdx="1" presStyleCnt="4"/>
      <dgm:spPr/>
    </dgm:pt>
    <dgm:pt modelId="{6A57B74C-16DB-4918-B4B2-9940B8CA336D}" type="pres">
      <dgm:prSet presAssocID="{641F2845-2E2D-4B46-8B6C-B81E9EFBBB60}" presName="compChildNode" presStyleCnt="0"/>
      <dgm:spPr/>
    </dgm:pt>
    <dgm:pt modelId="{1AF30184-D458-4F65-9E27-89083C872F07}" type="pres">
      <dgm:prSet presAssocID="{641F2845-2E2D-4B46-8B6C-B81E9EFBBB60}" presName="theInnerList" presStyleCnt="0"/>
      <dgm:spPr/>
    </dgm:pt>
    <dgm:pt modelId="{83B20E56-FB3D-4C4E-A1DC-26EFB8942A8C}" type="pres">
      <dgm:prSet presAssocID="{D268746A-C450-435F-95FE-00F4A493D26F}" presName="childNode" presStyleLbl="node1" presStyleIdx="3" presStyleCnt="12">
        <dgm:presLayoutVars>
          <dgm:bulletEnabled val="1"/>
        </dgm:presLayoutVars>
      </dgm:prSet>
      <dgm:spPr/>
    </dgm:pt>
    <dgm:pt modelId="{B416C011-352C-43DE-8727-AC4024F3EDDB}" type="pres">
      <dgm:prSet presAssocID="{D268746A-C450-435F-95FE-00F4A493D26F}" presName="aSpace2" presStyleCnt="0"/>
      <dgm:spPr/>
    </dgm:pt>
    <dgm:pt modelId="{2A8E40D3-E494-43C2-9A79-272A3B744F13}" type="pres">
      <dgm:prSet presAssocID="{7E51BAFF-1B29-4DEB-B6FB-253A2C52BF45}" presName="childNode" presStyleLbl="node1" presStyleIdx="4" presStyleCnt="12">
        <dgm:presLayoutVars>
          <dgm:bulletEnabled val="1"/>
        </dgm:presLayoutVars>
      </dgm:prSet>
      <dgm:spPr/>
    </dgm:pt>
    <dgm:pt modelId="{710A29CE-01AE-424F-AE3A-8223FD119359}" type="pres">
      <dgm:prSet presAssocID="{7E51BAFF-1B29-4DEB-B6FB-253A2C52BF45}" presName="aSpace2" presStyleCnt="0"/>
      <dgm:spPr/>
    </dgm:pt>
    <dgm:pt modelId="{82EA8B14-96A3-4020-BE25-916A64CD6FA2}" type="pres">
      <dgm:prSet presAssocID="{9F3497BC-F9CE-46B5-AB97-097035552670}" presName="childNode" presStyleLbl="node1" presStyleIdx="5" presStyleCnt="12">
        <dgm:presLayoutVars>
          <dgm:bulletEnabled val="1"/>
        </dgm:presLayoutVars>
      </dgm:prSet>
      <dgm:spPr/>
    </dgm:pt>
    <dgm:pt modelId="{30F2E6F6-A02A-4A8C-A80B-0A1A7E42A9D3}" type="pres">
      <dgm:prSet presAssocID="{641F2845-2E2D-4B46-8B6C-B81E9EFBBB60}" presName="aSpace" presStyleCnt="0"/>
      <dgm:spPr/>
    </dgm:pt>
    <dgm:pt modelId="{3B78437F-9D5E-40E6-B2EE-35B4DA12BA7A}" type="pres">
      <dgm:prSet presAssocID="{E6FC63C1-7604-44A0-8E28-00B3DB4007CA}" presName="compNode" presStyleCnt="0"/>
      <dgm:spPr/>
    </dgm:pt>
    <dgm:pt modelId="{0E87C979-7F03-40A9-BE75-8B288A757DEF}" type="pres">
      <dgm:prSet presAssocID="{E6FC63C1-7604-44A0-8E28-00B3DB4007CA}" presName="aNode" presStyleLbl="bgShp" presStyleIdx="2" presStyleCnt="4"/>
      <dgm:spPr/>
    </dgm:pt>
    <dgm:pt modelId="{B747B63F-34E2-4186-96BB-EF57FED3D7B9}" type="pres">
      <dgm:prSet presAssocID="{E6FC63C1-7604-44A0-8E28-00B3DB4007CA}" presName="textNode" presStyleLbl="bgShp" presStyleIdx="2" presStyleCnt="4"/>
      <dgm:spPr/>
    </dgm:pt>
    <dgm:pt modelId="{73F90B61-AE54-434C-9598-7310246FB6F6}" type="pres">
      <dgm:prSet presAssocID="{E6FC63C1-7604-44A0-8E28-00B3DB4007CA}" presName="compChildNode" presStyleCnt="0"/>
      <dgm:spPr/>
    </dgm:pt>
    <dgm:pt modelId="{B058A27B-3037-4B27-AC2A-B816B15434FD}" type="pres">
      <dgm:prSet presAssocID="{E6FC63C1-7604-44A0-8E28-00B3DB4007CA}" presName="theInnerList" presStyleCnt="0"/>
      <dgm:spPr/>
    </dgm:pt>
    <dgm:pt modelId="{6F5AE686-3B52-4185-B1F9-1D488F951D60}" type="pres">
      <dgm:prSet presAssocID="{037C67C5-F716-4DC9-AF7F-4E497E8ED692}" presName="childNode" presStyleLbl="node1" presStyleIdx="6" presStyleCnt="12">
        <dgm:presLayoutVars>
          <dgm:bulletEnabled val="1"/>
        </dgm:presLayoutVars>
      </dgm:prSet>
      <dgm:spPr/>
    </dgm:pt>
    <dgm:pt modelId="{A2EAEA1F-41FD-4C84-BB1B-B9205B086019}" type="pres">
      <dgm:prSet presAssocID="{037C67C5-F716-4DC9-AF7F-4E497E8ED692}" presName="aSpace2" presStyleCnt="0"/>
      <dgm:spPr/>
    </dgm:pt>
    <dgm:pt modelId="{4F21D1F6-3C1B-4F49-B753-52451149DAEB}" type="pres">
      <dgm:prSet presAssocID="{F08DC86E-30CE-40F3-8938-A6858E50801D}" presName="childNode" presStyleLbl="node1" presStyleIdx="7" presStyleCnt="12">
        <dgm:presLayoutVars>
          <dgm:bulletEnabled val="1"/>
        </dgm:presLayoutVars>
      </dgm:prSet>
      <dgm:spPr/>
    </dgm:pt>
    <dgm:pt modelId="{8E6E90C8-E183-4BDD-BF81-4EA63ED12DD0}" type="pres">
      <dgm:prSet presAssocID="{F08DC86E-30CE-40F3-8938-A6858E50801D}" presName="aSpace2" presStyleCnt="0"/>
      <dgm:spPr/>
    </dgm:pt>
    <dgm:pt modelId="{1E593EA5-1A2E-45D5-B7ED-794F8D28D619}" type="pres">
      <dgm:prSet presAssocID="{6D16AAAE-D534-4BC5-BD6E-241B4A729C17}" presName="childNode" presStyleLbl="node1" presStyleIdx="8" presStyleCnt="12">
        <dgm:presLayoutVars>
          <dgm:bulletEnabled val="1"/>
        </dgm:presLayoutVars>
      </dgm:prSet>
      <dgm:spPr/>
    </dgm:pt>
    <dgm:pt modelId="{E8AB6A41-96EF-45E5-92E5-653B01CD9083}" type="pres">
      <dgm:prSet presAssocID="{E6FC63C1-7604-44A0-8E28-00B3DB4007CA}" presName="aSpace" presStyleCnt="0"/>
      <dgm:spPr/>
    </dgm:pt>
    <dgm:pt modelId="{CD390870-D1FC-41B9-9585-E543B2E96AC6}" type="pres">
      <dgm:prSet presAssocID="{5DF5A8D9-2109-40ED-9568-BCF025BB0A47}" presName="compNode" presStyleCnt="0"/>
      <dgm:spPr/>
    </dgm:pt>
    <dgm:pt modelId="{B4F0D76C-3E2D-4EEE-B601-72F23AD42DAA}" type="pres">
      <dgm:prSet presAssocID="{5DF5A8D9-2109-40ED-9568-BCF025BB0A47}" presName="aNode" presStyleLbl="bgShp" presStyleIdx="3" presStyleCnt="4"/>
      <dgm:spPr/>
    </dgm:pt>
    <dgm:pt modelId="{BC40FAC9-55E3-4317-8D72-1F0AA335763D}" type="pres">
      <dgm:prSet presAssocID="{5DF5A8D9-2109-40ED-9568-BCF025BB0A47}" presName="textNode" presStyleLbl="bgShp" presStyleIdx="3" presStyleCnt="4"/>
      <dgm:spPr/>
    </dgm:pt>
    <dgm:pt modelId="{FE8C4521-DBBC-4F94-BF96-8317C6922D54}" type="pres">
      <dgm:prSet presAssocID="{5DF5A8D9-2109-40ED-9568-BCF025BB0A47}" presName="compChildNode" presStyleCnt="0"/>
      <dgm:spPr/>
    </dgm:pt>
    <dgm:pt modelId="{24EF6514-DF72-4E34-9FAD-F2C6384A9C7F}" type="pres">
      <dgm:prSet presAssocID="{5DF5A8D9-2109-40ED-9568-BCF025BB0A47}" presName="theInnerList" presStyleCnt="0"/>
      <dgm:spPr/>
    </dgm:pt>
    <dgm:pt modelId="{9F914314-DE2A-4A4C-B11D-D91E0C996C83}" type="pres">
      <dgm:prSet presAssocID="{974C16D5-CC02-4C05-9433-C5D813F0CA66}" presName="childNode" presStyleLbl="node1" presStyleIdx="9" presStyleCnt="12">
        <dgm:presLayoutVars>
          <dgm:bulletEnabled val="1"/>
        </dgm:presLayoutVars>
      </dgm:prSet>
      <dgm:spPr/>
    </dgm:pt>
    <dgm:pt modelId="{4AEB1382-5C1C-463C-AC7B-9D0742E99CDF}" type="pres">
      <dgm:prSet presAssocID="{974C16D5-CC02-4C05-9433-C5D813F0CA66}" presName="aSpace2" presStyleCnt="0"/>
      <dgm:spPr/>
    </dgm:pt>
    <dgm:pt modelId="{8AF26BD9-068D-4A71-94F7-CCB878D91BF7}" type="pres">
      <dgm:prSet presAssocID="{E9AEEE77-175C-4312-8951-0DC7F73D037F}" presName="childNode" presStyleLbl="node1" presStyleIdx="10" presStyleCnt="12">
        <dgm:presLayoutVars>
          <dgm:bulletEnabled val="1"/>
        </dgm:presLayoutVars>
      </dgm:prSet>
      <dgm:spPr/>
    </dgm:pt>
    <dgm:pt modelId="{14ADC4D1-4765-4B5F-8D24-254FBEF3F2F8}" type="pres">
      <dgm:prSet presAssocID="{E9AEEE77-175C-4312-8951-0DC7F73D037F}" presName="aSpace2" presStyleCnt="0"/>
      <dgm:spPr/>
    </dgm:pt>
    <dgm:pt modelId="{B5318E6C-4E3F-475E-A947-D433E61218D6}" type="pres">
      <dgm:prSet presAssocID="{FFE04B87-E3C2-40FF-878C-33037220AD0B}" presName="childNode" presStyleLbl="node1" presStyleIdx="11" presStyleCnt="12">
        <dgm:presLayoutVars>
          <dgm:bulletEnabled val="1"/>
        </dgm:presLayoutVars>
      </dgm:prSet>
      <dgm:spPr/>
    </dgm:pt>
  </dgm:ptLst>
  <dgm:cxnLst>
    <dgm:cxn modelId="{1640020A-008F-4DB6-A997-A1080B70A513}" srcId="{CC94D52C-3356-4747-A157-9F71F2C8D678}" destId="{641F2845-2E2D-4B46-8B6C-B81E9EFBBB60}" srcOrd="1" destOrd="0" parTransId="{9794424E-5D17-4EC7-9D88-B5DE0356D3F3}" sibTransId="{D393982C-32EB-43AC-8280-3351A548BF3A}"/>
    <dgm:cxn modelId="{65617E2E-017B-497F-B4A6-94D32D009A4C}" srcId="{641F2845-2E2D-4B46-8B6C-B81E9EFBBB60}" destId="{D268746A-C450-435F-95FE-00F4A493D26F}" srcOrd="0" destOrd="0" parTransId="{1ADACDA1-8E5F-4F7F-960C-2A43A034CD19}" sibTransId="{08E45B58-D8EC-4E5C-B428-A8631B9B7FCD}"/>
    <dgm:cxn modelId="{54DA4E34-2D8F-4915-B1A3-9338CABF125A}" type="presOf" srcId="{5DF5A8D9-2109-40ED-9568-BCF025BB0A47}" destId="{B4F0D76C-3E2D-4EEE-B601-72F23AD42DAA}" srcOrd="0" destOrd="0" presId="urn:microsoft.com/office/officeart/2005/8/layout/lProcess2"/>
    <dgm:cxn modelId="{8FCB243D-A6EC-40FE-9FA6-B3E31269E628}" srcId="{641F2845-2E2D-4B46-8B6C-B81E9EFBBB60}" destId="{9F3497BC-F9CE-46B5-AB97-097035552670}" srcOrd="2" destOrd="0" parTransId="{3791040A-EB1A-40D0-95CF-DFB23AE33424}" sibTransId="{CDD5C763-B1B4-4FF5-AAE7-195A94EFD125}"/>
    <dgm:cxn modelId="{36393949-2821-475B-B022-7F7DC014F586}" srcId="{C19634EB-9063-4650-8D74-81425BD47F6E}" destId="{14456BFD-1F8D-4B68-94FE-2F5A8B918E4D}" srcOrd="1" destOrd="0" parTransId="{C442161F-1ACF-44E8-A4B7-E1FE1C301CB3}" sibTransId="{3F6AEC0A-18D7-4F96-AE85-35E8CB8C5B23}"/>
    <dgm:cxn modelId="{E4EEAA69-9D3D-44C9-BD22-B3BEB20F8AB0}" type="presOf" srcId="{974C16D5-CC02-4C05-9433-C5D813F0CA66}" destId="{9F914314-DE2A-4A4C-B11D-D91E0C996C83}" srcOrd="0" destOrd="0" presId="urn:microsoft.com/office/officeart/2005/8/layout/lProcess2"/>
    <dgm:cxn modelId="{123EF04F-2A2C-4A2C-AD10-7F4ED8A5EA59}" type="presOf" srcId="{641F2845-2E2D-4B46-8B6C-B81E9EFBBB60}" destId="{1AEC4710-7FBA-4E50-9721-B9499C852BB8}" srcOrd="1" destOrd="0" presId="urn:microsoft.com/office/officeart/2005/8/layout/lProcess2"/>
    <dgm:cxn modelId="{E3147771-58DC-406D-9200-2312FA040598}" type="presOf" srcId="{641F2845-2E2D-4B46-8B6C-B81E9EFBBB60}" destId="{86890A2E-3BFB-4F27-B610-C92764D8F0A3}" srcOrd="0" destOrd="0" presId="urn:microsoft.com/office/officeart/2005/8/layout/lProcess2"/>
    <dgm:cxn modelId="{5CB8A772-75E5-4844-BEDD-89AD029DC80D}" type="presOf" srcId="{CC94D52C-3356-4747-A157-9F71F2C8D678}" destId="{D46627A5-12B5-48BE-B80F-B5B14DC046E5}" srcOrd="0" destOrd="0" presId="urn:microsoft.com/office/officeart/2005/8/layout/lProcess2"/>
    <dgm:cxn modelId="{7F1F9577-78CF-4381-BD99-7DF0C766982B}" srcId="{CC94D52C-3356-4747-A157-9F71F2C8D678}" destId="{C19634EB-9063-4650-8D74-81425BD47F6E}" srcOrd="0" destOrd="0" parTransId="{B21C125F-4079-4FA0-B06F-8C2F33822A89}" sibTransId="{1E91F3FA-0783-4FBE-9137-3DD0D8FDAAA6}"/>
    <dgm:cxn modelId="{84B6DF58-9B56-45AD-99F7-C0C739E6499C}" srcId="{E6FC63C1-7604-44A0-8E28-00B3DB4007CA}" destId="{037C67C5-F716-4DC9-AF7F-4E497E8ED692}" srcOrd="0" destOrd="0" parTransId="{E6EEEFF1-C3E1-4C53-9607-07F6544BEF83}" sibTransId="{32F768C6-90A8-448B-954A-E84080A3A68C}"/>
    <dgm:cxn modelId="{01CB8882-F110-4315-ABE3-EF70E7203D6A}" type="presOf" srcId="{E6FC63C1-7604-44A0-8E28-00B3DB4007CA}" destId="{0E87C979-7F03-40A9-BE75-8B288A757DEF}" srcOrd="0" destOrd="0" presId="urn:microsoft.com/office/officeart/2005/8/layout/lProcess2"/>
    <dgm:cxn modelId="{4B580685-3391-4568-BFD9-EF4C8EBC3911}" type="presOf" srcId="{C19634EB-9063-4650-8D74-81425BD47F6E}" destId="{74D88A3B-3F92-4686-886E-2747F92AD30C}" srcOrd="0" destOrd="0" presId="urn:microsoft.com/office/officeart/2005/8/layout/lProcess2"/>
    <dgm:cxn modelId="{97D1AF87-C4C2-48E1-8A95-AA8CC7CA83D5}" type="presOf" srcId="{E9AEEE77-175C-4312-8951-0DC7F73D037F}" destId="{8AF26BD9-068D-4A71-94F7-CCB878D91BF7}" srcOrd="0" destOrd="0" presId="urn:microsoft.com/office/officeart/2005/8/layout/lProcess2"/>
    <dgm:cxn modelId="{8993688C-E690-459D-8B0F-D816D494D8E0}" srcId="{5DF5A8D9-2109-40ED-9568-BCF025BB0A47}" destId="{974C16D5-CC02-4C05-9433-C5D813F0CA66}" srcOrd="0" destOrd="0" parTransId="{79FC8E22-14EA-414B-AA04-181E71B1E4FA}" sibTransId="{B1C58C75-7B45-4D4F-AF7D-484B3EA38B62}"/>
    <dgm:cxn modelId="{BD995695-4F56-4628-9612-AEC925C3CAD9}" type="presOf" srcId="{C19634EB-9063-4650-8D74-81425BD47F6E}" destId="{80FBE564-24BF-4267-9D8E-5F042409E274}" srcOrd="1" destOrd="0" presId="urn:microsoft.com/office/officeart/2005/8/layout/lProcess2"/>
    <dgm:cxn modelId="{3CB7E395-9C82-43CC-8715-9A79B7E7D73D}" type="presOf" srcId="{D268746A-C450-435F-95FE-00F4A493D26F}" destId="{83B20E56-FB3D-4C4E-A1DC-26EFB8942A8C}" srcOrd="0" destOrd="0" presId="urn:microsoft.com/office/officeart/2005/8/layout/lProcess2"/>
    <dgm:cxn modelId="{F4E0DFA2-FFFE-45DE-B7EA-D2FA02F5F4B8}" type="presOf" srcId="{9F3497BC-F9CE-46B5-AB97-097035552670}" destId="{82EA8B14-96A3-4020-BE25-916A64CD6FA2}" srcOrd="0" destOrd="0" presId="urn:microsoft.com/office/officeart/2005/8/layout/lProcess2"/>
    <dgm:cxn modelId="{6F186FAB-329F-4F49-86DC-104A9C15BBE1}" type="presOf" srcId="{14456BFD-1F8D-4B68-94FE-2F5A8B918E4D}" destId="{6AE66CCF-4871-4E3E-8442-3D3A4CA2032C}" srcOrd="0" destOrd="0" presId="urn:microsoft.com/office/officeart/2005/8/layout/lProcess2"/>
    <dgm:cxn modelId="{7366F8AF-DF07-470E-A81A-724DD4649B2B}" type="presOf" srcId="{3DB12AFB-73AD-41A7-A1AA-AC60F29F5624}" destId="{6EE976E8-761A-4400-A5CD-593E8763FFFD}" srcOrd="0" destOrd="0" presId="urn:microsoft.com/office/officeart/2005/8/layout/lProcess2"/>
    <dgm:cxn modelId="{1194CCB0-A108-4C3F-83BB-C000AC865306}" type="presOf" srcId="{FFE04B87-E3C2-40FF-878C-33037220AD0B}" destId="{B5318E6C-4E3F-475E-A947-D433E61218D6}" srcOrd="0" destOrd="0" presId="urn:microsoft.com/office/officeart/2005/8/layout/lProcess2"/>
    <dgm:cxn modelId="{A1E376B9-C98B-4268-BDD9-DAA6839EE68A}" type="presOf" srcId="{6D16AAAE-D534-4BC5-BD6E-241B4A729C17}" destId="{1E593EA5-1A2E-45D5-B7ED-794F8D28D619}" srcOrd="0" destOrd="0" presId="urn:microsoft.com/office/officeart/2005/8/layout/lProcess2"/>
    <dgm:cxn modelId="{49993CBD-4E5B-47B7-9147-7B28F51C2FD8}" srcId="{CC94D52C-3356-4747-A157-9F71F2C8D678}" destId="{5DF5A8D9-2109-40ED-9568-BCF025BB0A47}" srcOrd="3" destOrd="0" parTransId="{A8891FF2-A86D-4CEE-82A8-6CF3C752CA08}" sibTransId="{C3C6B0D9-9ED5-4D12-8BC2-F5794F960568}"/>
    <dgm:cxn modelId="{C4F451C6-36EA-4C92-8E9D-51C67EA5BC70}" srcId="{641F2845-2E2D-4B46-8B6C-B81E9EFBBB60}" destId="{7E51BAFF-1B29-4DEB-B6FB-253A2C52BF45}" srcOrd="1" destOrd="0" parTransId="{68C2B4D2-C396-4E08-948D-AC3DA4A67BFD}" sibTransId="{A6945FD4-CED4-46D8-B500-69DC45E5526A}"/>
    <dgm:cxn modelId="{998892C9-0A28-4723-8258-06E205481045}" srcId="{C19634EB-9063-4650-8D74-81425BD47F6E}" destId="{3DB12AFB-73AD-41A7-A1AA-AC60F29F5624}" srcOrd="2" destOrd="0" parTransId="{9D74772D-827E-4A93-8654-668E0EA2AD4C}" sibTransId="{763A59E6-1937-42B8-8605-056508767523}"/>
    <dgm:cxn modelId="{93576CCB-9C9F-44EB-BC49-C38E090450A9}" type="presOf" srcId="{5DF5A8D9-2109-40ED-9568-BCF025BB0A47}" destId="{BC40FAC9-55E3-4317-8D72-1F0AA335763D}" srcOrd="1" destOrd="0" presId="urn:microsoft.com/office/officeart/2005/8/layout/lProcess2"/>
    <dgm:cxn modelId="{4C8249DA-CAB1-4B35-B70F-5A9221898C28}" type="presOf" srcId="{E6FC63C1-7604-44A0-8E28-00B3DB4007CA}" destId="{B747B63F-34E2-4186-96BB-EF57FED3D7B9}" srcOrd="1" destOrd="0" presId="urn:microsoft.com/office/officeart/2005/8/layout/lProcess2"/>
    <dgm:cxn modelId="{EA29DBDA-AFBA-4516-AC28-D3A8833D1AD8}" srcId="{CC94D52C-3356-4747-A157-9F71F2C8D678}" destId="{E6FC63C1-7604-44A0-8E28-00B3DB4007CA}" srcOrd="2" destOrd="0" parTransId="{103B7ACB-12D6-4072-800E-ECE2776F4E39}" sibTransId="{3119F8DF-25E4-4E0C-9E09-3BB086F13FFD}"/>
    <dgm:cxn modelId="{F961A9DC-6D0B-46C1-B415-2A86097108F4}" srcId="{E6FC63C1-7604-44A0-8E28-00B3DB4007CA}" destId="{6D16AAAE-D534-4BC5-BD6E-241B4A729C17}" srcOrd="2" destOrd="0" parTransId="{B0EC7F1F-285D-4554-BBBF-51DE1B6515CE}" sibTransId="{6E0D2BEA-6276-485B-AAE2-EB0044626595}"/>
    <dgm:cxn modelId="{A9C053DF-8940-49C5-93DA-A9C722A0606B}" type="presOf" srcId="{8C6DAF9C-D233-4F3D-BAC1-D8472960CCD4}" destId="{072D89E5-460E-4898-95EE-CFD9BF8B4271}" srcOrd="0" destOrd="0" presId="urn:microsoft.com/office/officeart/2005/8/layout/lProcess2"/>
    <dgm:cxn modelId="{72FEACE1-9D4D-4D49-9DFD-1F237F49EE2B}" srcId="{5DF5A8D9-2109-40ED-9568-BCF025BB0A47}" destId="{E9AEEE77-175C-4312-8951-0DC7F73D037F}" srcOrd="1" destOrd="0" parTransId="{FC6CC629-401F-4C65-A888-8F022F398003}" sibTransId="{FB4CD058-C68A-4F68-882B-A09213AAF685}"/>
    <dgm:cxn modelId="{4862C1E4-EF8A-4C24-8F24-DED479126128}" srcId="{E6FC63C1-7604-44A0-8E28-00B3DB4007CA}" destId="{F08DC86E-30CE-40F3-8938-A6858E50801D}" srcOrd="1" destOrd="0" parTransId="{6E7D6864-7D13-4C40-9FB0-24D35FDB9843}" sibTransId="{0805B4D5-B4B9-4154-8FC4-85BB22E76BBE}"/>
    <dgm:cxn modelId="{C5F3AFEA-593E-421E-B9E5-459CA94C1C10}" type="presOf" srcId="{F08DC86E-30CE-40F3-8938-A6858E50801D}" destId="{4F21D1F6-3C1B-4F49-B753-52451149DAEB}" srcOrd="0" destOrd="0" presId="urn:microsoft.com/office/officeart/2005/8/layout/lProcess2"/>
    <dgm:cxn modelId="{AB8D0DF4-7D10-4368-85F9-6608E959617B}" type="presOf" srcId="{7E51BAFF-1B29-4DEB-B6FB-253A2C52BF45}" destId="{2A8E40D3-E494-43C2-9A79-272A3B744F13}" srcOrd="0" destOrd="0" presId="urn:microsoft.com/office/officeart/2005/8/layout/lProcess2"/>
    <dgm:cxn modelId="{1EB270FB-4004-46CF-BC46-2651B6042C7E}" type="presOf" srcId="{037C67C5-F716-4DC9-AF7F-4E497E8ED692}" destId="{6F5AE686-3B52-4185-B1F9-1D488F951D60}" srcOrd="0" destOrd="0" presId="urn:microsoft.com/office/officeart/2005/8/layout/lProcess2"/>
    <dgm:cxn modelId="{CB342CFC-7D56-4214-9431-E76D59233012}" srcId="{5DF5A8D9-2109-40ED-9568-BCF025BB0A47}" destId="{FFE04B87-E3C2-40FF-878C-33037220AD0B}" srcOrd="2" destOrd="0" parTransId="{5151239A-2D4F-4C65-8B12-CC5C8854B77A}" sibTransId="{04A702DA-29C0-463C-88EE-B7EAEB3AA080}"/>
    <dgm:cxn modelId="{9371E5FC-761A-4635-9F66-67806EFEB93B}" srcId="{C19634EB-9063-4650-8D74-81425BD47F6E}" destId="{8C6DAF9C-D233-4F3D-BAC1-D8472960CCD4}" srcOrd="0" destOrd="0" parTransId="{800ED3A3-E1A5-4E2C-AD54-8F5749EEB8E7}" sibTransId="{1FFF7CC2-4080-4B48-9D2E-D6B287413E46}"/>
    <dgm:cxn modelId="{46766834-9401-41E6-AEB8-33EDA87BB924}" type="presParOf" srcId="{D46627A5-12B5-48BE-B80F-B5B14DC046E5}" destId="{1B1868B0-1D12-496F-8863-BFE1CF0D94E6}" srcOrd="0" destOrd="0" presId="urn:microsoft.com/office/officeart/2005/8/layout/lProcess2"/>
    <dgm:cxn modelId="{E5FC531E-C2C4-4786-880B-05896C6275DC}" type="presParOf" srcId="{1B1868B0-1D12-496F-8863-BFE1CF0D94E6}" destId="{74D88A3B-3F92-4686-886E-2747F92AD30C}" srcOrd="0" destOrd="0" presId="urn:microsoft.com/office/officeart/2005/8/layout/lProcess2"/>
    <dgm:cxn modelId="{30B8EB6E-5AB7-4060-AC1E-AA026E3F946D}" type="presParOf" srcId="{1B1868B0-1D12-496F-8863-BFE1CF0D94E6}" destId="{80FBE564-24BF-4267-9D8E-5F042409E274}" srcOrd="1" destOrd="0" presId="urn:microsoft.com/office/officeart/2005/8/layout/lProcess2"/>
    <dgm:cxn modelId="{F3ED1BBD-49E6-4624-8BF6-5D0BE5D4F499}" type="presParOf" srcId="{1B1868B0-1D12-496F-8863-BFE1CF0D94E6}" destId="{A6E98D7E-75CB-4BCF-84D6-99994FB46684}" srcOrd="2" destOrd="0" presId="urn:microsoft.com/office/officeart/2005/8/layout/lProcess2"/>
    <dgm:cxn modelId="{1A0A34DE-6D68-49FD-B317-7E37DF9EDE0C}" type="presParOf" srcId="{A6E98D7E-75CB-4BCF-84D6-99994FB46684}" destId="{92A39CCB-4624-415D-A1F8-13F88F9F4AAE}" srcOrd="0" destOrd="0" presId="urn:microsoft.com/office/officeart/2005/8/layout/lProcess2"/>
    <dgm:cxn modelId="{97CC0016-BA04-413F-A399-B9E386529943}" type="presParOf" srcId="{92A39CCB-4624-415D-A1F8-13F88F9F4AAE}" destId="{072D89E5-460E-4898-95EE-CFD9BF8B4271}" srcOrd="0" destOrd="0" presId="urn:microsoft.com/office/officeart/2005/8/layout/lProcess2"/>
    <dgm:cxn modelId="{BB86562D-CC4F-4804-BFD9-BB8904525EA6}" type="presParOf" srcId="{92A39CCB-4624-415D-A1F8-13F88F9F4AAE}" destId="{87013C38-45C2-4FAF-B392-B5BB6AE10E36}" srcOrd="1" destOrd="0" presId="urn:microsoft.com/office/officeart/2005/8/layout/lProcess2"/>
    <dgm:cxn modelId="{F649A08A-F13F-4B45-BD34-C5B07A08BEC5}" type="presParOf" srcId="{92A39CCB-4624-415D-A1F8-13F88F9F4AAE}" destId="{6AE66CCF-4871-4E3E-8442-3D3A4CA2032C}" srcOrd="2" destOrd="0" presId="urn:microsoft.com/office/officeart/2005/8/layout/lProcess2"/>
    <dgm:cxn modelId="{A82187DA-AAA3-4EDF-9C33-396906CA3DBE}" type="presParOf" srcId="{92A39CCB-4624-415D-A1F8-13F88F9F4AAE}" destId="{1D401163-CCC8-4C53-A73A-44A69DA6DC68}" srcOrd="3" destOrd="0" presId="urn:microsoft.com/office/officeart/2005/8/layout/lProcess2"/>
    <dgm:cxn modelId="{28399355-5E69-4C3D-8ABE-26CF5315D077}" type="presParOf" srcId="{92A39CCB-4624-415D-A1F8-13F88F9F4AAE}" destId="{6EE976E8-761A-4400-A5CD-593E8763FFFD}" srcOrd="4" destOrd="0" presId="urn:microsoft.com/office/officeart/2005/8/layout/lProcess2"/>
    <dgm:cxn modelId="{3E92EF9E-422D-4FC1-8341-87881C41F647}" type="presParOf" srcId="{D46627A5-12B5-48BE-B80F-B5B14DC046E5}" destId="{E8C9E65C-CE2E-49ED-9721-8F5CC3191A5B}" srcOrd="1" destOrd="0" presId="urn:microsoft.com/office/officeart/2005/8/layout/lProcess2"/>
    <dgm:cxn modelId="{8194D94B-2090-4709-88B8-BD30267E340E}" type="presParOf" srcId="{D46627A5-12B5-48BE-B80F-B5B14DC046E5}" destId="{A1678B74-5CF5-414F-99E3-5F06F1E8BF0C}" srcOrd="2" destOrd="0" presId="urn:microsoft.com/office/officeart/2005/8/layout/lProcess2"/>
    <dgm:cxn modelId="{257137FE-8B1D-4E57-85C5-2B25CC069A32}" type="presParOf" srcId="{A1678B74-5CF5-414F-99E3-5F06F1E8BF0C}" destId="{86890A2E-3BFB-4F27-B610-C92764D8F0A3}" srcOrd="0" destOrd="0" presId="urn:microsoft.com/office/officeart/2005/8/layout/lProcess2"/>
    <dgm:cxn modelId="{C47B189E-0CAA-4759-95FA-7665143DE979}" type="presParOf" srcId="{A1678B74-5CF5-414F-99E3-5F06F1E8BF0C}" destId="{1AEC4710-7FBA-4E50-9721-B9499C852BB8}" srcOrd="1" destOrd="0" presId="urn:microsoft.com/office/officeart/2005/8/layout/lProcess2"/>
    <dgm:cxn modelId="{5F4830BD-EEF7-44D7-A458-DFB2DB12A17B}" type="presParOf" srcId="{A1678B74-5CF5-414F-99E3-5F06F1E8BF0C}" destId="{6A57B74C-16DB-4918-B4B2-9940B8CA336D}" srcOrd="2" destOrd="0" presId="urn:microsoft.com/office/officeart/2005/8/layout/lProcess2"/>
    <dgm:cxn modelId="{E95651A5-8323-4B8A-9E39-C8BE2373B6DA}" type="presParOf" srcId="{6A57B74C-16DB-4918-B4B2-9940B8CA336D}" destId="{1AF30184-D458-4F65-9E27-89083C872F07}" srcOrd="0" destOrd="0" presId="urn:microsoft.com/office/officeart/2005/8/layout/lProcess2"/>
    <dgm:cxn modelId="{9EADBF71-F73B-4298-B7DA-1F2F0E7DD9CF}" type="presParOf" srcId="{1AF30184-D458-4F65-9E27-89083C872F07}" destId="{83B20E56-FB3D-4C4E-A1DC-26EFB8942A8C}" srcOrd="0" destOrd="0" presId="urn:microsoft.com/office/officeart/2005/8/layout/lProcess2"/>
    <dgm:cxn modelId="{B4EE4EC5-A8F8-401B-A05B-8A04FF590B25}" type="presParOf" srcId="{1AF30184-D458-4F65-9E27-89083C872F07}" destId="{B416C011-352C-43DE-8727-AC4024F3EDDB}" srcOrd="1" destOrd="0" presId="urn:microsoft.com/office/officeart/2005/8/layout/lProcess2"/>
    <dgm:cxn modelId="{45FE3E0B-E367-4E59-9D01-AB6CAA84E41E}" type="presParOf" srcId="{1AF30184-D458-4F65-9E27-89083C872F07}" destId="{2A8E40D3-E494-43C2-9A79-272A3B744F13}" srcOrd="2" destOrd="0" presId="urn:microsoft.com/office/officeart/2005/8/layout/lProcess2"/>
    <dgm:cxn modelId="{3DECABBB-08D8-4CA1-A45D-AEED254F7848}" type="presParOf" srcId="{1AF30184-D458-4F65-9E27-89083C872F07}" destId="{710A29CE-01AE-424F-AE3A-8223FD119359}" srcOrd="3" destOrd="0" presId="urn:microsoft.com/office/officeart/2005/8/layout/lProcess2"/>
    <dgm:cxn modelId="{9E6988B0-7DCE-4B82-B574-343CBA825B6F}" type="presParOf" srcId="{1AF30184-D458-4F65-9E27-89083C872F07}" destId="{82EA8B14-96A3-4020-BE25-916A64CD6FA2}" srcOrd="4" destOrd="0" presId="urn:microsoft.com/office/officeart/2005/8/layout/lProcess2"/>
    <dgm:cxn modelId="{056CA5E0-EAF8-4BA2-BF06-D970B10713A4}" type="presParOf" srcId="{D46627A5-12B5-48BE-B80F-B5B14DC046E5}" destId="{30F2E6F6-A02A-4A8C-A80B-0A1A7E42A9D3}" srcOrd="3" destOrd="0" presId="urn:microsoft.com/office/officeart/2005/8/layout/lProcess2"/>
    <dgm:cxn modelId="{63AEE3E7-7DAE-41A2-BEB6-1936B359C5FA}" type="presParOf" srcId="{D46627A5-12B5-48BE-B80F-B5B14DC046E5}" destId="{3B78437F-9D5E-40E6-B2EE-35B4DA12BA7A}" srcOrd="4" destOrd="0" presId="urn:microsoft.com/office/officeart/2005/8/layout/lProcess2"/>
    <dgm:cxn modelId="{4FE8D346-10AE-44E9-B593-36CDCFF2D863}" type="presParOf" srcId="{3B78437F-9D5E-40E6-B2EE-35B4DA12BA7A}" destId="{0E87C979-7F03-40A9-BE75-8B288A757DEF}" srcOrd="0" destOrd="0" presId="urn:microsoft.com/office/officeart/2005/8/layout/lProcess2"/>
    <dgm:cxn modelId="{2DC92B30-2BFA-4690-9364-02A417B72CB4}" type="presParOf" srcId="{3B78437F-9D5E-40E6-B2EE-35B4DA12BA7A}" destId="{B747B63F-34E2-4186-96BB-EF57FED3D7B9}" srcOrd="1" destOrd="0" presId="urn:microsoft.com/office/officeart/2005/8/layout/lProcess2"/>
    <dgm:cxn modelId="{ECB0408C-840C-4ECD-AF9F-823F13F772E3}" type="presParOf" srcId="{3B78437F-9D5E-40E6-B2EE-35B4DA12BA7A}" destId="{73F90B61-AE54-434C-9598-7310246FB6F6}" srcOrd="2" destOrd="0" presId="urn:microsoft.com/office/officeart/2005/8/layout/lProcess2"/>
    <dgm:cxn modelId="{4A0BF13C-BEF7-42E0-86DF-77FB374F46D0}" type="presParOf" srcId="{73F90B61-AE54-434C-9598-7310246FB6F6}" destId="{B058A27B-3037-4B27-AC2A-B816B15434FD}" srcOrd="0" destOrd="0" presId="urn:microsoft.com/office/officeart/2005/8/layout/lProcess2"/>
    <dgm:cxn modelId="{D5370003-21FE-47D8-864C-95516935C496}" type="presParOf" srcId="{B058A27B-3037-4B27-AC2A-B816B15434FD}" destId="{6F5AE686-3B52-4185-B1F9-1D488F951D60}" srcOrd="0" destOrd="0" presId="urn:microsoft.com/office/officeart/2005/8/layout/lProcess2"/>
    <dgm:cxn modelId="{FF6DDAEF-2380-41E3-9E78-9ACDF2873A91}" type="presParOf" srcId="{B058A27B-3037-4B27-AC2A-B816B15434FD}" destId="{A2EAEA1F-41FD-4C84-BB1B-B9205B086019}" srcOrd="1" destOrd="0" presId="urn:microsoft.com/office/officeart/2005/8/layout/lProcess2"/>
    <dgm:cxn modelId="{6BC69979-0542-45D8-B94C-831319298426}" type="presParOf" srcId="{B058A27B-3037-4B27-AC2A-B816B15434FD}" destId="{4F21D1F6-3C1B-4F49-B753-52451149DAEB}" srcOrd="2" destOrd="0" presId="urn:microsoft.com/office/officeart/2005/8/layout/lProcess2"/>
    <dgm:cxn modelId="{BD4A4105-A685-4F0B-AD36-078CBED9CF84}" type="presParOf" srcId="{B058A27B-3037-4B27-AC2A-B816B15434FD}" destId="{8E6E90C8-E183-4BDD-BF81-4EA63ED12DD0}" srcOrd="3" destOrd="0" presId="urn:microsoft.com/office/officeart/2005/8/layout/lProcess2"/>
    <dgm:cxn modelId="{2EC9272F-7553-4AD1-B071-F060B1AE467D}" type="presParOf" srcId="{B058A27B-3037-4B27-AC2A-B816B15434FD}" destId="{1E593EA5-1A2E-45D5-B7ED-794F8D28D619}" srcOrd="4" destOrd="0" presId="urn:microsoft.com/office/officeart/2005/8/layout/lProcess2"/>
    <dgm:cxn modelId="{89BD6B9C-4591-4E02-A04B-22BA93BC8FD2}" type="presParOf" srcId="{D46627A5-12B5-48BE-B80F-B5B14DC046E5}" destId="{E8AB6A41-96EF-45E5-92E5-653B01CD9083}" srcOrd="5" destOrd="0" presId="urn:microsoft.com/office/officeart/2005/8/layout/lProcess2"/>
    <dgm:cxn modelId="{08496865-F090-4841-9864-E6EF061E3E2B}" type="presParOf" srcId="{D46627A5-12B5-48BE-B80F-B5B14DC046E5}" destId="{CD390870-D1FC-41B9-9585-E543B2E96AC6}" srcOrd="6" destOrd="0" presId="urn:microsoft.com/office/officeart/2005/8/layout/lProcess2"/>
    <dgm:cxn modelId="{1C7FC08B-37B3-4D83-8B6B-6C4CEA24E31C}" type="presParOf" srcId="{CD390870-D1FC-41B9-9585-E543B2E96AC6}" destId="{B4F0D76C-3E2D-4EEE-B601-72F23AD42DAA}" srcOrd="0" destOrd="0" presId="urn:microsoft.com/office/officeart/2005/8/layout/lProcess2"/>
    <dgm:cxn modelId="{855418BB-0FFE-4EFD-97D9-47CB92E04D2A}" type="presParOf" srcId="{CD390870-D1FC-41B9-9585-E543B2E96AC6}" destId="{BC40FAC9-55E3-4317-8D72-1F0AA335763D}" srcOrd="1" destOrd="0" presId="urn:microsoft.com/office/officeart/2005/8/layout/lProcess2"/>
    <dgm:cxn modelId="{E1ECBF25-8994-407E-AAD5-0314156826F3}" type="presParOf" srcId="{CD390870-D1FC-41B9-9585-E543B2E96AC6}" destId="{FE8C4521-DBBC-4F94-BF96-8317C6922D54}" srcOrd="2" destOrd="0" presId="urn:microsoft.com/office/officeart/2005/8/layout/lProcess2"/>
    <dgm:cxn modelId="{FB011962-27B8-4884-8CCA-F4CEA53233E9}" type="presParOf" srcId="{FE8C4521-DBBC-4F94-BF96-8317C6922D54}" destId="{24EF6514-DF72-4E34-9FAD-F2C6384A9C7F}" srcOrd="0" destOrd="0" presId="urn:microsoft.com/office/officeart/2005/8/layout/lProcess2"/>
    <dgm:cxn modelId="{0869BE34-1530-4CE7-B1EE-437BE6C9A4D8}" type="presParOf" srcId="{24EF6514-DF72-4E34-9FAD-F2C6384A9C7F}" destId="{9F914314-DE2A-4A4C-B11D-D91E0C996C83}" srcOrd="0" destOrd="0" presId="urn:microsoft.com/office/officeart/2005/8/layout/lProcess2"/>
    <dgm:cxn modelId="{67D6F3A1-1A1F-40AD-8D6E-27730B947AB9}" type="presParOf" srcId="{24EF6514-DF72-4E34-9FAD-F2C6384A9C7F}" destId="{4AEB1382-5C1C-463C-AC7B-9D0742E99CDF}" srcOrd="1" destOrd="0" presId="urn:microsoft.com/office/officeart/2005/8/layout/lProcess2"/>
    <dgm:cxn modelId="{3356202E-22D2-4F7E-801D-6F9D8E0C494C}" type="presParOf" srcId="{24EF6514-DF72-4E34-9FAD-F2C6384A9C7F}" destId="{8AF26BD9-068D-4A71-94F7-CCB878D91BF7}" srcOrd="2" destOrd="0" presId="urn:microsoft.com/office/officeart/2005/8/layout/lProcess2"/>
    <dgm:cxn modelId="{E024E13B-29E4-4DF8-80A5-52A801F1A1A2}" type="presParOf" srcId="{24EF6514-DF72-4E34-9FAD-F2C6384A9C7F}" destId="{14ADC4D1-4765-4B5F-8D24-254FBEF3F2F8}" srcOrd="3" destOrd="0" presId="urn:microsoft.com/office/officeart/2005/8/layout/lProcess2"/>
    <dgm:cxn modelId="{56AF4667-475F-453F-BC94-6FD9BA9035B0}" type="presParOf" srcId="{24EF6514-DF72-4E34-9FAD-F2C6384A9C7F}" destId="{B5318E6C-4E3F-475E-A947-D433E61218D6}" srcOrd="4" destOrd="0" presId="urn:microsoft.com/office/officeart/2005/8/layout/l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62D2B1-AA0A-43EF-A967-68522BA34FD5}">
      <dsp:nvSpPr>
        <dsp:cNvPr id="0" name=""/>
        <dsp:cNvSpPr/>
      </dsp:nvSpPr>
      <dsp:spPr>
        <a:xfrm>
          <a:off x="0" y="0"/>
          <a:ext cx="1681599" cy="16815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1959" r="21290"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A7CA8706-338A-46B9-AC59-985C0B87C1AD}">
      <dsp:nvSpPr>
        <dsp:cNvPr id="0" name=""/>
        <dsp:cNvSpPr/>
      </dsp:nvSpPr>
      <dsp:spPr>
        <a:xfrm>
          <a:off x="1861599" y="0"/>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a:t>Integrated Data Platform</a:t>
          </a:r>
        </a:p>
      </dsp:txBody>
      <dsp:txXfrm>
        <a:off x="1861599" y="0"/>
        <a:ext cx="5167674" cy="346182"/>
      </dsp:txXfrm>
    </dsp:sp>
    <dsp:sp modelId="{7E764D8D-19D0-4232-8016-3CE1BB9BDF3F}">
      <dsp:nvSpPr>
        <dsp:cNvPr id="0" name=""/>
        <dsp:cNvSpPr/>
      </dsp:nvSpPr>
      <dsp:spPr>
        <a:xfrm>
          <a:off x="1861599" y="346182"/>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GB" sz="1400" kern="1200"/>
            <a:t>Microsoft Fabric combines multiple data functions into one cohesive platform, simplifying data management.</a:t>
          </a:r>
        </a:p>
      </dsp:txBody>
      <dsp:txXfrm>
        <a:off x="1861599" y="346182"/>
        <a:ext cx="5167674" cy="1335417"/>
      </dsp:txXfrm>
    </dsp:sp>
    <dsp:sp modelId="{5D74DCC7-F532-4232-97D7-50C7C9ED2603}">
      <dsp:nvSpPr>
        <dsp:cNvPr id="0" name=""/>
        <dsp:cNvSpPr/>
      </dsp:nvSpPr>
      <dsp:spPr>
        <a:xfrm>
          <a:off x="0" y="1816127"/>
          <a:ext cx="1681599" cy="16815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8884" r="4365"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706341F7-8E95-4BF3-ABBE-1E2E15163486}">
      <dsp:nvSpPr>
        <dsp:cNvPr id="0" name=""/>
        <dsp:cNvSpPr/>
      </dsp:nvSpPr>
      <dsp:spPr>
        <a:xfrm>
          <a:off x="1861599" y="1816127"/>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a:t>Collaboration Across Departments</a:t>
          </a:r>
        </a:p>
      </dsp:txBody>
      <dsp:txXfrm>
        <a:off x="1861599" y="1816127"/>
        <a:ext cx="5167674" cy="346182"/>
      </dsp:txXfrm>
    </dsp:sp>
    <dsp:sp modelId="{0CB2E7AC-1799-4300-AA23-495FA065666F}">
      <dsp:nvSpPr>
        <dsp:cNvPr id="0" name=""/>
        <dsp:cNvSpPr/>
      </dsp:nvSpPr>
      <dsp:spPr>
        <a:xfrm>
          <a:off x="1861599" y="2162310"/>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GB" sz="1400" kern="1200"/>
            <a:t>The platform enables collaboration between different departments, fostering teamwork and data sharing.</a:t>
          </a:r>
        </a:p>
      </dsp:txBody>
      <dsp:txXfrm>
        <a:off x="1861599" y="2162310"/>
        <a:ext cx="5167674" cy="1335417"/>
      </dsp:txXfrm>
    </dsp:sp>
    <dsp:sp modelId="{75B61A29-EFCD-46B2-8FF8-A870DDCE8985}">
      <dsp:nvSpPr>
        <dsp:cNvPr id="0" name=""/>
        <dsp:cNvSpPr/>
      </dsp:nvSpPr>
      <dsp:spPr>
        <a:xfrm>
          <a:off x="0" y="3632255"/>
          <a:ext cx="1681599" cy="168159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r="33249"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26808B0C-F38D-4301-8DF3-F49033765B5D}">
      <dsp:nvSpPr>
        <dsp:cNvPr id="0" name=""/>
        <dsp:cNvSpPr/>
      </dsp:nvSpPr>
      <dsp:spPr>
        <a:xfrm>
          <a:off x="1861599" y="3632255"/>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a:t>Harnessing Insights</a:t>
          </a:r>
        </a:p>
      </dsp:txBody>
      <dsp:txXfrm>
        <a:off x="1861599" y="3632255"/>
        <a:ext cx="5167674" cy="346182"/>
      </dsp:txXfrm>
    </dsp:sp>
    <dsp:sp modelId="{32F34F55-BAB1-4E05-8903-29D653AE0DDC}">
      <dsp:nvSpPr>
        <dsp:cNvPr id="0" name=""/>
        <dsp:cNvSpPr/>
      </dsp:nvSpPr>
      <dsp:spPr>
        <a:xfrm>
          <a:off x="1861599" y="3978438"/>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GB" sz="1400" kern="1200"/>
            <a:t>Organizations can derive valuable insights from their data, enhancing decision-making processes.</a:t>
          </a:r>
        </a:p>
      </dsp:txBody>
      <dsp:txXfrm>
        <a:off x="1861599" y="3978438"/>
        <a:ext cx="5167674" cy="13354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DB2A4-5E0C-4B28-B819-AC539E4167B2}">
      <dsp:nvSpPr>
        <dsp:cNvPr id="0" name=""/>
        <dsp:cNvSpPr/>
      </dsp:nvSpPr>
      <dsp:spPr>
        <a:xfrm>
          <a:off x="5867" y="324062"/>
          <a:ext cx="2447339" cy="122366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err="1"/>
            <a:t>IngestFile_TPP_SRCode_NB</a:t>
          </a:r>
          <a:r>
            <a:rPr lang="en-GB" sz="1400" kern="1200" dirty="0"/>
            <a:t>: Ingested 1.3 billion rows in 37 minutes using 16 </a:t>
          </a:r>
          <a:r>
            <a:rPr lang="en-GB" sz="1400" kern="1200" dirty="0" err="1"/>
            <a:t>vCores</a:t>
          </a:r>
          <a:r>
            <a:rPr lang="en-GB" sz="1400" kern="1200" dirty="0"/>
            <a:t>.</a:t>
          </a:r>
          <a:endParaRPr lang="en-US" sz="1400" kern="1200" dirty="0"/>
        </a:p>
      </dsp:txBody>
      <dsp:txXfrm>
        <a:off x="5867" y="324062"/>
        <a:ext cx="2447339" cy="1223669"/>
      </dsp:txXfrm>
    </dsp:sp>
    <dsp:sp modelId="{DB7FF238-F9B7-4D24-9B89-F104A82F0507}">
      <dsp:nvSpPr>
        <dsp:cNvPr id="0" name=""/>
        <dsp:cNvSpPr/>
      </dsp:nvSpPr>
      <dsp:spPr>
        <a:xfrm>
          <a:off x="2967147" y="324062"/>
          <a:ext cx="2447339" cy="122366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err="1"/>
            <a:t>IngestFile_TPP_SRPatient_NB</a:t>
          </a:r>
          <a:r>
            <a:rPr lang="en-GB" sz="1400" kern="1200" dirty="0"/>
            <a:t>: Ingested 7.1 million rows in 22 minutes with 16 </a:t>
          </a:r>
          <a:r>
            <a:rPr lang="en-GB" sz="1400" kern="1200" dirty="0" err="1"/>
            <a:t>vCores</a:t>
          </a:r>
          <a:r>
            <a:rPr lang="en-GB" sz="1400" kern="1200" dirty="0"/>
            <a:t>.</a:t>
          </a:r>
          <a:endParaRPr lang="en-US" sz="1400" kern="1200" dirty="0"/>
        </a:p>
      </dsp:txBody>
      <dsp:txXfrm>
        <a:off x="2967147" y="324062"/>
        <a:ext cx="2447339" cy="1223669"/>
      </dsp:txXfrm>
    </dsp:sp>
    <dsp:sp modelId="{F06C4AB9-3BAA-4CC8-9682-15C7FDA4DBC2}">
      <dsp:nvSpPr>
        <dsp:cNvPr id="0" name=""/>
        <dsp:cNvSpPr/>
      </dsp:nvSpPr>
      <dsp:spPr>
        <a:xfrm>
          <a:off x="5928428" y="324062"/>
          <a:ext cx="2447339" cy="122366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dirty="0" err="1"/>
            <a:t>RainbowCode</a:t>
          </a:r>
          <a:r>
            <a:rPr lang="en-GB" sz="1400" b="1" kern="1200" dirty="0"/>
            <a:t> Table</a:t>
          </a:r>
          <a:r>
            <a:rPr lang="en-GB" sz="1400" kern="1200" dirty="0"/>
            <a:t>: Ingested 818 million rows in 24 minutes using 16 </a:t>
          </a:r>
          <a:r>
            <a:rPr lang="en-GB" sz="1400" kern="1200" dirty="0" err="1"/>
            <a:t>vCores</a:t>
          </a:r>
          <a:r>
            <a:rPr lang="en-GB" sz="1400" kern="1200" dirty="0"/>
            <a:t>.</a:t>
          </a:r>
          <a:endParaRPr lang="en-US" sz="1400" kern="1200" dirty="0"/>
        </a:p>
      </dsp:txBody>
      <dsp:txXfrm>
        <a:off x="5928428" y="324062"/>
        <a:ext cx="2447339" cy="1223669"/>
      </dsp:txXfrm>
    </dsp:sp>
    <dsp:sp modelId="{56C23FC5-126F-427F-8A09-1F9D6137DDA8}">
      <dsp:nvSpPr>
        <dsp:cNvPr id="0" name=""/>
        <dsp:cNvSpPr/>
      </dsp:nvSpPr>
      <dsp:spPr>
        <a:xfrm>
          <a:off x="8889708" y="324062"/>
          <a:ext cx="2447339" cy="122366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1" kern="1200"/>
            <a:t>Overall Performance</a:t>
          </a:r>
          <a:r>
            <a:rPr lang="en-GB" sz="1400" kern="1200"/>
            <a:t>: Fabric demonstrates strong data ingestion capabilities, efficiently handling large datasets with high throughput.</a:t>
          </a:r>
          <a:endParaRPr lang="en-US" sz="1400" kern="1200"/>
        </a:p>
      </dsp:txBody>
      <dsp:txXfrm>
        <a:off x="8889708" y="324062"/>
        <a:ext cx="2447339" cy="12236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D88A3B-3F92-4686-886E-2747F92AD30C}">
      <dsp:nvSpPr>
        <dsp:cNvPr id="0" name=""/>
        <dsp:cNvSpPr/>
      </dsp:nvSpPr>
      <dsp:spPr>
        <a:xfrm>
          <a:off x="1293" y="0"/>
          <a:ext cx="1269143" cy="43520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1" i="0" u="none" kern="1200" dirty="0"/>
            <a:t>Environment</a:t>
          </a:r>
          <a:endParaRPr lang="en-GB" sz="1400" b="1" kern="1200" dirty="0"/>
        </a:p>
      </dsp:txBody>
      <dsp:txXfrm>
        <a:off x="1293" y="0"/>
        <a:ext cx="1269143" cy="1305618"/>
      </dsp:txXfrm>
    </dsp:sp>
    <dsp:sp modelId="{072D89E5-460E-4898-95EE-CFD9BF8B4271}">
      <dsp:nvSpPr>
        <dsp:cNvPr id="0" name=""/>
        <dsp:cNvSpPr/>
      </dsp:nvSpPr>
      <dsp:spPr>
        <a:xfrm>
          <a:off x="128207" y="1305990"/>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dirty="0"/>
            <a:t>Fabric_POC_vs1</a:t>
          </a:r>
        </a:p>
      </dsp:txBody>
      <dsp:txXfrm>
        <a:off x="153249" y="1331032"/>
        <a:ext cx="965230" cy="804922"/>
      </dsp:txXfrm>
    </dsp:sp>
    <dsp:sp modelId="{6AE66CCF-4871-4E3E-8442-3D3A4CA2032C}">
      <dsp:nvSpPr>
        <dsp:cNvPr id="0" name=""/>
        <dsp:cNvSpPr/>
      </dsp:nvSpPr>
      <dsp:spPr>
        <a:xfrm>
          <a:off x="128207" y="2292536"/>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a:t>Lakehouse/Warehouse</a:t>
          </a:r>
        </a:p>
      </dsp:txBody>
      <dsp:txXfrm>
        <a:off x="153249" y="2317578"/>
        <a:ext cx="965230" cy="804922"/>
      </dsp:txXfrm>
    </dsp:sp>
    <dsp:sp modelId="{6EE976E8-761A-4400-A5CD-593E8763FFFD}">
      <dsp:nvSpPr>
        <dsp:cNvPr id="0" name=""/>
        <dsp:cNvSpPr/>
      </dsp:nvSpPr>
      <dsp:spPr>
        <a:xfrm>
          <a:off x="128207" y="3279081"/>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a:t>Spark Pool Cluster</a:t>
          </a:r>
        </a:p>
      </dsp:txBody>
      <dsp:txXfrm>
        <a:off x="153249" y="3304123"/>
        <a:ext cx="965230" cy="804922"/>
      </dsp:txXfrm>
    </dsp:sp>
    <dsp:sp modelId="{86890A2E-3BFB-4F27-B610-C92764D8F0A3}">
      <dsp:nvSpPr>
        <dsp:cNvPr id="0" name=""/>
        <dsp:cNvSpPr/>
      </dsp:nvSpPr>
      <dsp:spPr>
        <a:xfrm>
          <a:off x="1365622" y="0"/>
          <a:ext cx="1269143" cy="43520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1" i="0" u="none" kern="1200"/>
            <a:t>Development</a:t>
          </a:r>
          <a:endParaRPr lang="en-GB" sz="1400" b="0" i="0" u="none" kern="1200"/>
        </a:p>
      </dsp:txBody>
      <dsp:txXfrm>
        <a:off x="1365622" y="0"/>
        <a:ext cx="1269143" cy="1305618"/>
      </dsp:txXfrm>
    </dsp:sp>
    <dsp:sp modelId="{83B20E56-FB3D-4C4E-A1DC-26EFB8942A8C}">
      <dsp:nvSpPr>
        <dsp:cNvPr id="0" name=""/>
        <dsp:cNvSpPr/>
      </dsp:nvSpPr>
      <dsp:spPr>
        <a:xfrm>
          <a:off x="1492536" y="1305990"/>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dirty="0"/>
            <a:t>Dev-Workspace</a:t>
          </a:r>
        </a:p>
      </dsp:txBody>
      <dsp:txXfrm>
        <a:off x="1517578" y="1331032"/>
        <a:ext cx="965230" cy="804922"/>
      </dsp:txXfrm>
    </dsp:sp>
    <dsp:sp modelId="{2A8E40D3-E494-43C2-9A79-272A3B744F13}">
      <dsp:nvSpPr>
        <dsp:cNvPr id="0" name=""/>
        <dsp:cNvSpPr/>
      </dsp:nvSpPr>
      <dsp:spPr>
        <a:xfrm>
          <a:off x="1492536" y="2292536"/>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a:t>Dev-Lakehouse</a:t>
          </a:r>
        </a:p>
      </dsp:txBody>
      <dsp:txXfrm>
        <a:off x="1517578" y="2317578"/>
        <a:ext cx="965230" cy="804922"/>
      </dsp:txXfrm>
    </dsp:sp>
    <dsp:sp modelId="{82EA8B14-96A3-4020-BE25-916A64CD6FA2}">
      <dsp:nvSpPr>
        <dsp:cNvPr id="0" name=""/>
        <dsp:cNvSpPr/>
      </dsp:nvSpPr>
      <dsp:spPr>
        <a:xfrm>
          <a:off x="1492536" y="3279081"/>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a:t>Dev-Spark-Pool</a:t>
          </a:r>
        </a:p>
      </dsp:txBody>
      <dsp:txXfrm>
        <a:off x="1517578" y="3304123"/>
        <a:ext cx="965230" cy="804922"/>
      </dsp:txXfrm>
    </dsp:sp>
    <dsp:sp modelId="{0E87C979-7F03-40A9-BE75-8B288A757DEF}">
      <dsp:nvSpPr>
        <dsp:cNvPr id="0" name=""/>
        <dsp:cNvSpPr/>
      </dsp:nvSpPr>
      <dsp:spPr>
        <a:xfrm>
          <a:off x="2729950" y="0"/>
          <a:ext cx="1269143" cy="43520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1" i="0" u="none" kern="1200"/>
            <a:t>Testing</a:t>
          </a:r>
          <a:endParaRPr lang="en-GB" sz="1400" b="0" i="0" u="none" kern="1200"/>
        </a:p>
      </dsp:txBody>
      <dsp:txXfrm>
        <a:off x="2729950" y="0"/>
        <a:ext cx="1269143" cy="1305618"/>
      </dsp:txXfrm>
    </dsp:sp>
    <dsp:sp modelId="{6F5AE686-3B52-4185-B1F9-1D488F951D60}">
      <dsp:nvSpPr>
        <dsp:cNvPr id="0" name=""/>
        <dsp:cNvSpPr/>
      </dsp:nvSpPr>
      <dsp:spPr>
        <a:xfrm>
          <a:off x="2856865" y="1305990"/>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a:t>Test-Workspace</a:t>
          </a:r>
        </a:p>
      </dsp:txBody>
      <dsp:txXfrm>
        <a:off x="2881907" y="1331032"/>
        <a:ext cx="965230" cy="804922"/>
      </dsp:txXfrm>
    </dsp:sp>
    <dsp:sp modelId="{4F21D1F6-3C1B-4F49-B753-52451149DAEB}">
      <dsp:nvSpPr>
        <dsp:cNvPr id="0" name=""/>
        <dsp:cNvSpPr/>
      </dsp:nvSpPr>
      <dsp:spPr>
        <a:xfrm>
          <a:off x="2856865" y="2292536"/>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a:t>Test-Lakehouse</a:t>
          </a:r>
        </a:p>
      </dsp:txBody>
      <dsp:txXfrm>
        <a:off x="2881907" y="2317578"/>
        <a:ext cx="965230" cy="804922"/>
      </dsp:txXfrm>
    </dsp:sp>
    <dsp:sp modelId="{1E593EA5-1A2E-45D5-B7ED-794F8D28D619}">
      <dsp:nvSpPr>
        <dsp:cNvPr id="0" name=""/>
        <dsp:cNvSpPr/>
      </dsp:nvSpPr>
      <dsp:spPr>
        <a:xfrm>
          <a:off x="2856865" y="3279081"/>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a:t>Test-Spark-Pool</a:t>
          </a:r>
        </a:p>
      </dsp:txBody>
      <dsp:txXfrm>
        <a:off x="2881907" y="3304123"/>
        <a:ext cx="965230" cy="804922"/>
      </dsp:txXfrm>
    </dsp:sp>
    <dsp:sp modelId="{B4F0D76C-3E2D-4EEE-B601-72F23AD42DAA}">
      <dsp:nvSpPr>
        <dsp:cNvPr id="0" name=""/>
        <dsp:cNvSpPr/>
      </dsp:nvSpPr>
      <dsp:spPr>
        <a:xfrm>
          <a:off x="4094279" y="0"/>
          <a:ext cx="1269143" cy="43520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1" i="0" u="none" kern="1200" dirty="0"/>
            <a:t>Production</a:t>
          </a:r>
          <a:endParaRPr lang="en-GB" sz="1400" kern="1200" dirty="0"/>
        </a:p>
      </dsp:txBody>
      <dsp:txXfrm>
        <a:off x="4094279" y="0"/>
        <a:ext cx="1269143" cy="1305618"/>
      </dsp:txXfrm>
    </dsp:sp>
    <dsp:sp modelId="{9F914314-DE2A-4A4C-B11D-D91E0C996C83}">
      <dsp:nvSpPr>
        <dsp:cNvPr id="0" name=""/>
        <dsp:cNvSpPr/>
      </dsp:nvSpPr>
      <dsp:spPr>
        <a:xfrm>
          <a:off x="4221193" y="1305990"/>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dirty="0"/>
            <a:t>Prod-Workspace</a:t>
          </a:r>
        </a:p>
      </dsp:txBody>
      <dsp:txXfrm>
        <a:off x="4246235" y="1331032"/>
        <a:ext cx="965230" cy="804922"/>
      </dsp:txXfrm>
    </dsp:sp>
    <dsp:sp modelId="{8AF26BD9-068D-4A71-94F7-CCB878D91BF7}">
      <dsp:nvSpPr>
        <dsp:cNvPr id="0" name=""/>
        <dsp:cNvSpPr/>
      </dsp:nvSpPr>
      <dsp:spPr>
        <a:xfrm>
          <a:off x="4221193" y="2292536"/>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dirty="0"/>
            <a:t>Prod-Lakehouse</a:t>
          </a:r>
        </a:p>
      </dsp:txBody>
      <dsp:txXfrm>
        <a:off x="4246235" y="2317578"/>
        <a:ext cx="965230" cy="804922"/>
      </dsp:txXfrm>
    </dsp:sp>
    <dsp:sp modelId="{B5318E6C-4E3F-475E-A947-D433E61218D6}">
      <dsp:nvSpPr>
        <dsp:cNvPr id="0" name=""/>
        <dsp:cNvSpPr/>
      </dsp:nvSpPr>
      <dsp:spPr>
        <a:xfrm>
          <a:off x="4221193" y="3279081"/>
          <a:ext cx="1015314" cy="855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3335" rIns="17780" bIns="13335" numCol="1" spcCol="1270" anchor="ctr" anchorCtr="0">
          <a:noAutofit/>
        </a:bodyPr>
        <a:lstStyle/>
        <a:p>
          <a:pPr marL="0" lvl="0" indent="0" algn="ctr" defTabSz="311150">
            <a:lnSpc>
              <a:spcPct val="90000"/>
            </a:lnSpc>
            <a:spcBef>
              <a:spcPct val="0"/>
            </a:spcBef>
            <a:spcAft>
              <a:spcPct val="35000"/>
            </a:spcAft>
            <a:buNone/>
          </a:pPr>
          <a:r>
            <a:rPr lang="en-GB" sz="700" b="0" i="0" u="none" kern="1200" dirty="0"/>
            <a:t>Prod-Spark-Pool</a:t>
          </a:r>
        </a:p>
      </dsp:txBody>
      <dsp:txXfrm>
        <a:off x="4246235" y="3304123"/>
        <a:ext cx="965230" cy="804922"/>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5FE56A-0A0D-4012-90D8-94003BD27369}" type="datetimeFigureOut">
              <a:rPr lang="en-GB" smtClean="0"/>
              <a:t>18/03/2025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0589C-94DC-49BD-8372-CEC5A5F14BCF}" type="slidenum">
              <a:rPr lang="en-GB" smtClean="0"/>
              <a:t>‹#›</a:t>
            </a:fld>
            <a:endParaRPr lang="en-GB"/>
          </a:p>
        </p:txBody>
      </p:sp>
    </p:spTree>
    <p:extLst>
      <p:ext uri="{BB962C8B-B14F-4D97-AF65-F5344CB8AC3E}">
        <p14:creationId xmlns:p14="http://schemas.microsoft.com/office/powerpoint/2010/main" val="2143130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700589C-94DC-49BD-8372-CEC5A5F14BCF}" type="slidenum">
              <a:rPr lang="en-GB" smtClean="0"/>
              <a:t>1</a:t>
            </a:fld>
            <a:endParaRPr lang="en-GB"/>
          </a:p>
        </p:txBody>
      </p:sp>
    </p:spTree>
    <p:extLst>
      <p:ext uri="{BB962C8B-B14F-4D97-AF65-F5344CB8AC3E}">
        <p14:creationId xmlns:p14="http://schemas.microsoft.com/office/powerpoint/2010/main" val="759214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6F14AC5-18F5-4BCD-88FA-80E14682EDD4}" type="slidenum">
              <a:rPr lang="en-GB" smtClean="0"/>
              <a:t>2</a:t>
            </a:fld>
            <a:endParaRPr lang="en-GB"/>
          </a:p>
        </p:txBody>
      </p:sp>
    </p:spTree>
    <p:extLst>
      <p:ext uri="{BB962C8B-B14F-4D97-AF65-F5344CB8AC3E}">
        <p14:creationId xmlns:p14="http://schemas.microsoft.com/office/powerpoint/2010/main" val="3184281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6F14AC5-18F5-4BCD-88FA-80E14682EDD4}" type="slidenum">
              <a:rPr lang="en-GB" smtClean="0"/>
              <a:t>3</a:t>
            </a:fld>
            <a:endParaRPr lang="en-GB"/>
          </a:p>
        </p:txBody>
      </p:sp>
    </p:spTree>
    <p:extLst>
      <p:ext uri="{BB962C8B-B14F-4D97-AF65-F5344CB8AC3E}">
        <p14:creationId xmlns:p14="http://schemas.microsoft.com/office/powerpoint/2010/main" val="3213178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6F14AC5-18F5-4BCD-88FA-80E14682EDD4}" type="slidenum">
              <a:rPr lang="en-GB" smtClean="0"/>
              <a:t>4</a:t>
            </a:fld>
            <a:endParaRPr lang="en-GB"/>
          </a:p>
        </p:txBody>
      </p:sp>
    </p:spTree>
    <p:extLst>
      <p:ext uri="{BB962C8B-B14F-4D97-AF65-F5344CB8AC3E}">
        <p14:creationId xmlns:p14="http://schemas.microsoft.com/office/powerpoint/2010/main" val="3047664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6F14AC5-18F5-4BCD-88FA-80E14682EDD4}" type="slidenum">
              <a:rPr lang="en-GB" smtClean="0"/>
              <a:t>5</a:t>
            </a:fld>
            <a:endParaRPr lang="en-GB"/>
          </a:p>
        </p:txBody>
      </p:sp>
    </p:spTree>
    <p:extLst>
      <p:ext uri="{BB962C8B-B14F-4D97-AF65-F5344CB8AC3E}">
        <p14:creationId xmlns:p14="http://schemas.microsoft.com/office/powerpoint/2010/main" val="1958858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B6568-652B-5122-4A45-4C4FF61D3F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D656C-0D89-9A52-1DA8-59664C560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8826B-8834-BF9A-354B-35B942AEDB6C}"/>
              </a:ext>
            </a:extLst>
          </p:cNvPr>
          <p:cNvSpPr>
            <a:spLocks noGrp="1"/>
          </p:cNvSpPr>
          <p:nvPr>
            <p:ph type="body" idx="1"/>
          </p:nvPr>
        </p:nvSpPr>
        <p:spPr/>
        <p:txBody>
          <a:bodyPr/>
          <a:lstStyle/>
          <a:p>
            <a:r>
              <a:rPr lang="en-GB"/>
              <a:t>Microsoft Fabric consists of several key components, including Data Factory for orchestration, Synapse for data warehousing, and Power BI for visualization. Together, these components provide a comprehensive environment for managing data analytics needs.</a:t>
            </a:r>
            <a:endParaRPr lang="en-GB" dirty="0"/>
          </a:p>
        </p:txBody>
      </p:sp>
      <p:sp>
        <p:nvSpPr>
          <p:cNvPr id="4" name="Slide Number Placeholder 3">
            <a:extLst>
              <a:ext uri="{FF2B5EF4-FFF2-40B4-BE49-F238E27FC236}">
                <a16:creationId xmlns:a16="http://schemas.microsoft.com/office/drawing/2014/main" id="{AEFDA91B-AFE0-36B4-21F1-6C31482BE8B0}"/>
              </a:ext>
            </a:extLst>
          </p:cNvPr>
          <p:cNvSpPr>
            <a:spLocks noGrp="1"/>
          </p:cNvSpPr>
          <p:nvPr>
            <p:ph type="sldNum" sz="quarter" idx="5"/>
          </p:nvPr>
        </p:nvSpPr>
        <p:spPr/>
        <p:txBody>
          <a:bodyPr/>
          <a:lstStyle/>
          <a:p>
            <a:fld id="{E6F14AC5-18F5-4BCD-88FA-80E14682EDD4}" type="slidenum">
              <a:rPr lang="en-GB" smtClean="0"/>
              <a:t>7</a:t>
            </a:fld>
            <a:endParaRPr lang="en-GB"/>
          </a:p>
        </p:txBody>
      </p:sp>
    </p:spTree>
    <p:extLst>
      <p:ext uri="{BB962C8B-B14F-4D97-AF65-F5344CB8AC3E}">
        <p14:creationId xmlns:p14="http://schemas.microsoft.com/office/powerpoint/2010/main" val="1707227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3BA1B-AA5E-6635-693B-650B2E4E6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281DFF-858E-E56F-BAA5-0E41B2E987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FDDF2-253E-360D-7A20-8E64B4015C94}"/>
              </a:ext>
            </a:extLst>
          </p:cNvPr>
          <p:cNvSpPr>
            <a:spLocks noGrp="1"/>
          </p:cNvSpPr>
          <p:nvPr>
            <p:ph type="body" idx="1"/>
          </p:nvPr>
        </p:nvSpPr>
        <p:spPr/>
        <p:txBody>
          <a:bodyPr/>
          <a:lstStyle/>
          <a:p>
            <a:r>
              <a:rPr lang="en-GB"/>
              <a:t>Microsoft Fabric consists of several key components, including Data Factory for orchestration, Synapse for data warehousing, and Power BI for visualization. Together, these components provide a comprehensive environment for managing data analytics needs.</a:t>
            </a:r>
            <a:endParaRPr lang="en-GB" dirty="0"/>
          </a:p>
        </p:txBody>
      </p:sp>
      <p:sp>
        <p:nvSpPr>
          <p:cNvPr id="4" name="Slide Number Placeholder 3">
            <a:extLst>
              <a:ext uri="{FF2B5EF4-FFF2-40B4-BE49-F238E27FC236}">
                <a16:creationId xmlns:a16="http://schemas.microsoft.com/office/drawing/2014/main" id="{135CF8D1-FA23-102D-AC24-B16E6D1F2BB6}"/>
              </a:ext>
            </a:extLst>
          </p:cNvPr>
          <p:cNvSpPr>
            <a:spLocks noGrp="1"/>
          </p:cNvSpPr>
          <p:nvPr>
            <p:ph type="sldNum" sz="quarter" idx="5"/>
          </p:nvPr>
        </p:nvSpPr>
        <p:spPr/>
        <p:txBody>
          <a:bodyPr/>
          <a:lstStyle/>
          <a:p>
            <a:fld id="{E6F14AC5-18F5-4BCD-88FA-80E14682EDD4}" type="slidenum">
              <a:rPr lang="en-GB" smtClean="0"/>
              <a:t>8</a:t>
            </a:fld>
            <a:endParaRPr lang="en-GB"/>
          </a:p>
        </p:txBody>
      </p:sp>
    </p:spTree>
    <p:extLst>
      <p:ext uri="{BB962C8B-B14F-4D97-AF65-F5344CB8AC3E}">
        <p14:creationId xmlns:p14="http://schemas.microsoft.com/office/powerpoint/2010/main" val="4182118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DC745-6E32-E6A2-D266-3C6DC8E76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D83E9-027A-152F-F6CF-F6BB0B8C9E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47653A-894F-E057-7990-86F367DCCC8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EB2FE50-FD3F-341D-71DD-4D2A5CEFE3CC}"/>
              </a:ext>
            </a:extLst>
          </p:cNvPr>
          <p:cNvSpPr>
            <a:spLocks noGrp="1"/>
          </p:cNvSpPr>
          <p:nvPr>
            <p:ph type="sldNum" sz="quarter" idx="5"/>
          </p:nvPr>
        </p:nvSpPr>
        <p:spPr/>
        <p:txBody>
          <a:bodyPr/>
          <a:lstStyle/>
          <a:p>
            <a:fld id="{E6F14AC5-18F5-4BCD-88FA-80E14682EDD4}" type="slidenum">
              <a:rPr lang="en-GB" smtClean="0"/>
              <a:t>9</a:t>
            </a:fld>
            <a:endParaRPr lang="en-GB"/>
          </a:p>
        </p:txBody>
      </p:sp>
    </p:spTree>
    <p:extLst>
      <p:ext uri="{BB962C8B-B14F-4D97-AF65-F5344CB8AC3E}">
        <p14:creationId xmlns:p14="http://schemas.microsoft.com/office/powerpoint/2010/main" val="1277600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EDEAD-CC81-471E-E298-38DDF5AF0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FADCD-9987-6603-E98D-3450D4214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E3666-3501-7304-64F0-02F955B9122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27D54E4-BE3B-DC8F-4A1E-926FBEDD47CB}"/>
              </a:ext>
            </a:extLst>
          </p:cNvPr>
          <p:cNvSpPr>
            <a:spLocks noGrp="1"/>
          </p:cNvSpPr>
          <p:nvPr>
            <p:ph type="sldNum" sz="quarter" idx="5"/>
          </p:nvPr>
        </p:nvSpPr>
        <p:spPr/>
        <p:txBody>
          <a:bodyPr/>
          <a:lstStyle/>
          <a:p>
            <a:fld id="{E6F14AC5-18F5-4BCD-88FA-80E14682EDD4}" type="slidenum">
              <a:rPr lang="en-GB" smtClean="0"/>
              <a:t>10</a:t>
            </a:fld>
            <a:endParaRPr lang="en-GB"/>
          </a:p>
        </p:txBody>
      </p:sp>
    </p:spTree>
    <p:extLst>
      <p:ext uri="{BB962C8B-B14F-4D97-AF65-F5344CB8AC3E}">
        <p14:creationId xmlns:p14="http://schemas.microsoft.com/office/powerpoint/2010/main" val="2512915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91C5F-666C-6AD5-F1E2-8BEE5CA57A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6A55D-ACD2-6571-35F4-1A4E70F3DA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EE96E7-B11F-2C17-1947-31EC58628EC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8EB6133-2501-FED8-B5F2-C59AC0A85141}"/>
              </a:ext>
            </a:extLst>
          </p:cNvPr>
          <p:cNvSpPr>
            <a:spLocks noGrp="1"/>
          </p:cNvSpPr>
          <p:nvPr>
            <p:ph type="sldNum" sz="quarter" idx="5"/>
          </p:nvPr>
        </p:nvSpPr>
        <p:spPr/>
        <p:txBody>
          <a:bodyPr/>
          <a:lstStyle/>
          <a:p>
            <a:fld id="{E6F14AC5-18F5-4BCD-88FA-80E14682EDD4}" type="slidenum">
              <a:rPr lang="en-GB" smtClean="0"/>
              <a:t>11</a:t>
            </a:fld>
            <a:endParaRPr lang="en-GB"/>
          </a:p>
        </p:txBody>
      </p:sp>
    </p:spTree>
    <p:extLst>
      <p:ext uri="{BB962C8B-B14F-4D97-AF65-F5344CB8AC3E}">
        <p14:creationId xmlns:p14="http://schemas.microsoft.com/office/powerpoint/2010/main" val="442802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D5CE5-EFCF-E5E7-CA7A-6253A4379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20565-7229-FD60-82B1-F0910F191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102ED0-E3EB-4883-E645-716F734336D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0B0A350-02BC-B038-915D-B9A433D61525}"/>
              </a:ext>
            </a:extLst>
          </p:cNvPr>
          <p:cNvSpPr>
            <a:spLocks noGrp="1"/>
          </p:cNvSpPr>
          <p:nvPr>
            <p:ph type="sldNum" sz="quarter" idx="5"/>
          </p:nvPr>
        </p:nvSpPr>
        <p:spPr/>
        <p:txBody>
          <a:bodyPr/>
          <a:lstStyle/>
          <a:p>
            <a:fld id="{E6F14AC5-18F5-4BCD-88FA-80E14682EDD4}" type="slidenum">
              <a:rPr lang="en-GB" smtClean="0"/>
              <a:t>12</a:t>
            </a:fld>
            <a:endParaRPr lang="en-GB"/>
          </a:p>
        </p:txBody>
      </p:sp>
    </p:spTree>
    <p:extLst>
      <p:ext uri="{BB962C8B-B14F-4D97-AF65-F5344CB8AC3E}">
        <p14:creationId xmlns:p14="http://schemas.microsoft.com/office/powerpoint/2010/main" val="903089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EAC2F-6CEC-3EFA-5F9A-4B6D243D91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362D9-E616-3A92-3BD5-AAE91B5EB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575077-E9DC-7FE1-3D3A-20340F76452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4B29C44-2E5D-DF01-CB68-ADAC1FA40E17}"/>
              </a:ext>
            </a:extLst>
          </p:cNvPr>
          <p:cNvSpPr>
            <a:spLocks noGrp="1"/>
          </p:cNvSpPr>
          <p:nvPr>
            <p:ph type="sldNum" sz="quarter" idx="5"/>
          </p:nvPr>
        </p:nvSpPr>
        <p:spPr/>
        <p:txBody>
          <a:bodyPr/>
          <a:lstStyle/>
          <a:p>
            <a:fld id="{E6F14AC5-18F5-4BCD-88FA-80E14682EDD4}" type="slidenum">
              <a:rPr lang="en-GB" smtClean="0"/>
              <a:t>13</a:t>
            </a:fld>
            <a:endParaRPr lang="en-GB"/>
          </a:p>
        </p:txBody>
      </p:sp>
    </p:spTree>
    <p:extLst>
      <p:ext uri="{BB962C8B-B14F-4D97-AF65-F5344CB8AC3E}">
        <p14:creationId xmlns:p14="http://schemas.microsoft.com/office/powerpoint/2010/main" val="3601050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6F14AC5-18F5-4BCD-88FA-80E14682EDD4}" type="slidenum">
              <a:rPr lang="en-GB" smtClean="0"/>
              <a:t>15</a:t>
            </a:fld>
            <a:endParaRPr lang="en-GB"/>
          </a:p>
        </p:txBody>
      </p:sp>
    </p:spTree>
    <p:extLst>
      <p:ext uri="{BB962C8B-B14F-4D97-AF65-F5344CB8AC3E}">
        <p14:creationId xmlns:p14="http://schemas.microsoft.com/office/powerpoint/2010/main" val="32371221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6F14AC5-18F5-4BCD-88FA-80E14682EDD4}" type="slidenum">
              <a:rPr lang="en-GB" smtClean="0"/>
              <a:t>17</a:t>
            </a:fld>
            <a:endParaRPr lang="en-GB"/>
          </a:p>
        </p:txBody>
      </p:sp>
    </p:spTree>
    <p:extLst>
      <p:ext uri="{BB962C8B-B14F-4D97-AF65-F5344CB8AC3E}">
        <p14:creationId xmlns:p14="http://schemas.microsoft.com/office/powerpoint/2010/main" val="3937658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6F14AC5-18F5-4BCD-88FA-80E14682EDD4}" type="slidenum">
              <a:rPr lang="en-GB" smtClean="0"/>
              <a:t>18</a:t>
            </a:fld>
            <a:endParaRPr lang="en-GB"/>
          </a:p>
        </p:txBody>
      </p:sp>
    </p:spTree>
    <p:extLst>
      <p:ext uri="{BB962C8B-B14F-4D97-AF65-F5344CB8AC3E}">
        <p14:creationId xmlns:p14="http://schemas.microsoft.com/office/powerpoint/2010/main" val="1503379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7F4A8-8F9F-21DA-623E-0F0CAED928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0D8DC45-F5FE-14F5-3BA3-62E37D880C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73E82A0-907A-58CD-9EFC-24F87C989835}"/>
              </a:ext>
            </a:extLst>
          </p:cNvPr>
          <p:cNvSpPr>
            <a:spLocks noGrp="1"/>
          </p:cNvSpPr>
          <p:nvPr>
            <p:ph type="dt" sz="half" idx="10"/>
          </p:nvPr>
        </p:nvSpPr>
        <p:spPr/>
        <p:txBody>
          <a:bodyPr/>
          <a:lstStyle/>
          <a:p>
            <a:fld id="{7DC32355-D237-438E-8F37-C6D71E2E3154}" type="datetimeFigureOut">
              <a:rPr lang="en-GB" smtClean="0"/>
              <a:t>18/03/2025</a:t>
            </a:fld>
            <a:endParaRPr lang="en-GB"/>
          </a:p>
        </p:txBody>
      </p:sp>
      <p:sp>
        <p:nvSpPr>
          <p:cNvPr id="5" name="Footer Placeholder 4">
            <a:extLst>
              <a:ext uri="{FF2B5EF4-FFF2-40B4-BE49-F238E27FC236}">
                <a16:creationId xmlns:a16="http://schemas.microsoft.com/office/drawing/2014/main" id="{E10BD926-7CA6-D806-30FE-F53092490A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45EC4F3-EED7-1DDF-2098-8E27024FFE4B}"/>
              </a:ext>
            </a:extLst>
          </p:cNvPr>
          <p:cNvSpPr>
            <a:spLocks noGrp="1"/>
          </p:cNvSpPr>
          <p:nvPr>
            <p:ph type="sldNum" sz="quarter" idx="12"/>
          </p:nvPr>
        </p:nvSpPr>
        <p:spPr/>
        <p:txBody>
          <a:bodyPr/>
          <a:lstStyle/>
          <a:p>
            <a:fld id="{F7780CA1-74EA-44E9-909E-9DD6CD691EDF}" type="slidenum">
              <a:rPr lang="en-GB" smtClean="0"/>
              <a:t>‹#›</a:t>
            </a:fld>
            <a:endParaRPr lang="en-GB"/>
          </a:p>
        </p:txBody>
      </p:sp>
    </p:spTree>
    <p:extLst>
      <p:ext uri="{BB962C8B-B14F-4D97-AF65-F5344CB8AC3E}">
        <p14:creationId xmlns:p14="http://schemas.microsoft.com/office/powerpoint/2010/main" val="1284704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6F8B8-9D93-7435-C468-F95D3F74B06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B06928-18B6-C15A-86C4-C0219AB2C1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B355F3-ED29-E4FD-DB1A-BD078D05D1CF}"/>
              </a:ext>
            </a:extLst>
          </p:cNvPr>
          <p:cNvSpPr>
            <a:spLocks noGrp="1"/>
          </p:cNvSpPr>
          <p:nvPr>
            <p:ph type="dt" sz="half" idx="10"/>
          </p:nvPr>
        </p:nvSpPr>
        <p:spPr/>
        <p:txBody>
          <a:bodyPr/>
          <a:lstStyle/>
          <a:p>
            <a:fld id="{7DC32355-D237-438E-8F37-C6D71E2E3154}" type="datetimeFigureOut">
              <a:rPr lang="en-GB" smtClean="0"/>
              <a:t>18/03/2025</a:t>
            </a:fld>
            <a:endParaRPr lang="en-GB"/>
          </a:p>
        </p:txBody>
      </p:sp>
      <p:sp>
        <p:nvSpPr>
          <p:cNvPr id="5" name="Footer Placeholder 4">
            <a:extLst>
              <a:ext uri="{FF2B5EF4-FFF2-40B4-BE49-F238E27FC236}">
                <a16:creationId xmlns:a16="http://schemas.microsoft.com/office/drawing/2014/main" id="{465A7BB3-401F-34EE-A455-95DC3E3397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4ACC48-7730-0DEA-8B14-CCA19143A210}"/>
              </a:ext>
            </a:extLst>
          </p:cNvPr>
          <p:cNvSpPr>
            <a:spLocks noGrp="1"/>
          </p:cNvSpPr>
          <p:nvPr>
            <p:ph type="sldNum" sz="quarter" idx="12"/>
          </p:nvPr>
        </p:nvSpPr>
        <p:spPr/>
        <p:txBody>
          <a:bodyPr/>
          <a:lstStyle/>
          <a:p>
            <a:fld id="{F7780CA1-74EA-44E9-909E-9DD6CD691EDF}" type="slidenum">
              <a:rPr lang="en-GB" smtClean="0"/>
              <a:t>‹#›</a:t>
            </a:fld>
            <a:endParaRPr lang="en-GB"/>
          </a:p>
        </p:txBody>
      </p:sp>
    </p:spTree>
    <p:extLst>
      <p:ext uri="{BB962C8B-B14F-4D97-AF65-F5344CB8AC3E}">
        <p14:creationId xmlns:p14="http://schemas.microsoft.com/office/powerpoint/2010/main" val="2808670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4340A-941E-865E-560A-D0C4851BCB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853577-45E8-10D2-E6DB-907816445E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31800C-6D74-0853-E948-D0842DD1D745}"/>
              </a:ext>
            </a:extLst>
          </p:cNvPr>
          <p:cNvSpPr>
            <a:spLocks noGrp="1"/>
          </p:cNvSpPr>
          <p:nvPr>
            <p:ph type="dt" sz="half" idx="10"/>
          </p:nvPr>
        </p:nvSpPr>
        <p:spPr/>
        <p:txBody>
          <a:bodyPr/>
          <a:lstStyle/>
          <a:p>
            <a:fld id="{7DC32355-D237-438E-8F37-C6D71E2E3154}" type="datetimeFigureOut">
              <a:rPr lang="en-GB" smtClean="0"/>
              <a:t>18/03/2025</a:t>
            </a:fld>
            <a:endParaRPr lang="en-GB"/>
          </a:p>
        </p:txBody>
      </p:sp>
      <p:sp>
        <p:nvSpPr>
          <p:cNvPr id="5" name="Footer Placeholder 4">
            <a:extLst>
              <a:ext uri="{FF2B5EF4-FFF2-40B4-BE49-F238E27FC236}">
                <a16:creationId xmlns:a16="http://schemas.microsoft.com/office/drawing/2014/main" id="{CADD0605-00A8-DA3D-714C-747D180CA8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30BDD49-4434-57B7-3C7C-67490BF0DF0C}"/>
              </a:ext>
            </a:extLst>
          </p:cNvPr>
          <p:cNvSpPr>
            <a:spLocks noGrp="1"/>
          </p:cNvSpPr>
          <p:nvPr>
            <p:ph type="sldNum" sz="quarter" idx="12"/>
          </p:nvPr>
        </p:nvSpPr>
        <p:spPr/>
        <p:txBody>
          <a:bodyPr/>
          <a:lstStyle/>
          <a:p>
            <a:fld id="{F7780CA1-74EA-44E9-909E-9DD6CD691EDF}" type="slidenum">
              <a:rPr lang="en-GB" smtClean="0"/>
              <a:t>‹#›</a:t>
            </a:fld>
            <a:endParaRPr lang="en-GB"/>
          </a:p>
        </p:txBody>
      </p:sp>
    </p:spTree>
    <p:extLst>
      <p:ext uri="{BB962C8B-B14F-4D97-AF65-F5344CB8AC3E}">
        <p14:creationId xmlns:p14="http://schemas.microsoft.com/office/powerpoint/2010/main" val="142599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0D05-FF94-1CB5-C491-2C6728CEAD7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A6451B1-A920-2337-2CEC-6F94F0BC4C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A4985F9-979F-33AB-3913-B838A6B305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9BC9EAD-D2B5-8A6F-640E-1B6AD4BF6173}"/>
              </a:ext>
            </a:extLst>
          </p:cNvPr>
          <p:cNvSpPr>
            <a:spLocks noGrp="1"/>
          </p:cNvSpPr>
          <p:nvPr>
            <p:ph type="dt" sz="half" idx="10"/>
          </p:nvPr>
        </p:nvSpPr>
        <p:spPr/>
        <p:txBody>
          <a:bodyPr/>
          <a:lstStyle/>
          <a:p>
            <a:fld id="{7DC32355-D237-438E-8F37-C6D71E2E3154}" type="datetimeFigureOut">
              <a:rPr lang="en-GB" smtClean="0"/>
              <a:t>18/03/2025</a:t>
            </a:fld>
            <a:endParaRPr lang="en-GB"/>
          </a:p>
        </p:txBody>
      </p:sp>
      <p:sp>
        <p:nvSpPr>
          <p:cNvPr id="6" name="Footer Placeholder 5">
            <a:extLst>
              <a:ext uri="{FF2B5EF4-FFF2-40B4-BE49-F238E27FC236}">
                <a16:creationId xmlns:a16="http://schemas.microsoft.com/office/drawing/2014/main" id="{12F5694E-B559-C090-8D91-18E141D4B43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0B8C560-E267-905F-D70A-A8088EE0A1B9}"/>
              </a:ext>
            </a:extLst>
          </p:cNvPr>
          <p:cNvSpPr>
            <a:spLocks noGrp="1"/>
          </p:cNvSpPr>
          <p:nvPr>
            <p:ph type="sldNum" sz="quarter" idx="12"/>
          </p:nvPr>
        </p:nvSpPr>
        <p:spPr/>
        <p:txBody>
          <a:bodyPr/>
          <a:lstStyle/>
          <a:p>
            <a:fld id="{F7780CA1-74EA-44E9-909E-9DD6CD691EDF}" type="slidenum">
              <a:rPr lang="en-GB" smtClean="0"/>
              <a:t>‹#›</a:t>
            </a:fld>
            <a:endParaRPr lang="en-GB"/>
          </a:p>
        </p:txBody>
      </p:sp>
    </p:spTree>
    <p:extLst>
      <p:ext uri="{BB962C8B-B14F-4D97-AF65-F5344CB8AC3E}">
        <p14:creationId xmlns:p14="http://schemas.microsoft.com/office/powerpoint/2010/main" val="2369971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8EF10-C8BB-917F-7B27-EDB64071B86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BCE9FD8-95DE-5BE9-AFDA-B1F6D8074B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F07920-7EA2-0D74-30A2-A4A353FF18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65BF368-8131-88E6-8518-CD83E15E55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2C35EB-1921-D21F-D07D-FA7EE5C353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4419C53-4F2E-5275-BEA9-F1AA9A1C8783}"/>
              </a:ext>
            </a:extLst>
          </p:cNvPr>
          <p:cNvSpPr>
            <a:spLocks noGrp="1"/>
          </p:cNvSpPr>
          <p:nvPr>
            <p:ph type="dt" sz="half" idx="10"/>
          </p:nvPr>
        </p:nvSpPr>
        <p:spPr/>
        <p:txBody>
          <a:bodyPr/>
          <a:lstStyle/>
          <a:p>
            <a:fld id="{7DC32355-D237-438E-8F37-C6D71E2E3154}" type="datetimeFigureOut">
              <a:rPr lang="en-GB" smtClean="0"/>
              <a:t>18/03/2025</a:t>
            </a:fld>
            <a:endParaRPr lang="en-GB"/>
          </a:p>
        </p:txBody>
      </p:sp>
      <p:sp>
        <p:nvSpPr>
          <p:cNvPr id="8" name="Footer Placeholder 7">
            <a:extLst>
              <a:ext uri="{FF2B5EF4-FFF2-40B4-BE49-F238E27FC236}">
                <a16:creationId xmlns:a16="http://schemas.microsoft.com/office/drawing/2014/main" id="{C6D04000-4E1D-DB94-017A-AD1BCE876D5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C838837-11DE-320C-7E99-C84DBBDFC2F9}"/>
              </a:ext>
            </a:extLst>
          </p:cNvPr>
          <p:cNvSpPr>
            <a:spLocks noGrp="1"/>
          </p:cNvSpPr>
          <p:nvPr>
            <p:ph type="sldNum" sz="quarter" idx="12"/>
          </p:nvPr>
        </p:nvSpPr>
        <p:spPr/>
        <p:txBody>
          <a:bodyPr/>
          <a:lstStyle/>
          <a:p>
            <a:fld id="{F7780CA1-74EA-44E9-909E-9DD6CD691EDF}" type="slidenum">
              <a:rPr lang="en-GB" smtClean="0"/>
              <a:t>‹#›</a:t>
            </a:fld>
            <a:endParaRPr lang="en-GB"/>
          </a:p>
        </p:txBody>
      </p:sp>
    </p:spTree>
    <p:extLst>
      <p:ext uri="{BB962C8B-B14F-4D97-AF65-F5344CB8AC3E}">
        <p14:creationId xmlns:p14="http://schemas.microsoft.com/office/powerpoint/2010/main" val="349489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7EF06-E212-205D-C769-657B64711A1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9B6D549-C8A2-9607-429F-C55DD3F84C81}"/>
              </a:ext>
            </a:extLst>
          </p:cNvPr>
          <p:cNvSpPr>
            <a:spLocks noGrp="1"/>
          </p:cNvSpPr>
          <p:nvPr>
            <p:ph type="dt" sz="half" idx="10"/>
          </p:nvPr>
        </p:nvSpPr>
        <p:spPr/>
        <p:txBody>
          <a:bodyPr/>
          <a:lstStyle/>
          <a:p>
            <a:fld id="{7DC32355-D237-438E-8F37-C6D71E2E3154}" type="datetimeFigureOut">
              <a:rPr lang="en-GB" smtClean="0"/>
              <a:t>18/03/2025</a:t>
            </a:fld>
            <a:endParaRPr lang="en-GB"/>
          </a:p>
        </p:txBody>
      </p:sp>
      <p:sp>
        <p:nvSpPr>
          <p:cNvPr id="4" name="Footer Placeholder 3">
            <a:extLst>
              <a:ext uri="{FF2B5EF4-FFF2-40B4-BE49-F238E27FC236}">
                <a16:creationId xmlns:a16="http://schemas.microsoft.com/office/drawing/2014/main" id="{87FFE253-99E6-906E-ABDD-B97BA1D8AC9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2D34635-9DA7-C41F-872F-CB1A0759B963}"/>
              </a:ext>
            </a:extLst>
          </p:cNvPr>
          <p:cNvSpPr>
            <a:spLocks noGrp="1"/>
          </p:cNvSpPr>
          <p:nvPr>
            <p:ph type="sldNum" sz="quarter" idx="12"/>
          </p:nvPr>
        </p:nvSpPr>
        <p:spPr/>
        <p:txBody>
          <a:bodyPr/>
          <a:lstStyle/>
          <a:p>
            <a:fld id="{F7780CA1-74EA-44E9-909E-9DD6CD691EDF}" type="slidenum">
              <a:rPr lang="en-GB" smtClean="0"/>
              <a:t>‹#›</a:t>
            </a:fld>
            <a:endParaRPr lang="en-GB"/>
          </a:p>
        </p:txBody>
      </p:sp>
    </p:spTree>
    <p:extLst>
      <p:ext uri="{BB962C8B-B14F-4D97-AF65-F5344CB8AC3E}">
        <p14:creationId xmlns:p14="http://schemas.microsoft.com/office/powerpoint/2010/main" val="2562937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59F132-C277-FA1E-1F47-CEE397489D41}"/>
              </a:ext>
            </a:extLst>
          </p:cNvPr>
          <p:cNvSpPr>
            <a:spLocks noGrp="1"/>
          </p:cNvSpPr>
          <p:nvPr>
            <p:ph type="dt" sz="half" idx="10"/>
          </p:nvPr>
        </p:nvSpPr>
        <p:spPr/>
        <p:txBody>
          <a:bodyPr/>
          <a:lstStyle/>
          <a:p>
            <a:fld id="{7DC32355-D237-438E-8F37-C6D71E2E3154}" type="datetimeFigureOut">
              <a:rPr lang="en-GB" smtClean="0"/>
              <a:t>18/03/2025</a:t>
            </a:fld>
            <a:endParaRPr lang="en-GB"/>
          </a:p>
        </p:txBody>
      </p:sp>
      <p:sp>
        <p:nvSpPr>
          <p:cNvPr id="3" name="Footer Placeholder 2">
            <a:extLst>
              <a:ext uri="{FF2B5EF4-FFF2-40B4-BE49-F238E27FC236}">
                <a16:creationId xmlns:a16="http://schemas.microsoft.com/office/drawing/2014/main" id="{64569627-7EE9-B727-6BD2-A63D4DBDF2B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C9E71A4-F6B1-F60A-823F-620E7D32E04D}"/>
              </a:ext>
            </a:extLst>
          </p:cNvPr>
          <p:cNvSpPr>
            <a:spLocks noGrp="1"/>
          </p:cNvSpPr>
          <p:nvPr>
            <p:ph type="sldNum" sz="quarter" idx="12"/>
          </p:nvPr>
        </p:nvSpPr>
        <p:spPr/>
        <p:txBody>
          <a:bodyPr/>
          <a:lstStyle/>
          <a:p>
            <a:fld id="{F7780CA1-74EA-44E9-909E-9DD6CD691EDF}" type="slidenum">
              <a:rPr lang="en-GB" smtClean="0"/>
              <a:t>‹#›</a:t>
            </a:fld>
            <a:endParaRPr lang="en-GB"/>
          </a:p>
        </p:txBody>
      </p:sp>
    </p:spTree>
    <p:extLst>
      <p:ext uri="{BB962C8B-B14F-4D97-AF65-F5344CB8AC3E}">
        <p14:creationId xmlns:p14="http://schemas.microsoft.com/office/powerpoint/2010/main" val="2341814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CAF6C-CCCC-D7CB-9449-A4E3803884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5B8FB4A-156C-55ED-CA7E-70A12A463F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ECF911F-6A50-AB31-3EC5-2245C1B26F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05115C-690E-BD5E-C818-2A1F3EB8598C}"/>
              </a:ext>
            </a:extLst>
          </p:cNvPr>
          <p:cNvSpPr>
            <a:spLocks noGrp="1"/>
          </p:cNvSpPr>
          <p:nvPr>
            <p:ph type="dt" sz="half" idx="10"/>
          </p:nvPr>
        </p:nvSpPr>
        <p:spPr/>
        <p:txBody>
          <a:bodyPr/>
          <a:lstStyle/>
          <a:p>
            <a:fld id="{7DC32355-D237-438E-8F37-C6D71E2E3154}" type="datetimeFigureOut">
              <a:rPr lang="en-GB" smtClean="0"/>
              <a:t>18/03/2025</a:t>
            </a:fld>
            <a:endParaRPr lang="en-GB"/>
          </a:p>
        </p:txBody>
      </p:sp>
      <p:sp>
        <p:nvSpPr>
          <p:cNvPr id="6" name="Footer Placeholder 5">
            <a:extLst>
              <a:ext uri="{FF2B5EF4-FFF2-40B4-BE49-F238E27FC236}">
                <a16:creationId xmlns:a16="http://schemas.microsoft.com/office/drawing/2014/main" id="{1C6DB273-6567-3699-69AC-B3BD66D0885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69C21B-9506-3031-4C7C-C99C7FC5A2CA}"/>
              </a:ext>
            </a:extLst>
          </p:cNvPr>
          <p:cNvSpPr>
            <a:spLocks noGrp="1"/>
          </p:cNvSpPr>
          <p:nvPr>
            <p:ph type="sldNum" sz="quarter" idx="12"/>
          </p:nvPr>
        </p:nvSpPr>
        <p:spPr/>
        <p:txBody>
          <a:bodyPr/>
          <a:lstStyle/>
          <a:p>
            <a:fld id="{F7780CA1-74EA-44E9-909E-9DD6CD691EDF}" type="slidenum">
              <a:rPr lang="en-GB" smtClean="0"/>
              <a:t>‹#›</a:t>
            </a:fld>
            <a:endParaRPr lang="en-GB"/>
          </a:p>
        </p:txBody>
      </p:sp>
    </p:spTree>
    <p:extLst>
      <p:ext uri="{BB962C8B-B14F-4D97-AF65-F5344CB8AC3E}">
        <p14:creationId xmlns:p14="http://schemas.microsoft.com/office/powerpoint/2010/main" val="223161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27AD1-FAE0-608C-E7C5-76D2993FA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C037EBA-4F41-A54A-88B4-4BB7862311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DF6B15C-B1AD-629F-3ECC-B087D4FB8A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8C77B-FBB9-5EBD-2E98-893A447B32B5}"/>
              </a:ext>
            </a:extLst>
          </p:cNvPr>
          <p:cNvSpPr>
            <a:spLocks noGrp="1"/>
          </p:cNvSpPr>
          <p:nvPr>
            <p:ph type="dt" sz="half" idx="10"/>
          </p:nvPr>
        </p:nvSpPr>
        <p:spPr/>
        <p:txBody>
          <a:bodyPr/>
          <a:lstStyle/>
          <a:p>
            <a:fld id="{7DC32355-D237-438E-8F37-C6D71E2E3154}" type="datetimeFigureOut">
              <a:rPr lang="en-GB" smtClean="0"/>
              <a:t>18/03/2025</a:t>
            </a:fld>
            <a:endParaRPr lang="en-GB"/>
          </a:p>
        </p:txBody>
      </p:sp>
      <p:sp>
        <p:nvSpPr>
          <p:cNvPr id="6" name="Footer Placeholder 5">
            <a:extLst>
              <a:ext uri="{FF2B5EF4-FFF2-40B4-BE49-F238E27FC236}">
                <a16:creationId xmlns:a16="http://schemas.microsoft.com/office/drawing/2014/main" id="{9252E542-226D-F36C-F92F-A7BCFE7145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318BEE-53E7-F321-6679-8867E35FE40F}"/>
              </a:ext>
            </a:extLst>
          </p:cNvPr>
          <p:cNvSpPr>
            <a:spLocks noGrp="1"/>
          </p:cNvSpPr>
          <p:nvPr>
            <p:ph type="sldNum" sz="quarter" idx="12"/>
          </p:nvPr>
        </p:nvSpPr>
        <p:spPr/>
        <p:txBody>
          <a:bodyPr/>
          <a:lstStyle/>
          <a:p>
            <a:fld id="{F7780CA1-74EA-44E9-909E-9DD6CD691EDF}" type="slidenum">
              <a:rPr lang="en-GB" smtClean="0"/>
              <a:t>‹#›</a:t>
            </a:fld>
            <a:endParaRPr lang="en-GB"/>
          </a:p>
        </p:txBody>
      </p:sp>
    </p:spTree>
    <p:extLst>
      <p:ext uri="{BB962C8B-B14F-4D97-AF65-F5344CB8AC3E}">
        <p14:creationId xmlns:p14="http://schemas.microsoft.com/office/powerpoint/2010/main" val="110844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5BA46-6173-85B1-D652-32342114510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993F377-1711-854A-5DB3-887DBB60D2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6CA4E0-AC76-4601-9C9A-BA64D13DDF65}"/>
              </a:ext>
            </a:extLst>
          </p:cNvPr>
          <p:cNvSpPr>
            <a:spLocks noGrp="1"/>
          </p:cNvSpPr>
          <p:nvPr>
            <p:ph type="dt" sz="half" idx="10"/>
          </p:nvPr>
        </p:nvSpPr>
        <p:spPr/>
        <p:txBody>
          <a:bodyPr/>
          <a:lstStyle/>
          <a:p>
            <a:fld id="{7DC32355-D237-438E-8F37-C6D71E2E3154}" type="datetimeFigureOut">
              <a:rPr lang="en-GB" smtClean="0"/>
              <a:t>18/03/2025</a:t>
            </a:fld>
            <a:endParaRPr lang="en-GB"/>
          </a:p>
        </p:txBody>
      </p:sp>
      <p:sp>
        <p:nvSpPr>
          <p:cNvPr id="5" name="Footer Placeholder 4">
            <a:extLst>
              <a:ext uri="{FF2B5EF4-FFF2-40B4-BE49-F238E27FC236}">
                <a16:creationId xmlns:a16="http://schemas.microsoft.com/office/drawing/2014/main" id="{1828920B-3EED-A1D7-1910-113539457E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9C0D287-F070-E6CE-C5BE-0726DD83E1EC}"/>
              </a:ext>
            </a:extLst>
          </p:cNvPr>
          <p:cNvSpPr>
            <a:spLocks noGrp="1"/>
          </p:cNvSpPr>
          <p:nvPr>
            <p:ph type="sldNum" sz="quarter" idx="12"/>
          </p:nvPr>
        </p:nvSpPr>
        <p:spPr/>
        <p:txBody>
          <a:bodyPr/>
          <a:lstStyle/>
          <a:p>
            <a:fld id="{F7780CA1-74EA-44E9-909E-9DD6CD691EDF}" type="slidenum">
              <a:rPr lang="en-GB" smtClean="0"/>
              <a:t>‹#›</a:t>
            </a:fld>
            <a:endParaRPr lang="en-GB"/>
          </a:p>
        </p:txBody>
      </p:sp>
    </p:spTree>
    <p:extLst>
      <p:ext uri="{BB962C8B-B14F-4D97-AF65-F5344CB8AC3E}">
        <p14:creationId xmlns:p14="http://schemas.microsoft.com/office/powerpoint/2010/main" val="1262911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524FEF-B24A-F8ED-482E-7F09590896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F05F901-C424-944A-469D-D29C3F4A6B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6FDA053-40ED-8E55-B3CF-A44C838E9AD2}"/>
              </a:ext>
            </a:extLst>
          </p:cNvPr>
          <p:cNvSpPr>
            <a:spLocks noGrp="1"/>
          </p:cNvSpPr>
          <p:nvPr>
            <p:ph type="dt" sz="half" idx="10"/>
          </p:nvPr>
        </p:nvSpPr>
        <p:spPr/>
        <p:txBody>
          <a:bodyPr/>
          <a:lstStyle/>
          <a:p>
            <a:fld id="{7DC32355-D237-438E-8F37-C6D71E2E3154}" type="datetimeFigureOut">
              <a:rPr lang="en-GB" smtClean="0"/>
              <a:t>18/03/2025</a:t>
            </a:fld>
            <a:endParaRPr lang="en-GB"/>
          </a:p>
        </p:txBody>
      </p:sp>
      <p:sp>
        <p:nvSpPr>
          <p:cNvPr id="5" name="Footer Placeholder 4">
            <a:extLst>
              <a:ext uri="{FF2B5EF4-FFF2-40B4-BE49-F238E27FC236}">
                <a16:creationId xmlns:a16="http://schemas.microsoft.com/office/drawing/2014/main" id="{F9457CC9-B12D-2B0A-C1F2-9B9F672CBD9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28B872-83A8-DA6F-7986-E8B42AE56EF5}"/>
              </a:ext>
            </a:extLst>
          </p:cNvPr>
          <p:cNvSpPr>
            <a:spLocks noGrp="1"/>
          </p:cNvSpPr>
          <p:nvPr>
            <p:ph type="sldNum" sz="quarter" idx="12"/>
          </p:nvPr>
        </p:nvSpPr>
        <p:spPr/>
        <p:txBody>
          <a:bodyPr/>
          <a:lstStyle/>
          <a:p>
            <a:fld id="{F7780CA1-74EA-44E9-909E-9DD6CD691EDF}" type="slidenum">
              <a:rPr lang="en-GB" smtClean="0"/>
              <a:t>‹#›</a:t>
            </a:fld>
            <a:endParaRPr lang="en-GB"/>
          </a:p>
        </p:txBody>
      </p:sp>
    </p:spTree>
    <p:extLst>
      <p:ext uri="{BB962C8B-B14F-4D97-AF65-F5344CB8AC3E}">
        <p14:creationId xmlns:p14="http://schemas.microsoft.com/office/powerpoint/2010/main" val="2297100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D76F72-450F-5621-5856-2E01A4663E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0DC5AA3-262F-329E-7922-AFD9EE17DD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E87327-D727-8D5D-37E1-137F83EC7E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C32355-D237-438E-8F37-C6D71E2E3154}" type="datetimeFigureOut">
              <a:rPr lang="en-GB" smtClean="0"/>
              <a:t>18/03/2025</a:t>
            </a:fld>
            <a:endParaRPr lang="en-GB"/>
          </a:p>
        </p:txBody>
      </p:sp>
      <p:sp>
        <p:nvSpPr>
          <p:cNvPr id="5" name="Footer Placeholder 4">
            <a:extLst>
              <a:ext uri="{FF2B5EF4-FFF2-40B4-BE49-F238E27FC236}">
                <a16:creationId xmlns:a16="http://schemas.microsoft.com/office/drawing/2014/main" id="{2BECC4D6-6793-370A-9687-935492C3D4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9F4B5E2-23E1-DB57-4DF0-705A03BEDC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780CA1-74EA-44E9-909E-9DD6CD691EDF}" type="slidenum">
              <a:rPr lang="en-GB" smtClean="0"/>
              <a:t>‹#›</a:t>
            </a:fld>
            <a:endParaRPr lang="en-GB"/>
          </a:p>
        </p:txBody>
      </p:sp>
    </p:spTree>
    <p:extLst>
      <p:ext uri="{BB962C8B-B14F-4D97-AF65-F5344CB8AC3E}">
        <p14:creationId xmlns:p14="http://schemas.microsoft.com/office/powerpoint/2010/main" val="1999864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hyperlink" Target="https://creativecommons.org/licenses/by-nc-nd/3.0/" TargetMode="External"/><Relationship Id="rId5" Type="http://schemas.openxmlformats.org/officeDocument/2006/relationships/image" Target="../media/image9.png"/><Relationship Id="rId4" Type="http://schemas.openxmlformats.org/officeDocument/2006/relationships/hyperlink" Target="https://blog.hametbenoit.info/2019/02/05/azure-want-to-influence-the-next-capabilities-for-azure-migrate/"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cid:image014.png@01DB5AB0.28E7B7A0" TargetMode="External"/><Relationship Id="rId5" Type="http://schemas.openxmlformats.org/officeDocument/2006/relationships/image" Target="../media/image11.png"/><Relationship Id="rId4" Type="http://schemas.openxmlformats.org/officeDocument/2006/relationships/image" Target="cid:image007.png@01DB5AB0.28E7B7A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5.png"/><Relationship Id="rId7" Type="http://schemas.openxmlformats.org/officeDocument/2006/relationships/diagramColors" Target="../diagrams/colors3.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dtaxi.tistory.com/entry/Microsoft-Fabric-%EC%9D%B4%EB%9E%8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68D8AEDB-9D6B-4F32-873C-B7F3244725C3}"/>
              </a:ext>
            </a:extLst>
          </p:cNvPr>
          <p:cNvSpPr/>
          <p:nvPr/>
        </p:nvSpPr>
        <p:spPr>
          <a:xfrm>
            <a:off x="1506637" y="857250"/>
            <a:ext cx="9144000" cy="5143500"/>
          </a:xfrm>
          <a:prstGeom prst="rect">
            <a:avLst/>
          </a:prstGeom>
          <a:ln>
            <a:noFill/>
          </a:ln>
          <a:effectLst>
            <a:outerShdw blurRad="50800" dist="50800" dir="5400000" algn="ctr" rotWithShape="0">
              <a:schemeClr val="bg1">
                <a:alpha val="34000"/>
              </a:schemeClr>
            </a:outerShd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useBgFill="1">
        <p:nvSpPr>
          <p:cNvPr id="21" name="Freeform: Shape 20">
            <a:extLst>
              <a:ext uri="{FF2B5EF4-FFF2-40B4-BE49-F238E27FC236}">
                <a16:creationId xmlns:a16="http://schemas.microsoft.com/office/drawing/2014/main" id="{2D90ED45-8369-45ED-AA8F-CD16411473F5}"/>
              </a:ext>
            </a:extLst>
          </p:cNvPr>
          <p:cNvSpPr/>
          <p:nvPr/>
        </p:nvSpPr>
        <p:spPr>
          <a:xfrm>
            <a:off x="1489274" y="771788"/>
            <a:ext cx="5475472" cy="5228963"/>
          </a:xfrm>
          <a:custGeom>
            <a:avLst/>
            <a:gdLst>
              <a:gd name="connsiteX0" fmla="*/ 0 w 4981643"/>
              <a:gd name="connsiteY0" fmla="*/ 0 h 6858000"/>
              <a:gd name="connsiteX1" fmla="*/ 4981643 w 4981643"/>
              <a:gd name="connsiteY1" fmla="*/ 0 h 6858000"/>
              <a:gd name="connsiteX2" fmla="*/ 3652613 w 4981643"/>
              <a:gd name="connsiteY2" fmla="*/ 6858000 h 6858000"/>
              <a:gd name="connsiteX3" fmla="*/ 0 w 498164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981643" h="6858000">
                <a:moveTo>
                  <a:pt x="0" y="0"/>
                </a:moveTo>
                <a:lnTo>
                  <a:pt x="4981643" y="0"/>
                </a:lnTo>
                <a:lnTo>
                  <a:pt x="3652613" y="6858000"/>
                </a:lnTo>
                <a:lnTo>
                  <a:pt x="0" y="6858000"/>
                </a:lnTo>
                <a:close/>
              </a:path>
            </a:pathLst>
          </a:custGeom>
          <a:ln>
            <a:noFill/>
          </a:ln>
          <a:effectLst>
            <a:outerShdw blurRad="50800" dist="38100" algn="l" rotWithShape="0">
              <a:prstClr val="black">
                <a:alpha val="40000"/>
              </a:prstClr>
            </a:outerShdw>
            <a:reflection blurRad="6350" stA="50000" endA="300" endPos="55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350" dirty="0"/>
          </a:p>
        </p:txBody>
      </p:sp>
      <p:sp useBgFill="1">
        <p:nvSpPr>
          <p:cNvPr id="24" name="Freeform: Shape 23">
            <a:extLst>
              <a:ext uri="{FF2B5EF4-FFF2-40B4-BE49-F238E27FC236}">
                <a16:creationId xmlns:a16="http://schemas.microsoft.com/office/drawing/2014/main" id="{0BD69A8B-9090-45B5-ACB4-15AC71B8E1EA}"/>
              </a:ext>
            </a:extLst>
          </p:cNvPr>
          <p:cNvSpPr/>
          <p:nvPr/>
        </p:nvSpPr>
        <p:spPr>
          <a:xfrm>
            <a:off x="913176" y="857251"/>
            <a:ext cx="4706920" cy="5228963"/>
          </a:xfrm>
          <a:custGeom>
            <a:avLst/>
            <a:gdLst>
              <a:gd name="connsiteX0" fmla="*/ 0 w 5820713"/>
              <a:gd name="connsiteY0" fmla="*/ 0 h 6858000"/>
              <a:gd name="connsiteX1" fmla="*/ 5820713 w 5820713"/>
              <a:gd name="connsiteY1" fmla="*/ 0 h 6858000"/>
              <a:gd name="connsiteX2" fmla="*/ 3888299 w 5820713"/>
              <a:gd name="connsiteY2" fmla="*/ 6858000 h 6858000"/>
              <a:gd name="connsiteX3" fmla="*/ 0 w 582071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820713" h="6858000">
                <a:moveTo>
                  <a:pt x="0" y="0"/>
                </a:moveTo>
                <a:lnTo>
                  <a:pt x="5820713" y="0"/>
                </a:lnTo>
                <a:lnTo>
                  <a:pt x="3888299" y="6858000"/>
                </a:lnTo>
                <a:lnTo>
                  <a:pt x="0" y="6858000"/>
                </a:lnTo>
                <a:close/>
              </a:path>
            </a:pathLst>
          </a:custGeom>
          <a:ln>
            <a:noFill/>
          </a:ln>
          <a:effectLst>
            <a:outerShdw blurRad="50800" dist="38100" algn="l" rotWithShape="0">
              <a:prstClr val="black">
                <a:alpha val="40000"/>
              </a:prstClr>
            </a:outerShdw>
            <a:reflection blurRad="6350" stA="50000" endA="300" endPos="55500" dist="1016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350" dirty="0"/>
          </a:p>
        </p:txBody>
      </p:sp>
      <p:sp useBgFill="1">
        <p:nvSpPr>
          <p:cNvPr id="27" name="Freeform: Shape 26">
            <a:extLst>
              <a:ext uri="{FF2B5EF4-FFF2-40B4-BE49-F238E27FC236}">
                <a16:creationId xmlns:a16="http://schemas.microsoft.com/office/drawing/2014/main" id="{2259E4AA-7106-4D5D-9012-1A5032D0E0F2}"/>
              </a:ext>
            </a:extLst>
          </p:cNvPr>
          <p:cNvSpPr/>
          <p:nvPr/>
        </p:nvSpPr>
        <p:spPr>
          <a:xfrm>
            <a:off x="5867400" y="771788"/>
            <a:ext cx="4706920" cy="5228963"/>
          </a:xfrm>
          <a:custGeom>
            <a:avLst/>
            <a:gdLst>
              <a:gd name="connsiteX0" fmla="*/ 1932413 w 5589130"/>
              <a:gd name="connsiteY0" fmla="*/ 0 h 6858000"/>
              <a:gd name="connsiteX1" fmla="*/ 5589130 w 5589130"/>
              <a:gd name="connsiteY1" fmla="*/ 0 h 6858000"/>
              <a:gd name="connsiteX2" fmla="*/ 5589130 w 5589130"/>
              <a:gd name="connsiteY2" fmla="*/ 6858000 h 6858000"/>
              <a:gd name="connsiteX3" fmla="*/ 0 w 558913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589130" h="6858000">
                <a:moveTo>
                  <a:pt x="1932413" y="0"/>
                </a:moveTo>
                <a:lnTo>
                  <a:pt x="5589130" y="0"/>
                </a:lnTo>
                <a:lnTo>
                  <a:pt x="5589130" y="6858000"/>
                </a:lnTo>
                <a:lnTo>
                  <a:pt x="0" y="6858000"/>
                </a:lnTo>
                <a:close/>
              </a:path>
            </a:pathLst>
          </a:custGeom>
          <a:ln>
            <a:noFill/>
          </a:ln>
          <a:effectLst>
            <a:outerShdw blurRad="381000" dist="38100" dir="10800000" algn="r" rotWithShape="0">
              <a:prstClr val="black">
                <a:alpha val="30000"/>
              </a:prstClr>
            </a:outerShdw>
            <a:reflection blurRad="6350" stA="50000" endA="300" endPos="900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350" dirty="0"/>
          </a:p>
        </p:txBody>
      </p:sp>
      <p:sp useBgFill="1">
        <p:nvSpPr>
          <p:cNvPr id="31" name="Freeform: Shape 30">
            <a:extLst>
              <a:ext uri="{FF2B5EF4-FFF2-40B4-BE49-F238E27FC236}">
                <a16:creationId xmlns:a16="http://schemas.microsoft.com/office/drawing/2014/main" id="{BD9808BA-1526-4CD3-81F6-DC8C537B3396}"/>
              </a:ext>
            </a:extLst>
          </p:cNvPr>
          <p:cNvSpPr/>
          <p:nvPr/>
        </p:nvSpPr>
        <p:spPr>
          <a:xfrm>
            <a:off x="6362008" y="771788"/>
            <a:ext cx="4305994" cy="5228963"/>
          </a:xfrm>
          <a:custGeom>
            <a:avLst/>
            <a:gdLst>
              <a:gd name="connsiteX0" fmla="*/ 1124226 w 4490967"/>
              <a:gd name="connsiteY0" fmla="*/ 0 h 6858000"/>
              <a:gd name="connsiteX1" fmla="*/ 4490967 w 4490967"/>
              <a:gd name="connsiteY1" fmla="*/ 0 h 6858000"/>
              <a:gd name="connsiteX2" fmla="*/ 4490967 w 4490967"/>
              <a:gd name="connsiteY2" fmla="*/ 6858000 h 6858000"/>
              <a:gd name="connsiteX3" fmla="*/ 0 w 449096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490967" h="6858000">
                <a:moveTo>
                  <a:pt x="1124226" y="0"/>
                </a:moveTo>
                <a:lnTo>
                  <a:pt x="4490967" y="0"/>
                </a:lnTo>
                <a:lnTo>
                  <a:pt x="4490967" y="6858000"/>
                </a:lnTo>
                <a:lnTo>
                  <a:pt x="0" y="6858000"/>
                </a:lnTo>
                <a:close/>
              </a:path>
            </a:pathLst>
          </a:custGeom>
          <a:ln>
            <a:noFill/>
          </a:ln>
          <a:effectLst>
            <a:outerShdw blurRad="381000" dist="38100" dir="10800000" algn="r" rotWithShape="0">
              <a:prstClr val="black">
                <a:alpha val="30000"/>
              </a:prstClr>
            </a:outerShdw>
            <a:reflection blurRad="6350" stA="50000" endA="295" endPos="92000" dist="1016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350" dirty="0"/>
          </a:p>
        </p:txBody>
      </p:sp>
      <p:sp>
        <p:nvSpPr>
          <p:cNvPr id="2" name="Title 1">
            <a:extLst>
              <a:ext uri="{FF2B5EF4-FFF2-40B4-BE49-F238E27FC236}">
                <a16:creationId xmlns:a16="http://schemas.microsoft.com/office/drawing/2014/main" id="{E529DEDB-791A-43D9-AC35-ABFB1380A00C}"/>
              </a:ext>
            </a:extLst>
          </p:cNvPr>
          <p:cNvSpPr txBox="1">
            <a:spLocks/>
          </p:cNvSpPr>
          <p:nvPr/>
        </p:nvSpPr>
        <p:spPr>
          <a:xfrm>
            <a:off x="1639932" y="1261646"/>
            <a:ext cx="5174155" cy="617627"/>
          </a:xfrm>
          <a:prstGeom prst="rect">
            <a:avLst/>
          </a:prstGeom>
        </p:spPr>
        <p:txBody>
          <a:bodyPr vert="horz" lIns="0" tIns="0" rIns="0" bIns="0" anchor="t"/>
          <a:lstStyle>
            <a:lvl1pPr algn="l" defTabSz="779252" rtl="0" eaLnBrk="1" latinLnBrk="0" hangingPunct="1">
              <a:spcBef>
                <a:spcPct val="0"/>
              </a:spcBef>
              <a:buNone/>
              <a:defRPr lang="en-GB" sz="2400" b="1" kern="1200" cap="all" smtClean="0">
                <a:solidFill>
                  <a:srgbClr val="006635"/>
                </a:solidFill>
                <a:latin typeface="+mj-lt"/>
                <a:ea typeface="+mj-ea"/>
                <a:cs typeface="Arial" pitchFamily="34" charset="0"/>
              </a:defRPr>
            </a:lvl1pPr>
          </a:lstStyle>
          <a:p>
            <a:pPr algn="ctr"/>
            <a:r>
              <a:rPr lang="en-GB" dirty="0">
                <a:solidFill>
                  <a:schemeClr val="bg1"/>
                </a:solidFill>
              </a:rPr>
              <a:t>Microsoft Fabric POC Overview</a:t>
            </a:r>
          </a:p>
          <a:p>
            <a:pPr algn="ctr"/>
            <a:endParaRPr lang="en-GB" dirty="0">
              <a:solidFill>
                <a:schemeClr val="accent6">
                  <a:lumMod val="75000"/>
                </a:schemeClr>
              </a:solidFill>
              <a:cs typeface="Arial"/>
            </a:endParaRPr>
          </a:p>
          <a:p>
            <a:pPr algn="ctr"/>
            <a:endParaRPr lang="en-GB" dirty="0">
              <a:solidFill>
                <a:schemeClr val="accent6">
                  <a:lumMod val="75000"/>
                </a:schemeClr>
              </a:solidFill>
              <a:cs typeface="Arial"/>
            </a:endParaRPr>
          </a:p>
        </p:txBody>
      </p:sp>
    </p:spTree>
    <p:extLst>
      <p:ext uri="{BB962C8B-B14F-4D97-AF65-F5344CB8AC3E}">
        <p14:creationId xmlns:p14="http://schemas.microsoft.com/office/powerpoint/2010/main" val="1448603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repeatCount="indefinite" accel="25000" decel="25000" autoRev="1" fill="hold" grpId="0" nodeType="withEffect">
                                  <p:stCondLst>
                                    <p:cond delay="0"/>
                                  </p:stCondLst>
                                  <p:childTnLst>
                                    <p:animMotion origin="layout" path="M 0 0 L -0.25 0 E" pathEditMode="relative" ptsTypes="">
                                      <p:cBhvr>
                                        <p:cTn id="6" dur="4000" fill="hold"/>
                                        <p:tgtEl>
                                          <p:spTgt spid="24"/>
                                        </p:tgtEl>
                                        <p:attrNameLst>
                                          <p:attrName>ppt_x</p:attrName>
                                          <p:attrName>ppt_y</p:attrName>
                                        </p:attrNameLst>
                                      </p:cBhvr>
                                    </p:animMotion>
                                  </p:childTnLst>
                                </p:cTn>
                              </p:par>
                              <p:par>
                                <p:cTn id="7" presetID="63" presetClass="path" presetSubtype="0" repeatCount="indefinite" accel="25000" decel="25000" autoRev="1" fill="hold" grpId="0" nodeType="withEffect">
                                  <p:stCondLst>
                                    <p:cond delay="0"/>
                                  </p:stCondLst>
                                  <p:childTnLst>
                                    <p:animMotion origin="layout" path="M -3.33333E-6 0 L 0.25 0 " pathEditMode="relative" rAng="0" ptsTypes="AA">
                                      <p:cBhvr>
                                        <p:cTn id="8" dur="4000" fill="hold"/>
                                        <p:tgtEl>
                                          <p:spTgt spid="31"/>
                                        </p:tgtEl>
                                        <p:attrNameLst>
                                          <p:attrName>ppt_x</p:attrName>
                                          <p:attrName>ppt_y</p:attrName>
                                        </p:attrNameLst>
                                      </p:cBhvr>
                                      <p:rCtr x="12500" y="0"/>
                                    </p:animMotion>
                                  </p:childTnLst>
                                </p:cTn>
                              </p:par>
                              <p:par>
                                <p:cTn id="9" presetID="63" presetClass="path" presetSubtype="0" repeatCount="indefinite" accel="50000" decel="50000" autoRev="1" fill="hold" grpId="0" nodeType="withEffect">
                                  <p:stCondLst>
                                    <p:cond delay="0"/>
                                  </p:stCondLst>
                                  <p:childTnLst>
                                    <p:animMotion origin="layout" path="M -1.66667E-6 0 L 0.25 0 " pathEditMode="relative" rAng="0" ptsTypes="AA">
                                      <p:cBhvr>
                                        <p:cTn id="10" dur="4000" fill="hold"/>
                                        <p:tgtEl>
                                          <p:spTgt spid="27"/>
                                        </p:tgtEl>
                                        <p:attrNameLst>
                                          <p:attrName>ppt_x</p:attrName>
                                          <p:attrName>ppt_y</p:attrName>
                                        </p:attrNameLst>
                                      </p:cBhvr>
                                      <p:rCtr x="12500" y="0"/>
                                    </p:animMotion>
                                  </p:childTnLst>
                                </p:cTn>
                              </p:par>
                              <p:par>
                                <p:cTn id="11" presetID="35" presetClass="path" presetSubtype="0" repeatCount="indefinite" accel="25000" decel="25000" autoRev="1" fill="hold" grpId="0" nodeType="withEffect">
                                  <p:stCondLst>
                                    <p:cond delay="0"/>
                                  </p:stCondLst>
                                  <p:childTnLst>
                                    <p:animMotion origin="layout" path="M 0 0 L -0.25 0 E" pathEditMode="relative" ptsTypes="">
                                      <p:cBhvr>
                                        <p:cTn id="12" dur="3750" fill="hold"/>
                                        <p:tgtEl>
                                          <p:spTgt spid="21"/>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6" presetClass="entr" presetSubtype="21"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inVertical)">
                                      <p:cBhvr>
                                        <p:cTn id="19" dur="2250"/>
                                        <p:tgtEl>
                                          <p:spTgt spid="2"/>
                                        </p:tgtEl>
                                      </p:cBhvr>
                                    </p:animEffect>
                                  </p:childTnLst>
                                </p:cTn>
                              </p:par>
                            </p:childTnLst>
                          </p:cTn>
                        </p:par>
                        <p:par>
                          <p:cTn id="20" fill="hold">
                            <p:stCondLst>
                              <p:cond delay="2250"/>
                            </p:stCondLst>
                            <p:childTnLst>
                              <p:par>
                                <p:cTn id="21" presetID="10" presetClass="entr" presetSubtype="0" fill="hold" grpId="1"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1" grpId="0" animBg="1"/>
      <p:bldP spid="24" grpId="0" animBg="1"/>
      <p:bldP spid="27" grpId="0" animBg="1"/>
      <p:bldP spid="31" grpId="0" animBg="1"/>
      <p:bldP spid="2" grpId="0"/>
      <p:bldP spid="2"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220DCC0-B633-1685-DE03-41286CEA221D}"/>
              </a:ext>
            </a:extLst>
          </p:cNvPr>
          <p:cNvSpPr>
            <a:spLocks noGrp="1"/>
          </p:cNvSpPr>
          <p:nvPr>
            <p:ph type="title"/>
          </p:nvPr>
        </p:nvSpPr>
        <p:spPr>
          <a:xfrm>
            <a:off x="320040" y="2551045"/>
            <a:ext cx="4306824" cy="1477817"/>
          </a:xfrm>
        </p:spPr>
        <p:txBody>
          <a:bodyPr vert="horz" lIns="91440" tIns="45720" rIns="91440" bIns="45720" rtlCol="0" anchor="t">
            <a:normAutofit/>
          </a:bodyPr>
          <a:lstStyle/>
          <a:p>
            <a:pPr>
              <a:lnSpc>
                <a:spcPct val="100000"/>
              </a:lnSpc>
            </a:pPr>
            <a:r>
              <a:rPr lang="en-US" sz="4000" b="1" dirty="0"/>
              <a:t>Agenda Overview</a:t>
            </a:r>
          </a:p>
        </p:txBody>
      </p:sp>
      <p:sp>
        <p:nvSpPr>
          <p:cNvPr id="4" name="Content Placeholder 3">
            <a:extLst>
              <a:ext uri="{FF2B5EF4-FFF2-40B4-BE49-F238E27FC236}">
                <a16:creationId xmlns:a16="http://schemas.microsoft.com/office/drawing/2014/main" id="{E6F490AE-699C-334A-0B72-8AEFB582896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GB" sz="1400" b="1" dirty="0"/>
              <a:t>A. Introduction to Microsoft Fabric</a:t>
            </a:r>
          </a:p>
          <a:p>
            <a:pPr marL="0" lvl="1" indent="0">
              <a:buNone/>
            </a:pPr>
            <a:r>
              <a:rPr lang="en-GB" sz="1400" dirty="0"/>
              <a:t>We will start with an overview of Microsoft Fabric and its key functionalities that set it apart in the market.</a:t>
            </a:r>
          </a:p>
          <a:p>
            <a:pPr marL="0" indent="0">
              <a:spcBef>
                <a:spcPts val="2500"/>
              </a:spcBef>
              <a:buNone/>
            </a:pPr>
            <a:r>
              <a:rPr lang="en-GB" sz="1400" b="1" dirty="0"/>
              <a:t>B. What is Microsoft Fabric?</a:t>
            </a:r>
          </a:p>
          <a:p>
            <a:pPr marL="0" lvl="1" indent="0">
              <a:buNone/>
            </a:pPr>
            <a:r>
              <a:rPr lang="en-GB" sz="1400" dirty="0"/>
              <a:t>Next, we will explore the various features and benefits that Microsoft Fabric provides to organizations looking to enhance their operations.</a:t>
            </a:r>
          </a:p>
          <a:p>
            <a:pPr marL="0" indent="0">
              <a:spcBef>
                <a:spcPts val="2500"/>
              </a:spcBef>
              <a:buNone/>
            </a:pPr>
            <a:r>
              <a:rPr lang="en-GB" sz="1400" b="1" dirty="0"/>
              <a:t>C. Key Areas of Evaluation</a:t>
            </a:r>
          </a:p>
          <a:p>
            <a:pPr marL="0" lvl="1" indent="0">
              <a:buNone/>
            </a:pPr>
            <a:r>
              <a:rPr lang="en-GB" sz="1300" dirty="0"/>
              <a:t>1</a:t>
            </a:r>
            <a:r>
              <a:rPr lang="en-GB" sz="1400" dirty="0"/>
              <a:t>. Data Ingestion Speed</a:t>
            </a:r>
          </a:p>
          <a:p>
            <a:pPr marL="0" lvl="1" indent="0">
              <a:buNone/>
            </a:pPr>
            <a:r>
              <a:rPr lang="en-GB" sz="1400" dirty="0"/>
              <a:t>2. Cost Analysis</a:t>
            </a:r>
          </a:p>
          <a:p>
            <a:pPr marL="0" lvl="1" indent="0">
              <a:buNone/>
            </a:pPr>
            <a:r>
              <a:rPr lang="en-GB" sz="1400" dirty="0"/>
              <a:t>3. Migration from Azure Synapse</a:t>
            </a:r>
          </a:p>
          <a:p>
            <a:pPr marL="0" lvl="1" indent="0">
              <a:buNone/>
            </a:pPr>
            <a:r>
              <a:rPr lang="en-GB" sz="1400" dirty="0"/>
              <a:t>4. Security &amp; Access Control</a:t>
            </a:r>
          </a:p>
          <a:p>
            <a:pPr marL="0" lvl="1" indent="0">
              <a:buNone/>
            </a:pPr>
            <a:r>
              <a:rPr lang="en-GB" sz="1400" dirty="0"/>
              <a:t>5. CI/CD &amp; Environments</a:t>
            </a:r>
          </a:p>
          <a:p>
            <a:pPr marL="0" lvl="1" indent="0">
              <a:buNone/>
            </a:pPr>
            <a:r>
              <a:rPr lang="en-GB" sz="1400" dirty="0"/>
              <a:t>6. Monitoring &amp; Purview Integration</a:t>
            </a:r>
          </a:p>
          <a:p>
            <a:pPr marL="0" lvl="1" indent="0">
              <a:buNone/>
            </a:pPr>
            <a:r>
              <a:rPr lang="en-GB" sz="1400" dirty="0"/>
              <a:t>7. Common Issues &amp; Solutions</a:t>
            </a:r>
          </a:p>
        </p:txBody>
      </p:sp>
      <p:pic>
        <p:nvPicPr>
          <p:cNvPr id="7" name="Picture 6" descr="A logo of a company&#10;&#10;Description automatically generated">
            <a:extLst>
              <a:ext uri="{FF2B5EF4-FFF2-40B4-BE49-F238E27FC236}">
                <a16:creationId xmlns:a16="http://schemas.microsoft.com/office/drawing/2014/main" id="{28D663F9-7F6F-D268-D896-B33F4A3397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2094" y="562136"/>
            <a:ext cx="1405356" cy="1405356"/>
          </a:xfrm>
          <a:prstGeom prst="rect">
            <a:avLst/>
          </a:prstGeom>
        </p:spPr>
      </p:pic>
      <p:sp>
        <p:nvSpPr>
          <p:cNvPr id="9" name="TextBox 8">
            <a:extLst>
              <a:ext uri="{FF2B5EF4-FFF2-40B4-BE49-F238E27FC236}">
                <a16:creationId xmlns:a16="http://schemas.microsoft.com/office/drawing/2014/main" id="{A5571F4B-9257-5255-F1B5-43B60188FBEA}"/>
              </a:ext>
            </a:extLst>
          </p:cNvPr>
          <p:cNvSpPr txBox="1"/>
          <p:nvPr/>
        </p:nvSpPr>
        <p:spPr>
          <a:xfrm>
            <a:off x="50415" y="3685232"/>
            <a:ext cx="4718355" cy="2259336"/>
          </a:xfrm>
          <a:prstGeom prst="rect">
            <a:avLst/>
          </a:prstGeom>
          <a:noFill/>
        </p:spPr>
        <p:txBody>
          <a:bodyPr wrap="square">
            <a:spAutoFit/>
          </a:bodyPr>
          <a:lstStyle/>
          <a:p>
            <a:pPr algn="ctr">
              <a:lnSpc>
                <a:spcPct val="107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Objective</a:t>
            </a: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7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The Proof of Concept (POC) for Microsoft Fabric focuses on evaluating its capabilities in terms of data ingestion speed, cost efficiency, and migration feasibility from existing systems like Azure Synapse Analytics.</a:t>
            </a: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398951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Arc 2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5E08EDD-7264-56D1-F25C-CF19705059CE}"/>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b="1" kern="1200">
                <a:solidFill>
                  <a:schemeClr val="tx1"/>
                </a:solidFill>
                <a:latin typeface="+mj-lt"/>
                <a:ea typeface="+mj-ea"/>
                <a:cs typeface="+mj-cs"/>
              </a:rPr>
              <a:t>Introduction to Microsoft Fabric</a:t>
            </a:r>
          </a:p>
        </p:txBody>
      </p:sp>
      <p:sp>
        <p:nvSpPr>
          <p:cNvPr id="23" name="Freeform: Shape 2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Picture 7" descr="A screenshot of a computer&#10;&#10;Description automatically generated">
            <a:extLst>
              <a:ext uri="{FF2B5EF4-FFF2-40B4-BE49-F238E27FC236}">
                <a16:creationId xmlns:a16="http://schemas.microsoft.com/office/drawing/2014/main" id="{C22EE0AD-B392-3E1E-3C38-6EEA7B0DA9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182" y="2000490"/>
            <a:ext cx="4777381" cy="2687276"/>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 name="Content Placeholder 3">
            <a:extLst>
              <a:ext uri="{FF2B5EF4-FFF2-40B4-BE49-F238E27FC236}">
                <a16:creationId xmlns:a16="http://schemas.microsoft.com/office/drawing/2014/main" id="{A2683430-1DA0-7F80-5B6F-D7C2E9F0CCA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94962" y="1984443"/>
            <a:ext cx="5458838" cy="4192520"/>
          </a:xfrm>
        </p:spPr>
        <p:txBody>
          <a:bodyPr>
            <a:normAutofit/>
          </a:bodyPr>
          <a:lstStyle/>
          <a:p>
            <a:pPr marL="0" indent="0">
              <a:spcBef>
                <a:spcPts val="2500"/>
              </a:spcBef>
              <a:buNone/>
            </a:pPr>
            <a:r>
              <a:rPr lang="en-GB" sz="1400" b="1" dirty="0"/>
              <a:t>Unified Analytics Platform</a:t>
            </a:r>
          </a:p>
          <a:p>
            <a:pPr marL="0" lvl="1" indent="0">
              <a:buNone/>
            </a:pPr>
            <a:r>
              <a:rPr lang="en-GB" sz="1400" dirty="0"/>
              <a:t>Microsoft Fabric serves as a unified analytics platform that integrates multiple data services and tools for analytics.</a:t>
            </a:r>
          </a:p>
          <a:p>
            <a:pPr marL="0" indent="0">
              <a:spcBef>
                <a:spcPts val="2500"/>
              </a:spcBef>
              <a:buNone/>
            </a:pPr>
            <a:r>
              <a:rPr lang="en-GB" sz="1400" b="1" dirty="0"/>
              <a:t>Empowering Organizations</a:t>
            </a:r>
          </a:p>
          <a:p>
            <a:pPr marL="0" lvl="1" indent="0">
              <a:buNone/>
            </a:pPr>
            <a:r>
              <a:rPr lang="en-GB" sz="1400" dirty="0"/>
              <a:t>The platform empowers organizations to effectively harness data analytics for improved decision-making and streamlined operations.</a:t>
            </a:r>
          </a:p>
          <a:p>
            <a:pPr marL="0" indent="0">
              <a:spcBef>
                <a:spcPts val="2500"/>
              </a:spcBef>
              <a:buNone/>
            </a:pPr>
            <a:r>
              <a:rPr lang="en-GB" sz="1400" b="1" dirty="0"/>
              <a:t>Streamlined Operations</a:t>
            </a:r>
          </a:p>
          <a:p>
            <a:pPr marL="0" lvl="1" indent="0">
              <a:buNone/>
            </a:pPr>
            <a:r>
              <a:rPr lang="en-GB" sz="1400" dirty="0"/>
              <a:t>Microsoft Fabric helps organizations streamline operations by making data analytics more accessible and actionable.</a:t>
            </a:r>
          </a:p>
        </p:txBody>
      </p:sp>
    </p:spTree>
    <p:extLst>
      <p:ext uri="{BB962C8B-B14F-4D97-AF65-F5344CB8AC3E}">
        <p14:creationId xmlns:p14="http://schemas.microsoft.com/office/powerpoint/2010/main" val="24272731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2ACF0-E0EA-790D-9AB4-2E28E609F7F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What is Microsoft Fabric?</a:t>
            </a:r>
          </a:p>
        </p:txBody>
      </p:sp>
      <p:graphicFrame>
        <p:nvGraphicFramePr>
          <p:cNvPr id="4" name="Content Placeholder 4">
            <a:extLst>
              <a:ext uri="{FF2B5EF4-FFF2-40B4-BE49-F238E27FC236}">
                <a16:creationId xmlns:a16="http://schemas.microsoft.com/office/drawing/2014/main" id="{772CDA9D-ADC9-4DC1-8B33-FF7096E563BF}"/>
              </a:ext>
            </a:extLst>
          </p:cNvPr>
          <p:cNvGraphicFramePr>
            <a:graphicFrameLocks noGrp="1"/>
          </p:cNvGraphicFramePr>
          <p:nvPr>
            <p:ph idx="1"/>
            <p:extLst>
              <p:ext uri="{D42A27DB-BD31-4B8C-83A1-F6EECF244321}">
                <p14:modId xmlns:p14="http://schemas.microsoft.com/office/powerpoint/2010/main" val="262861371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32670" y="1014984"/>
          <a:ext cx="7029274" cy="5314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9517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6EAA02B-A2B9-0AE3-534B-E59D166D9553}"/>
              </a:ext>
            </a:extLst>
          </p:cNvPr>
          <p:cNvSpPr>
            <a:spLocks noGrp="1"/>
          </p:cNvSpPr>
          <p:nvPr>
            <p:ph type="title"/>
          </p:nvPr>
        </p:nvSpPr>
        <p:spPr>
          <a:xfrm>
            <a:off x="6466114" y="560078"/>
            <a:ext cx="5064896" cy="1451602"/>
          </a:xfrm>
        </p:spPr>
        <p:txBody>
          <a:bodyPr vert="horz" lIns="91440" tIns="45720" rIns="91440" bIns="45720" rtlCol="0" anchor="t">
            <a:normAutofit/>
          </a:bodyPr>
          <a:lstStyle/>
          <a:p>
            <a:r>
              <a:rPr lang="en-US" sz="3400" b="1" dirty="0"/>
              <a:t>Core Components of Microsoft Fabric</a:t>
            </a:r>
          </a:p>
        </p:txBody>
      </p:sp>
      <p:sp>
        <p:nvSpPr>
          <p:cNvPr id="4" name="Content Placeholder 3">
            <a:extLst>
              <a:ext uri="{FF2B5EF4-FFF2-40B4-BE49-F238E27FC236}">
                <a16:creationId xmlns:a16="http://schemas.microsoft.com/office/drawing/2014/main" id="{6A5525E3-221A-ACF5-8236-99C58F681CA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66114" y="1926778"/>
            <a:ext cx="5064896" cy="4371144"/>
          </a:xfrm>
        </p:spPr>
        <p:txBody>
          <a:bodyPr>
            <a:normAutofit lnSpcReduction="10000"/>
          </a:bodyPr>
          <a:lstStyle/>
          <a:p>
            <a:pPr marL="0" indent="0">
              <a:spcBef>
                <a:spcPts val="2500"/>
              </a:spcBef>
              <a:buNone/>
            </a:pPr>
            <a:r>
              <a:rPr lang="en-GB" sz="1400" b="1" dirty="0"/>
              <a:t>Data Factory</a:t>
            </a:r>
          </a:p>
          <a:p>
            <a:pPr marL="0" lvl="1" indent="0">
              <a:buNone/>
            </a:pPr>
            <a:r>
              <a:rPr lang="en-GB" sz="1400" dirty="0"/>
              <a:t>Data Factory is essential for orchestrating data processes and workflows, ensuring efficient data movement and transformation.</a:t>
            </a:r>
          </a:p>
          <a:p>
            <a:pPr marL="0" indent="0">
              <a:spcBef>
                <a:spcPts val="2500"/>
              </a:spcBef>
              <a:buNone/>
            </a:pPr>
            <a:r>
              <a:rPr lang="en-GB" sz="1400" b="1" dirty="0"/>
              <a:t>Synapse Analytics</a:t>
            </a:r>
          </a:p>
          <a:p>
            <a:pPr marL="0" lvl="1" indent="0">
              <a:buNone/>
            </a:pPr>
            <a:r>
              <a:rPr lang="en-GB" sz="1400" dirty="0"/>
              <a:t>Synapse provides powerful data warehousing solutions, enabling organizations to store and </a:t>
            </a:r>
            <a:r>
              <a:rPr lang="en-GB" sz="1400" dirty="0" err="1"/>
              <a:t>analyze</a:t>
            </a:r>
            <a:r>
              <a:rPr lang="en-GB" sz="1400" dirty="0"/>
              <a:t> large volumes of data effectively.</a:t>
            </a:r>
          </a:p>
          <a:p>
            <a:pPr marL="0" indent="0">
              <a:spcBef>
                <a:spcPts val="2500"/>
              </a:spcBef>
              <a:buNone/>
            </a:pPr>
            <a:r>
              <a:rPr lang="en-GB" sz="1400" b="1" dirty="0"/>
              <a:t>Power BI</a:t>
            </a:r>
          </a:p>
          <a:p>
            <a:pPr marL="0" lvl="1" indent="0">
              <a:buNone/>
            </a:pPr>
            <a:r>
              <a:rPr lang="en-GB" sz="1400" dirty="0"/>
              <a:t>Power BI facilitates data visualization, allowing users to create interactive dashboards and reports for data insights.</a:t>
            </a:r>
          </a:p>
          <a:p>
            <a:pPr marL="0" lvl="1" indent="0">
              <a:buNone/>
            </a:pPr>
            <a:endParaRPr lang="en-GB" sz="1400" dirty="0"/>
          </a:p>
          <a:p>
            <a:pPr marL="0" lvl="1" indent="0">
              <a:buNone/>
            </a:pPr>
            <a:r>
              <a:rPr lang="en-GB" sz="1400" b="1" dirty="0"/>
              <a:t>ML </a:t>
            </a:r>
          </a:p>
          <a:p>
            <a:pPr marL="0" lvl="1" indent="0">
              <a:buNone/>
            </a:pPr>
            <a:r>
              <a:rPr lang="en-GB" sz="1400" dirty="0"/>
              <a:t>Microsoft Fabric integrates machine learning (ML) capabilities as part of its unified analytics platform, enabling data scientists and engineers to build, deploy, and manage ML models seamlessly. Below are the core ML components in Microsoft Fabric:</a:t>
            </a:r>
          </a:p>
        </p:txBody>
      </p:sp>
      <p:pic>
        <p:nvPicPr>
          <p:cNvPr id="7" name="Picture 6" descr="A screenshot of a computer&#10;&#10;Description automatically generated">
            <a:extLst>
              <a:ext uri="{FF2B5EF4-FFF2-40B4-BE49-F238E27FC236}">
                <a16:creationId xmlns:a16="http://schemas.microsoft.com/office/drawing/2014/main" id="{4E3DD684-2316-55B6-161D-141CC56FD67F}"/>
              </a:ext>
            </a:extLst>
          </p:cNvPr>
          <p:cNvPicPr>
            <a:picLocks noChangeAspect="1"/>
          </p:cNvPicPr>
          <p:nvPr/>
        </p:nvPicPr>
        <p:blipFill>
          <a:blip r:embed="rId3"/>
          <a:stretch>
            <a:fillRect/>
          </a:stretch>
        </p:blipFill>
        <p:spPr>
          <a:xfrm>
            <a:off x="93979" y="1031000"/>
            <a:ext cx="6225355" cy="4795997"/>
          </a:xfrm>
          <a:prstGeom prst="rect">
            <a:avLst/>
          </a:prstGeom>
        </p:spPr>
      </p:pic>
      <p:sp>
        <p:nvSpPr>
          <p:cNvPr id="9" name="TextBox 8">
            <a:extLst>
              <a:ext uri="{FF2B5EF4-FFF2-40B4-BE49-F238E27FC236}">
                <a16:creationId xmlns:a16="http://schemas.microsoft.com/office/drawing/2014/main" id="{612072BA-C8A0-746C-CB97-A3547A43EDE6}"/>
              </a:ext>
            </a:extLst>
          </p:cNvPr>
          <p:cNvSpPr txBox="1"/>
          <p:nvPr/>
        </p:nvSpPr>
        <p:spPr>
          <a:xfrm>
            <a:off x="93979" y="590075"/>
            <a:ext cx="6096000" cy="897618"/>
          </a:xfrm>
          <a:prstGeom prst="rect">
            <a:avLst/>
          </a:prstGeom>
          <a:noFill/>
        </p:spPr>
        <p:txBody>
          <a:bodyPr wrap="square">
            <a:spAutoFit/>
          </a:bodyPr>
          <a:lstStyle/>
          <a:p>
            <a:pPr algn="ctr">
              <a:lnSpc>
                <a:spcPct val="107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Layout of standard Ingestion Model</a:t>
            </a:r>
            <a:br>
              <a:rPr lang="en-GB" sz="1800" b="1" kern="100" dirty="0">
                <a:effectLst/>
                <a:latin typeface="Aptos" panose="020B0004020202020204" pitchFamily="34" charset="0"/>
                <a:ea typeface="Aptos" panose="020B0004020202020204" pitchFamily="34" charset="0"/>
                <a:cs typeface="Times New Roman" panose="02020603050405020304" pitchFamily="18" charset="0"/>
              </a:rPr>
            </a:br>
            <a:endParaRPr lang="en-GB" sz="3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549577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8A80220-5B38-9747-B1CD-003CD2788F77}"/>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1" kern="1200">
                <a:solidFill>
                  <a:srgbClr val="FFFFFF"/>
                </a:solidFill>
                <a:latin typeface="+mj-lt"/>
                <a:ea typeface="+mj-ea"/>
                <a:cs typeface="+mj-cs"/>
              </a:rPr>
              <a:t>POC Assessment</a:t>
            </a:r>
          </a:p>
        </p:txBody>
      </p:sp>
    </p:spTree>
    <p:extLst>
      <p:ext uri="{BB962C8B-B14F-4D97-AF65-F5344CB8AC3E}">
        <p14:creationId xmlns:p14="http://schemas.microsoft.com/office/powerpoint/2010/main" val="710181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08011-4A95-9C4E-87AD-E376236D866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001D32-8E7E-41F7-AB53-37BAE161AB80}"/>
              </a:ext>
            </a:extLst>
          </p:cNvPr>
          <p:cNvSpPr txBox="1"/>
          <p:nvPr/>
        </p:nvSpPr>
        <p:spPr>
          <a:xfrm>
            <a:off x="674914" y="300575"/>
            <a:ext cx="6096000" cy="378565"/>
          </a:xfrm>
          <a:prstGeom prst="rect">
            <a:avLst/>
          </a:prstGeom>
          <a:noFill/>
        </p:spPr>
        <p:txBody>
          <a:bodyPr wrap="square">
            <a:spAutoFit/>
          </a:bodyPr>
          <a:lstStyle/>
          <a:p>
            <a:pPr marL="740664" indent="-283464" algn="l" rtl="0" eaLnBrk="1" latinLnBrk="0" hangingPunct="1">
              <a:lnSpc>
                <a:spcPct val="107000"/>
              </a:lnSpc>
              <a:spcAft>
                <a:spcPts val="800"/>
              </a:spcAft>
            </a:pPr>
            <a:r>
              <a:rPr lang="en-GB" b="1" dirty="0">
                <a:solidFill>
                  <a:srgbClr val="000000"/>
                </a:solidFill>
                <a:effectLst/>
                <a:latin typeface="Aptos" panose="020B0004020202020204" pitchFamily="34" charset="0"/>
              </a:rPr>
              <a:t>1. Data Ingestion Speed</a:t>
            </a:r>
            <a:endParaRPr lang="en-GB" dirty="0">
              <a:solidFill>
                <a:srgbClr val="000000"/>
              </a:solidFill>
              <a:effectLst/>
              <a:latin typeface="Aptos" panose="020B0004020202020204" pitchFamily="34" charset="0"/>
            </a:endParaRPr>
          </a:p>
        </p:txBody>
      </p:sp>
      <p:sp>
        <p:nvSpPr>
          <p:cNvPr id="5" name="TextBox 4">
            <a:extLst>
              <a:ext uri="{FF2B5EF4-FFF2-40B4-BE49-F238E27FC236}">
                <a16:creationId xmlns:a16="http://schemas.microsoft.com/office/drawing/2014/main" id="{9BFC86D2-6CE8-4D0D-34BC-E72172989811}"/>
              </a:ext>
            </a:extLst>
          </p:cNvPr>
          <p:cNvSpPr txBox="1"/>
          <p:nvPr/>
        </p:nvSpPr>
        <p:spPr>
          <a:xfrm>
            <a:off x="478971" y="1073461"/>
            <a:ext cx="6096000" cy="378565"/>
          </a:xfrm>
          <a:prstGeom prst="rect">
            <a:avLst/>
          </a:prstGeom>
          <a:noFill/>
        </p:spPr>
        <p:txBody>
          <a:bodyPr wrap="square">
            <a:spAutoFit/>
          </a:bodyPr>
          <a:lstStyle/>
          <a:p>
            <a:pPr marL="457200" algn="l" rtl="0" eaLnBrk="1" latinLnBrk="0" hangingPunct="1">
              <a:lnSpc>
                <a:spcPct val="107000"/>
              </a:lnSpc>
              <a:spcAft>
                <a:spcPts val="800"/>
              </a:spcAft>
            </a:pPr>
            <a:r>
              <a:rPr lang="en-GB" b="1" dirty="0">
                <a:solidFill>
                  <a:srgbClr val="000000"/>
                </a:solidFill>
                <a:effectLst/>
                <a:latin typeface="Aptos" panose="020B0004020202020204" pitchFamily="34" charset="0"/>
              </a:rPr>
              <a:t>Performance Metrics:</a:t>
            </a:r>
            <a:endParaRPr lang="en-GB" dirty="0">
              <a:solidFill>
                <a:srgbClr val="000000"/>
              </a:solidFill>
              <a:effectLst/>
              <a:latin typeface="Aptos" panose="020B0004020202020204" pitchFamily="34" charset="0"/>
            </a:endParaRPr>
          </a:p>
        </p:txBody>
      </p:sp>
      <p:sp>
        <p:nvSpPr>
          <p:cNvPr id="7" name="TextBox 6">
            <a:extLst>
              <a:ext uri="{FF2B5EF4-FFF2-40B4-BE49-F238E27FC236}">
                <a16:creationId xmlns:a16="http://schemas.microsoft.com/office/drawing/2014/main" id="{ABB9EFBA-14BE-300C-E699-94A08170F7AA}"/>
              </a:ext>
            </a:extLst>
          </p:cNvPr>
          <p:cNvSpPr txBox="1"/>
          <p:nvPr/>
        </p:nvSpPr>
        <p:spPr>
          <a:xfrm>
            <a:off x="892628" y="1581910"/>
            <a:ext cx="6096000" cy="646331"/>
          </a:xfrm>
          <a:prstGeom prst="rect">
            <a:avLst/>
          </a:prstGeom>
          <a:noFill/>
        </p:spPr>
        <p:txBody>
          <a:bodyPr wrap="square">
            <a:spAutoFit/>
          </a:bodyPr>
          <a:lstStyle/>
          <a:p>
            <a:r>
              <a:rPr lang="en-GB" sz="1800" dirty="0">
                <a:solidFill>
                  <a:srgbClr val="323232"/>
                </a:solidFill>
                <a:effectLst/>
                <a:latin typeface="Lato" panose="020F0502020204030204" pitchFamily="34" charset="0"/>
                <a:ea typeface="Times New Roman" panose="02020603050405020304" pitchFamily="18" charset="0"/>
                <a:cs typeface="Calibri" panose="020F0502020204030204" pitchFamily="34" charset="0"/>
              </a:rPr>
              <a:t>Load data into </a:t>
            </a:r>
            <a:r>
              <a:rPr lang="en-GB" sz="1800" dirty="0" err="1">
                <a:solidFill>
                  <a:srgbClr val="323232"/>
                </a:solidFill>
                <a:effectLst/>
                <a:latin typeface="Lato" panose="020F0502020204030204" pitchFamily="34" charset="0"/>
                <a:ea typeface="Times New Roman" panose="02020603050405020304" pitchFamily="18" charset="0"/>
                <a:cs typeface="Calibri" panose="020F0502020204030204" pitchFamily="34" charset="0"/>
              </a:rPr>
              <a:t>OneLake</a:t>
            </a:r>
            <a:r>
              <a:rPr lang="en-GB" sz="1800" dirty="0">
                <a:solidFill>
                  <a:srgbClr val="323232"/>
                </a:solidFill>
                <a:effectLst/>
                <a:latin typeface="Lato" panose="020F0502020204030204" pitchFamily="34" charset="0"/>
                <a:ea typeface="Times New Roman" panose="02020603050405020304" pitchFamily="18" charset="0"/>
                <a:cs typeface="Calibri" panose="020F0502020204030204" pitchFamily="34" charset="0"/>
              </a:rPr>
              <a:t> tables from Azure Blob Storage, where no public access to Azure.</a:t>
            </a:r>
            <a:endParaRPr lang="en-GB" dirty="0"/>
          </a:p>
        </p:txBody>
      </p:sp>
      <p:graphicFrame>
        <p:nvGraphicFramePr>
          <p:cNvPr id="17" name="TextBox 14">
            <a:extLst>
              <a:ext uri="{FF2B5EF4-FFF2-40B4-BE49-F238E27FC236}">
                <a16:creationId xmlns:a16="http://schemas.microsoft.com/office/drawing/2014/main" id="{3812354C-8D88-586D-281D-7A5023DF4EC6}"/>
              </a:ext>
            </a:extLst>
          </p:cNvPr>
          <p:cNvGraphicFramePr/>
          <p:nvPr>
            <p:extLst>
              <p:ext uri="{D42A27DB-BD31-4B8C-83A1-F6EECF244321}">
                <p14:modId xmlns:p14="http://schemas.microsoft.com/office/powerpoint/2010/main" val="2751424255"/>
              </p:ext>
            </p:extLst>
          </p:nvPr>
        </p:nvGraphicFramePr>
        <p:xfrm>
          <a:off x="478971" y="2536372"/>
          <a:ext cx="11342915" cy="18717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Table 5">
            <a:extLst>
              <a:ext uri="{FF2B5EF4-FFF2-40B4-BE49-F238E27FC236}">
                <a16:creationId xmlns:a16="http://schemas.microsoft.com/office/drawing/2014/main" id="{3CC45D98-CCDD-1D63-727A-B27B806CF879}"/>
              </a:ext>
            </a:extLst>
          </p:cNvPr>
          <p:cNvGraphicFramePr>
            <a:graphicFrameLocks noGrp="1"/>
          </p:cNvGraphicFramePr>
          <p:nvPr>
            <p:extLst>
              <p:ext uri="{D42A27DB-BD31-4B8C-83A1-F6EECF244321}">
                <p14:modId xmlns:p14="http://schemas.microsoft.com/office/powerpoint/2010/main" val="3026899799"/>
              </p:ext>
            </p:extLst>
          </p:nvPr>
        </p:nvGraphicFramePr>
        <p:xfrm>
          <a:off x="3073315" y="4232668"/>
          <a:ext cx="6316248" cy="2086844"/>
        </p:xfrm>
        <a:graphic>
          <a:graphicData uri="http://schemas.openxmlformats.org/drawingml/2006/table">
            <a:tbl>
              <a:tblPr>
                <a:tableStyleId>{BC89EF96-8CEA-46FF-86C4-4CE0E7609802}</a:tableStyleId>
              </a:tblPr>
              <a:tblGrid>
                <a:gridCol w="1052708">
                  <a:extLst>
                    <a:ext uri="{9D8B030D-6E8A-4147-A177-3AD203B41FA5}">
                      <a16:colId xmlns:a16="http://schemas.microsoft.com/office/drawing/2014/main" val="927134366"/>
                    </a:ext>
                  </a:extLst>
                </a:gridCol>
                <a:gridCol w="1052708">
                  <a:extLst>
                    <a:ext uri="{9D8B030D-6E8A-4147-A177-3AD203B41FA5}">
                      <a16:colId xmlns:a16="http://schemas.microsoft.com/office/drawing/2014/main" val="3312568256"/>
                    </a:ext>
                  </a:extLst>
                </a:gridCol>
                <a:gridCol w="1052708">
                  <a:extLst>
                    <a:ext uri="{9D8B030D-6E8A-4147-A177-3AD203B41FA5}">
                      <a16:colId xmlns:a16="http://schemas.microsoft.com/office/drawing/2014/main" val="4026327994"/>
                    </a:ext>
                  </a:extLst>
                </a:gridCol>
                <a:gridCol w="1052708">
                  <a:extLst>
                    <a:ext uri="{9D8B030D-6E8A-4147-A177-3AD203B41FA5}">
                      <a16:colId xmlns:a16="http://schemas.microsoft.com/office/drawing/2014/main" val="2053512260"/>
                    </a:ext>
                  </a:extLst>
                </a:gridCol>
                <a:gridCol w="1052708">
                  <a:extLst>
                    <a:ext uri="{9D8B030D-6E8A-4147-A177-3AD203B41FA5}">
                      <a16:colId xmlns:a16="http://schemas.microsoft.com/office/drawing/2014/main" val="295293512"/>
                    </a:ext>
                  </a:extLst>
                </a:gridCol>
                <a:gridCol w="1052708">
                  <a:extLst>
                    <a:ext uri="{9D8B030D-6E8A-4147-A177-3AD203B41FA5}">
                      <a16:colId xmlns:a16="http://schemas.microsoft.com/office/drawing/2014/main" val="2867871204"/>
                    </a:ext>
                  </a:extLst>
                </a:gridCol>
              </a:tblGrid>
              <a:tr h="595443">
                <a:tc>
                  <a:txBody>
                    <a:bodyPr/>
                    <a:lstStyle/>
                    <a:p>
                      <a:pPr algn="l" fontAlgn="b"/>
                      <a:r>
                        <a:rPr lang="en-GB" sz="1100" b="0" i="0" u="none" strike="noStrike" dirty="0">
                          <a:solidFill>
                            <a:srgbClr val="000000"/>
                          </a:solidFill>
                          <a:effectLst/>
                          <a:latin typeface="Aptos Narrow" panose="020B0004020202020204" pitchFamily="34" charset="0"/>
                        </a:rPr>
                        <a:t>Task</a:t>
                      </a:r>
                    </a:p>
                  </a:txBody>
                  <a:tcPr marL="6350" marR="6350" marT="6350" marB="0" anchor="b"/>
                </a:tc>
                <a:tc>
                  <a:txBody>
                    <a:bodyPr/>
                    <a:lstStyle/>
                    <a:p>
                      <a:pPr algn="l" fontAlgn="b"/>
                      <a:r>
                        <a:rPr lang="en-GB" sz="1100" b="0" i="0" u="none" strike="noStrike" dirty="0">
                          <a:solidFill>
                            <a:srgbClr val="000000"/>
                          </a:solidFill>
                          <a:effectLst/>
                          <a:latin typeface="Aptos Narrow" panose="020B0004020202020204" pitchFamily="34" charset="0"/>
                        </a:rPr>
                        <a:t>16 </a:t>
                      </a:r>
                      <a:r>
                        <a:rPr lang="en-GB" sz="1100" b="0" i="0" u="none" strike="noStrike" dirty="0" err="1">
                          <a:solidFill>
                            <a:srgbClr val="000000"/>
                          </a:solidFill>
                          <a:effectLst/>
                          <a:latin typeface="Aptos Narrow" panose="020B0004020202020204" pitchFamily="34" charset="0"/>
                        </a:rPr>
                        <a:t>vCores</a:t>
                      </a:r>
                      <a:r>
                        <a:rPr lang="en-GB" sz="1100" b="0" i="0" u="none" strike="noStrike" dirty="0">
                          <a:solidFill>
                            <a:srgbClr val="000000"/>
                          </a:solidFill>
                          <a:effectLst/>
                          <a:latin typeface="Aptos Narrow" panose="020B0004020202020204" pitchFamily="34" charset="0"/>
                        </a:rPr>
                        <a:t> Time (minutes)</a:t>
                      </a:r>
                    </a:p>
                  </a:txBody>
                  <a:tcPr marL="6350" marR="6350" marT="6350" marB="0" anchor="b"/>
                </a:tc>
                <a:tc>
                  <a:txBody>
                    <a:bodyPr/>
                    <a:lstStyle/>
                    <a:p>
                      <a:pPr algn="l" fontAlgn="b"/>
                      <a:r>
                        <a:rPr lang="en-GB" sz="1100" b="0" i="0" u="none" strike="noStrike" dirty="0">
                          <a:solidFill>
                            <a:srgbClr val="000000"/>
                          </a:solidFill>
                          <a:effectLst/>
                          <a:latin typeface="Aptos Narrow" panose="020B0004020202020204" pitchFamily="34" charset="0"/>
                        </a:rPr>
                        <a:t>4 </a:t>
                      </a:r>
                      <a:r>
                        <a:rPr lang="en-GB" sz="1100" b="0" i="0" u="none" strike="noStrike" dirty="0" err="1">
                          <a:solidFill>
                            <a:srgbClr val="000000"/>
                          </a:solidFill>
                          <a:effectLst/>
                          <a:latin typeface="Aptos Narrow" panose="020B0004020202020204" pitchFamily="34" charset="0"/>
                        </a:rPr>
                        <a:t>vCores</a:t>
                      </a:r>
                      <a:r>
                        <a:rPr lang="en-GB" sz="1100" b="0" i="0" u="none" strike="noStrike" dirty="0">
                          <a:solidFill>
                            <a:srgbClr val="000000"/>
                          </a:solidFill>
                          <a:effectLst/>
                          <a:latin typeface="Aptos Narrow" panose="020B0004020202020204" pitchFamily="34" charset="0"/>
                        </a:rPr>
                        <a:t> Time (minutes)</a:t>
                      </a:r>
                    </a:p>
                  </a:txBody>
                  <a:tcPr marL="6350" marR="6350" marT="6350" marB="0" anchor="b"/>
                </a:tc>
                <a:tc>
                  <a:txBody>
                    <a:bodyPr/>
                    <a:lstStyle/>
                    <a:p>
                      <a:pPr algn="l" fontAlgn="b"/>
                      <a:r>
                        <a:rPr lang="en-GB" sz="1100" b="0" i="0" u="none" strike="noStrike" dirty="0">
                          <a:solidFill>
                            <a:srgbClr val="000000"/>
                          </a:solidFill>
                          <a:effectLst/>
                          <a:latin typeface="Aptos Narrow" panose="020B0004020202020204" pitchFamily="34" charset="0"/>
                        </a:rPr>
                        <a:t>SQLMI Time (minutes)</a:t>
                      </a:r>
                    </a:p>
                  </a:txBody>
                  <a:tcPr marL="6350" marR="6350" marT="6350" marB="0" anchor="b"/>
                </a:tc>
                <a:tc>
                  <a:txBody>
                    <a:bodyPr/>
                    <a:lstStyle/>
                    <a:p>
                      <a:pPr algn="l" fontAlgn="b"/>
                      <a:r>
                        <a:rPr lang="fr-FR" sz="1100" b="0" i="0" u="none" strike="noStrike" dirty="0" err="1">
                          <a:solidFill>
                            <a:srgbClr val="000000"/>
                          </a:solidFill>
                          <a:effectLst/>
                          <a:latin typeface="Aptos Narrow" panose="020B0004020202020204" pitchFamily="34" charset="0"/>
                        </a:rPr>
                        <a:t>Improvement</a:t>
                      </a:r>
                      <a:r>
                        <a:rPr lang="fr-FR" sz="1100" b="0" i="0" u="none" strike="noStrike" dirty="0">
                          <a:solidFill>
                            <a:srgbClr val="000000"/>
                          </a:solidFill>
                          <a:effectLst/>
                          <a:latin typeface="Aptos Narrow" panose="020B0004020202020204" pitchFamily="34" charset="0"/>
                        </a:rPr>
                        <a:t> (16 </a:t>
                      </a:r>
                      <a:r>
                        <a:rPr lang="fr-FR" sz="1100" b="0" i="0" u="none" strike="noStrike" dirty="0" err="1">
                          <a:solidFill>
                            <a:srgbClr val="000000"/>
                          </a:solidFill>
                          <a:effectLst/>
                          <a:latin typeface="Aptos Narrow" panose="020B0004020202020204" pitchFamily="34" charset="0"/>
                        </a:rPr>
                        <a:t>vCores</a:t>
                      </a:r>
                      <a:r>
                        <a:rPr lang="fr-FR" sz="1100" b="0" i="0" u="none" strike="noStrike" dirty="0">
                          <a:solidFill>
                            <a:srgbClr val="000000"/>
                          </a:solidFill>
                          <a:effectLst/>
                          <a:latin typeface="Aptos Narrow" panose="020B0004020202020204" pitchFamily="34" charset="0"/>
                        </a:rPr>
                        <a:t> vs 4 </a:t>
                      </a:r>
                      <a:r>
                        <a:rPr lang="fr-FR" sz="1100" b="0" i="0" u="none" strike="noStrike" dirty="0" err="1">
                          <a:solidFill>
                            <a:srgbClr val="000000"/>
                          </a:solidFill>
                          <a:effectLst/>
                          <a:latin typeface="Aptos Narrow" panose="020B0004020202020204" pitchFamily="34" charset="0"/>
                        </a:rPr>
                        <a:t>vCores</a:t>
                      </a:r>
                      <a:r>
                        <a:rPr lang="fr-FR" sz="1100" b="0" i="0" u="none" strike="noStrike" dirty="0">
                          <a:solidFill>
                            <a:srgbClr val="000000"/>
                          </a:solidFill>
                          <a:effectLst/>
                          <a:latin typeface="Aptos Narrow" panose="020B0004020202020204" pitchFamily="34" charset="0"/>
                        </a:rPr>
                        <a:t>)</a:t>
                      </a:r>
                    </a:p>
                  </a:txBody>
                  <a:tcPr marL="6350" marR="6350" marT="6350" marB="0" anchor="b"/>
                </a:tc>
                <a:tc>
                  <a:txBody>
                    <a:bodyPr/>
                    <a:lstStyle/>
                    <a:p>
                      <a:pPr algn="l" fontAlgn="b"/>
                      <a:r>
                        <a:rPr lang="fr-FR" sz="1100" b="0" i="0" u="none" strike="noStrike" dirty="0" err="1">
                          <a:solidFill>
                            <a:srgbClr val="000000"/>
                          </a:solidFill>
                          <a:effectLst/>
                          <a:latin typeface="Aptos Narrow" panose="020B0004020202020204" pitchFamily="34" charset="0"/>
                        </a:rPr>
                        <a:t>Improvement</a:t>
                      </a:r>
                      <a:r>
                        <a:rPr lang="fr-FR" sz="1100" b="0" i="0" u="none" strike="noStrike" dirty="0">
                          <a:solidFill>
                            <a:srgbClr val="000000"/>
                          </a:solidFill>
                          <a:effectLst/>
                          <a:latin typeface="Aptos Narrow" panose="020B0004020202020204" pitchFamily="34" charset="0"/>
                        </a:rPr>
                        <a:t> (16 </a:t>
                      </a:r>
                      <a:r>
                        <a:rPr lang="fr-FR" sz="1100" b="0" i="0" u="none" strike="noStrike" dirty="0" err="1">
                          <a:solidFill>
                            <a:srgbClr val="000000"/>
                          </a:solidFill>
                          <a:effectLst/>
                          <a:latin typeface="Aptos Narrow" panose="020B0004020202020204" pitchFamily="34" charset="0"/>
                        </a:rPr>
                        <a:t>vCores</a:t>
                      </a:r>
                      <a:r>
                        <a:rPr lang="fr-FR" sz="1100" b="0" i="0" u="none" strike="noStrike" dirty="0">
                          <a:solidFill>
                            <a:srgbClr val="000000"/>
                          </a:solidFill>
                          <a:effectLst/>
                          <a:latin typeface="Aptos Narrow" panose="020B0004020202020204" pitchFamily="34" charset="0"/>
                        </a:rPr>
                        <a:t> vs SQLMI)</a:t>
                      </a:r>
                    </a:p>
                  </a:txBody>
                  <a:tcPr marL="6350" marR="6350" marT="6350" marB="0" anchor="b"/>
                </a:tc>
                <a:extLst>
                  <a:ext uri="{0D108BD9-81ED-4DB2-BD59-A6C34878D82A}">
                    <a16:rowId xmlns:a16="http://schemas.microsoft.com/office/drawing/2014/main" val="3437726556"/>
                  </a:ext>
                </a:extLst>
              </a:tr>
              <a:tr h="447979">
                <a:tc>
                  <a:txBody>
                    <a:bodyPr/>
                    <a:lstStyle/>
                    <a:p>
                      <a:pPr algn="l" fontAlgn="b"/>
                      <a:r>
                        <a:rPr lang="en-GB" sz="1100" b="0" i="0" u="none" strike="noStrike">
                          <a:solidFill>
                            <a:srgbClr val="000000"/>
                          </a:solidFill>
                          <a:effectLst/>
                          <a:latin typeface="Aptos Narrow" panose="020B0004020202020204" pitchFamily="34" charset="0"/>
                        </a:rPr>
                        <a:t>IngestFile_TPP_SRCode_NB</a:t>
                      </a:r>
                    </a:p>
                  </a:txBody>
                  <a:tcPr marL="6350" marR="6350" marT="6350" marB="0" anchor="b"/>
                </a:tc>
                <a:tc>
                  <a:txBody>
                    <a:bodyPr/>
                    <a:lstStyle/>
                    <a:p>
                      <a:pPr algn="r" fontAlgn="b"/>
                      <a:r>
                        <a:rPr lang="en-GB" sz="1100" b="0" i="0" u="none" strike="noStrike" dirty="0">
                          <a:solidFill>
                            <a:srgbClr val="000000"/>
                          </a:solidFill>
                          <a:effectLst/>
                          <a:latin typeface="Aptos Narrow" panose="020B0004020202020204" pitchFamily="34" charset="0"/>
                        </a:rPr>
                        <a:t>37</a:t>
                      </a:r>
                    </a:p>
                  </a:txBody>
                  <a:tcPr marL="6350" marR="6350" marT="6350" marB="0" anchor="b"/>
                </a:tc>
                <a:tc>
                  <a:txBody>
                    <a:bodyPr/>
                    <a:lstStyle/>
                    <a:p>
                      <a:pPr algn="r" fontAlgn="b"/>
                      <a:r>
                        <a:rPr lang="en-GB" sz="1100" b="0" i="0" u="none" strike="noStrike">
                          <a:solidFill>
                            <a:srgbClr val="000000"/>
                          </a:solidFill>
                          <a:effectLst/>
                          <a:latin typeface="Aptos Narrow" panose="020B0004020202020204" pitchFamily="34" charset="0"/>
                        </a:rPr>
                        <a:t>155</a:t>
                      </a:r>
                    </a:p>
                  </a:txBody>
                  <a:tcPr marL="6350" marR="6350" marT="6350" marB="0" anchor="b"/>
                </a:tc>
                <a:tc>
                  <a:txBody>
                    <a:bodyPr/>
                    <a:lstStyle/>
                    <a:p>
                      <a:pPr algn="r" fontAlgn="b"/>
                      <a:r>
                        <a:rPr lang="en-GB" sz="1100" b="0" i="0" u="none" strike="noStrike">
                          <a:solidFill>
                            <a:srgbClr val="000000"/>
                          </a:solidFill>
                          <a:effectLst/>
                          <a:latin typeface="Aptos Narrow" panose="020B0004020202020204" pitchFamily="34" charset="0"/>
                        </a:rPr>
                        <a:t>480</a:t>
                      </a:r>
                    </a:p>
                  </a:txBody>
                  <a:tcPr marL="6350" marR="6350" marT="6350" marB="0" anchor="b"/>
                </a:tc>
                <a:tc>
                  <a:txBody>
                    <a:bodyPr/>
                    <a:lstStyle/>
                    <a:p>
                      <a:pPr algn="r" fontAlgn="b"/>
                      <a:r>
                        <a:rPr lang="en-GB" sz="1100" b="0" i="0" u="none" strike="noStrike">
                          <a:solidFill>
                            <a:srgbClr val="000000"/>
                          </a:solidFill>
                          <a:effectLst/>
                          <a:latin typeface="Aptos Narrow" panose="020B0004020202020204" pitchFamily="34" charset="0"/>
                        </a:rPr>
                        <a:t>76%</a:t>
                      </a:r>
                    </a:p>
                  </a:txBody>
                  <a:tcPr marL="6350" marR="6350" marT="6350" marB="0" anchor="b"/>
                </a:tc>
                <a:tc>
                  <a:txBody>
                    <a:bodyPr/>
                    <a:lstStyle/>
                    <a:p>
                      <a:pPr algn="r" fontAlgn="b"/>
                      <a:r>
                        <a:rPr lang="en-GB" sz="1100" b="0" i="0" u="none" strike="noStrike" dirty="0">
                          <a:solidFill>
                            <a:srgbClr val="000000"/>
                          </a:solidFill>
                          <a:effectLst/>
                          <a:latin typeface="Aptos Narrow" panose="020B0004020202020204" pitchFamily="34" charset="0"/>
                        </a:rPr>
                        <a:t>92%</a:t>
                      </a:r>
                    </a:p>
                  </a:txBody>
                  <a:tcPr marL="6350" marR="6350" marT="6350" marB="0" anchor="b"/>
                </a:tc>
                <a:extLst>
                  <a:ext uri="{0D108BD9-81ED-4DB2-BD59-A6C34878D82A}">
                    <a16:rowId xmlns:a16="http://schemas.microsoft.com/office/drawing/2014/main" val="970085816"/>
                  </a:ext>
                </a:extLst>
              </a:tr>
              <a:tr h="595443">
                <a:tc>
                  <a:txBody>
                    <a:bodyPr/>
                    <a:lstStyle/>
                    <a:p>
                      <a:pPr algn="l" fontAlgn="b"/>
                      <a:r>
                        <a:rPr lang="en-GB" sz="1100" b="0" i="0" u="none" strike="noStrike">
                          <a:solidFill>
                            <a:srgbClr val="000000"/>
                          </a:solidFill>
                          <a:effectLst/>
                          <a:latin typeface="Aptos Narrow" panose="020B0004020202020204" pitchFamily="34" charset="0"/>
                        </a:rPr>
                        <a:t>IngestFile_TPP_SRPatient_NB</a:t>
                      </a:r>
                    </a:p>
                  </a:txBody>
                  <a:tcPr marL="6350" marR="6350" marT="6350" marB="0" anchor="b"/>
                </a:tc>
                <a:tc>
                  <a:txBody>
                    <a:bodyPr/>
                    <a:lstStyle/>
                    <a:p>
                      <a:pPr algn="r" fontAlgn="b"/>
                      <a:r>
                        <a:rPr lang="en-GB" sz="1100" b="0" i="0" u="none" strike="noStrike">
                          <a:solidFill>
                            <a:srgbClr val="000000"/>
                          </a:solidFill>
                          <a:effectLst/>
                          <a:latin typeface="Aptos Narrow" panose="020B0004020202020204" pitchFamily="34" charset="0"/>
                        </a:rPr>
                        <a:t>22</a:t>
                      </a:r>
                    </a:p>
                  </a:txBody>
                  <a:tcPr marL="6350" marR="6350" marT="6350" marB="0" anchor="b"/>
                </a:tc>
                <a:tc>
                  <a:txBody>
                    <a:bodyPr/>
                    <a:lstStyle/>
                    <a:p>
                      <a:pPr algn="r" fontAlgn="b"/>
                      <a:r>
                        <a:rPr lang="en-GB" sz="1100" b="0" i="0" u="none" strike="noStrike">
                          <a:solidFill>
                            <a:srgbClr val="000000"/>
                          </a:solidFill>
                          <a:effectLst/>
                          <a:latin typeface="Aptos Narrow" panose="020B0004020202020204" pitchFamily="34" charset="0"/>
                        </a:rPr>
                        <a:t>70</a:t>
                      </a:r>
                    </a:p>
                  </a:txBody>
                  <a:tcPr marL="6350" marR="6350" marT="6350" marB="0" anchor="b"/>
                </a:tc>
                <a:tc>
                  <a:txBody>
                    <a:bodyPr/>
                    <a:lstStyle/>
                    <a:p>
                      <a:pPr algn="r" fontAlgn="b"/>
                      <a:r>
                        <a:rPr lang="en-GB" sz="1100" b="0" i="0" u="none" strike="noStrike" dirty="0">
                          <a:solidFill>
                            <a:srgbClr val="000000"/>
                          </a:solidFill>
                          <a:effectLst/>
                          <a:latin typeface="Aptos Narrow" panose="020B0004020202020204" pitchFamily="34" charset="0"/>
                        </a:rPr>
                        <a:t>240</a:t>
                      </a:r>
                    </a:p>
                  </a:txBody>
                  <a:tcPr marL="6350" marR="6350" marT="6350" marB="0" anchor="b"/>
                </a:tc>
                <a:tc>
                  <a:txBody>
                    <a:bodyPr/>
                    <a:lstStyle/>
                    <a:p>
                      <a:pPr algn="r" fontAlgn="b"/>
                      <a:r>
                        <a:rPr lang="en-GB" sz="1100" b="0" i="0" u="none" strike="noStrike">
                          <a:solidFill>
                            <a:srgbClr val="000000"/>
                          </a:solidFill>
                          <a:effectLst/>
                          <a:latin typeface="Aptos Narrow" panose="020B0004020202020204" pitchFamily="34" charset="0"/>
                        </a:rPr>
                        <a:t>68%</a:t>
                      </a:r>
                    </a:p>
                  </a:txBody>
                  <a:tcPr marL="6350" marR="6350" marT="6350" marB="0" anchor="b"/>
                </a:tc>
                <a:tc>
                  <a:txBody>
                    <a:bodyPr/>
                    <a:lstStyle/>
                    <a:p>
                      <a:pPr algn="r" fontAlgn="b"/>
                      <a:r>
                        <a:rPr lang="en-GB" sz="1100" b="0" i="0" u="none" strike="noStrike" dirty="0">
                          <a:solidFill>
                            <a:srgbClr val="000000"/>
                          </a:solidFill>
                          <a:effectLst/>
                          <a:latin typeface="Aptos Narrow" panose="020B0004020202020204" pitchFamily="34" charset="0"/>
                        </a:rPr>
                        <a:t>90%</a:t>
                      </a:r>
                    </a:p>
                  </a:txBody>
                  <a:tcPr marL="6350" marR="6350" marT="6350" marB="0" anchor="b"/>
                </a:tc>
                <a:extLst>
                  <a:ext uri="{0D108BD9-81ED-4DB2-BD59-A6C34878D82A}">
                    <a16:rowId xmlns:a16="http://schemas.microsoft.com/office/drawing/2014/main" val="1753947230"/>
                  </a:ext>
                </a:extLst>
              </a:tr>
              <a:tr h="447979">
                <a:tc>
                  <a:txBody>
                    <a:bodyPr/>
                    <a:lstStyle/>
                    <a:p>
                      <a:pPr algn="l" fontAlgn="b"/>
                      <a:r>
                        <a:rPr lang="en-GB" sz="1100" b="0" i="0" u="none" strike="noStrike">
                          <a:solidFill>
                            <a:srgbClr val="000000"/>
                          </a:solidFill>
                          <a:effectLst/>
                          <a:latin typeface="Aptos Narrow" panose="020B0004020202020204" pitchFamily="34" charset="0"/>
                        </a:rPr>
                        <a:t>RainbowCode Table</a:t>
                      </a:r>
                    </a:p>
                  </a:txBody>
                  <a:tcPr marL="6350" marR="6350" marT="6350" marB="0" anchor="b"/>
                </a:tc>
                <a:tc>
                  <a:txBody>
                    <a:bodyPr/>
                    <a:lstStyle/>
                    <a:p>
                      <a:pPr algn="r" fontAlgn="b"/>
                      <a:r>
                        <a:rPr lang="en-GB" sz="1100" b="0" i="0" u="none" strike="noStrike">
                          <a:solidFill>
                            <a:srgbClr val="000000"/>
                          </a:solidFill>
                          <a:effectLst/>
                          <a:latin typeface="Aptos Narrow" panose="020B0004020202020204" pitchFamily="34" charset="0"/>
                        </a:rPr>
                        <a:t>24</a:t>
                      </a:r>
                    </a:p>
                  </a:txBody>
                  <a:tcPr marL="6350" marR="6350" marT="6350" marB="0" anchor="b"/>
                </a:tc>
                <a:tc>
                  <a:txBody>
                    <a:bodyPr/>
                    <a:lstStyle/>
                    <a:p>
                      <a:pPr algn="r" fontAlgn="b"/>
                      <a:r>
                        <a:rPr lang="en-GB" sz="1100" b="0" i="0" u="none" strike="noStrike">
                          <a:solidFill>
                            <a:srgbClr val="000000"/>
                          </a:solidFill>
                          <a:effectLst/>
                          <a:latin typeface="Aptos Narrow" panose="020B0004020202020204" pitchFamily="34" charset="0"/>
                        </a:rPr>
                        <a:t>95</a:t>
                      </a:r>
                    </a:p>
                  </a:txBody>
                  <a:tcPr marL="6350" marR="6350" marT="6350" marB="0" anchor="b"/>
                </a:tc>
                <a:tc>
                  <a:txBody>
                    <a:bodyPr/>
                    <a:lstStyle/>
                    <a:p>
                      <a:pPr algn="r" fontAlgn="b"/>
                      <a:r>
                        <a:rPr lang="en-GB" sz="1100" b="0" i="0" u="none" strike="noStrike">
                          <a:solidFill>
                            <a:srgbClr val="000000"/>
                          </a:solidFill>
                          <a:effectLst/>
                          <a:latin typeface="Aptos Narrow" panose="020B0004020202020204" pitchFamily="34" charset="0"/>
                        </a:rPr>
                        <a:t>480</a:t>
                      </a:r>
                    </a:p>
                  </a:txBody>
                  <a:tcPr marL="6350" marR="6350" marT="6350" marB="0" anchor="b"/>
                </a:tc>
                <a:tc>
                  <a:txBody>
                    <a:bodyPr/>
                    <a:lstStyle/>
                    <a:p>
                      <a:pPr algn="r" fontAlgn="b"/>
                      <a:r>
                        <a:rPr lang="en-GB" sz="1100" b="0" i="0" u="none" strike="noStrike">
                          <a:solidFill>
                            <a:srgbClr val="000000"/>
                          </a:solidFill>
                          <a:effectLst/>
                          <a:latin typeface="Aptos Narrow" panose="020B0004020202020204" pitchFamily="34" charset="0"/>
                        </a:rPr>
                        <a:t>74%</a:t>
                      </a:r>
                    </a:p>
                  </a:txBody>
                  <a:tcPr marL="6350" marR="6350" marT="6350" marB="0" anchor="b"/>
                </a:tc>
                <a:tc>
                  <a:txBody>
                    <a:bodyPr/>
                    <a:lstStyle/>
                    <a:p>
                      <a:pPr algn="r" fontAlgn="b"/>
                      <a:r>
                        <a:rPr lang="en-GB" sz="1100" b="0" i="0" u="none" strike="noStrike" dirty="0">
                          <a:solidFill>
                            <a:srgbClr val="000000"/>
                          </a:solidFill>
                          <a:effectLst/>
                          <a:latin typeface="Aptos Narrow" panose="020B0004020202020204" pitchFamily="34" charset="0"/>
                        </a:rPr>
                        <a:t>95%</a:t>
                      </a:r>
                    </a:p>
                  </a:txBody>
                  <a:tcPr marL="6350" marR="6350" marT="6350" marB="0" anchor="b"/>
                </a:tc>
                <a:extLst>
                  <a:ext uri="{0D108BD9-81ED-4DB2-BD59-A6C34878D82A}">
                    <a16:rowId xmlns:a16="http://schemas.microsoft.com/office/drawing/2014/main" val="2233248808"/>
                  </a:ext>
                </a:extLst>
              </a:tr>
            </a:tbl>
          </a:graphicData>
        </a:graphic>
      </p:graphicFrame>
    </p:spTree>
    <p:extLst>
      <p:ext uri="{BB962C8B-B14F-4D97-AF65-F5344CB8AC3E}">
        <p14:creationId xmlns:p14="http://schemas.microsoft.com/office/powerpoint/2010/main" val="3862698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952D-0FBE-DB78-A8D5-64B4C937E61D}"/>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C40059C7-769E-1C53-63D4-A5C335CA4A68}"/>
              </a:ext>
            </a:extLst>
          </p:cNvPr>
          <p:cNvGraphicFramePr>
            <a:graphicFrameLocks noGrp="1"/>
          </p:cNvGraphicFramePr>
          <p:nvPr>
            <p:extLst>
              <p:ext uri="{D42A27DB-BD31-4B8C-83A1-F6EECF244321}">
                <p14:modId xmlns:p14="http://schemas.microsoft.com/office/powerpoint/2010/main" val="107462238"/>
              </p:ext>
            </p:extLst>
          </p:nvPr>
        </p:nvGraphicFramePr>
        <p:xfrm>
          <a:off x="315686" y="1981200"/>
          <a:ext cx="6705599" cy="4212064"/>
        </p:xfrm>
        <a:graphic>
          <a:graphicData uri="http://schemas.openxmlformats.org/drawingml/2006/table">
            <a:tbl>
              <a:tblPr firstRow="1" firstCol="1" bandRow="1">
                <a:tableStyleId>{5C22544A-7EE6-4342-B048-85BDC9FD1C3A}</a:tableStyleId>
              </a:tblPr>
              <a:tblGrid>
                <a:gridCol w="881376">
                  <a:extLst>
                    <a:ext uri="{9D8B030D-6E8A-4147-A177-3AD203B41FA5}">
                      <a16:colId xmlns:a16="http://schemas.microsoft.com/office/drawing/2014/main" val="3326950679"/>
                    </a:ext>
                  </a:extLst>
                </a:gridCol>
                <a:gridCol w="1265477">
                  <a:extLst>
                    <a:ext uri="{9D8B030D-6E8A-4147-A177-3AD203B41FA5}">
                      <a16:colId xmlns:a16="http://schemas.microsoft.com/office/drawing/2014/main" val="2318075354"/>
                    </a:ext>
                  </a:extLst>
                </a:gridCol>
                <a:gridCol w="1033245">
                  <a:extLst>
                    <a:ext uri="{9D8B030D-6E8A-4147-A177-3AD203B41FA5}">
                      <a16:colId xmlns:a16="http://schemas.microsoft.com/office/drawing/2014/main" val="20234322"/>
                    </a:ext>
                  </a:extLst>
                </a:gridCol>
                <a:gridCol w="2739410">
                  <a:extLst>
                    <a:ext uri="{9D8B030D-6E8A-4147-A177-3AD203B41FA5}">
                      <a16:colId xmlns:a16="http://schemas.microsoft.com/office/drawing/2014/main" val="2874950634"/>
                    </a:ext>
                  </a:extLst>
                </a:gridCol>
                <a:gridCol w="786091">
                  <a:extLst>
                    <a:ext uri="{9D8B030D-6E8A-4147-A177-3AD203B41FA5}">
                      <a16:colId xmlns:a16="http://schemas.microsoft.com/office/drawing/2014/main" val="830104320"/>
                    </a:ext>
                  </a:extLst>
                </a:gridCol>
              </a:tblGrid>
              <a:tr h="1206046">
                <a:tc gridSpan="2">
                  <a:txBody>
                    <a:bodyPr/>
                    <a:lstStyle/>
                    <a:p>
                      <a:pPr algn="l">
                        <a:lnSpc>
                          <a:spcPct val="107000"/>
                        </a:lnSpc>
                        <a:spcAft>
                          <a:spcPts val="800"/>
                        </a:spcAft>
                      </a:pPr>
                      <a:r>
                        <a:rPr lang="en-GB" sz="1000" kern="0" dirty="0">
                          <a:effectLst/>
                        </a:rPr>
                        <a:t> </a:t>
                      </a:r>
                      <a:endParaRPr lang="en-GB" sz="1400" kern="100" dirty="0">
                        <a:effectLst/>
                      </a:endParaRPr>
                    </a:p>
                    <a:p>
                      <a:pPr algn="l">
                        <a:lnSpc>
                          <a:spcPct val="107000"/>
                        </a:lnSpc>
                        <a:spcAft>
                          <a:spcPts val="800"/>
                        </a:spcAft>
                      </a:pPr>
                      <a:r>
                        <a:rPr lang="en-GB" sz="1000" kern="0" dirty="0">
                          <a:effectLst/>
                        </a:rPr>
                        <a:t> </a:t>
                      </a:r>
                      <a:endParaRPr lang="en-GB" sz="1400" kern="100" dirty="0">
                        <a:effectLst/>
                      </a:endParaRPr>
                    </a:p>
                    <a:p>
                      <a:pPr algn="l">
                        <a:lnSpc>
                          <a:spcPct val="107000"/>
                        </a:lnSpc>
                        <a:spcAft>
                          <a:spcPts val="800"/>
                        </a:spcAft>
                      </a:pPr>
                      <a:r>
                        <a:rPr lang="en-GB" sz="1000" kern="0" dirty="0">
                          <a:effectLst/>
                        </a:rPr>
                        <a:t> </a:t>
                      </a:r>
                      <a:endParaRPr lang="en-GB" sz="1400" kern="100" dirty="0">
                        <a:effectLst/>
                      </a:endParaRPr>
                    </a:p>
                    <a:p>
                      <a:pPr algn="l">
                        <a:lnSpc>
                          <a:spcPct val="107000"/>
                        </a:lnSpc>
                        <a:spcAft>
                          <a:spcPts val="800"/>
                        </a:spcAft>
                      </a:pPr>
                      <a:r>
                        <a:rPr lang="en-GB" sz="1000" kern="0" dirty="0">
                          <a:effectLst/>
                        </a:rPr>
                        <a:t>Microsoft Azure Estimate</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hMerge="1">
                  <a:txBody>
                    <a:bodyPr/>
                    <a:lstStyle/>
                    <a:p>
                      <a:endParaRPr lang="en-GB"/>
                    </a:p>
                  </a:txBody>
                  <a:tcPr/>
                </a:tc>
                <a:tc>
                  <a:txBody>
                    <a:bodyPr/>
                    <a:lstStyle/>
                    <a:p>
                      <a:pPr algn="l">
                        <a:lnSpc>
                          <a:spcPct val="107000"/>
                        </a:lnSpc>
                      </a:pPr>
                      <a:endParaRPr lang="en-GB" sz="1400" kern="100" dirty="0">
                        <a:effectLst/>
                        <a:latin typeface="Aptos" panose="020B0004020202020204" pitchFamily="34" charset="0"/>
                      </a:endParaRPr>
                    </a:p>
                  </a:txBody>
                  <a:tcPr marL="68580" marR="68580" marT="0" marB="0"/>
                </a:tc>
                <a:tc>
                  <a:txBody>
                    <a:bodyPr/>
                    <a:lstStyle/>
                    <a:p>
                      <a:pPr algn="l">
                        <a:lnSpc>
                          <a:spcPct val="107000"/>
                        </a:lnSpc>
                      </a:pPr>
                      <a:endParaRPr lang="en-GB" sz="1400" kern="100" dirty="0">
                        <a:effectLst/>
                        <a:latin typeface="Aptos" panose="020B0004020202020204" pitchFamily="34" charset="0"/>
                      </a:endParaRPr>
                    </a:p>
                  </a:txBody>
                  <a:tcPr marL="68580" marR="68580" marT="0" marB="0"/>
                </a:tc>
                <a:tc>
                  <a:txBody>
                    <a:bodyPr/>
                    <a:lstStyle/>
                    <a:p>
                      <a:pPr algn="l">
                        <a:lnSpc>
                          <a:spcPct val="107000"/>
                        </a:lnSpc>
                      </a:pPr>
                      <a:endParaRPr lang="en-GB" sz="1400" kern="100">
                        <a:effectLst/>
                        <a:latin typeface="Aptos" panose="020B0004020202020204" pitchFamily="34" charset="0"/>
                      </a:endParaRPr>
                    </a:p>
                  </a:txBody>
                  <a:tcPr marL="68580" marR="68580" marT="0" marB="0"/>
                </a:tc>
                <a:extLst>
                  <a:ext uri="{0D108BD9-81ED-4DB2-BD59-A6C34878D82A}">
                    <a16:rowId xmlns:a16="http://schemas.microsoft.com/office/drawing/2014/main" val="1744661129"/>
                  </a:ext>
                </a:extLst>
              </a:tr>
              <a:tr h="279538">
                <a:tc gridSpan="2">
                  <a:txBody>
                    <a:bodyPr/>
                    <a:lstStyle/>
                    <a:p>
                      <a:pPr algn="l">
                        <a:lnSpc>
                          <a:spcPct val="107000"/>
                        </a:lnSpc>
                        <a:spcAft>
                          <a:spcPts val="800"/>
                        </a:spcAft>
                      </a:pPr>
                      <a:r>
                        <a:rPr lang="en-GB" sz="1000" kern="0" dirty="0">
                          <a:effectLst/>
                        </a:rPr>
                        <a:t>Your Estimate</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hMerge="1">
                  <a:txBody>
                    <a:bodyPr/>
                    <a:lstStyle/>
                    <a:p>
                      <a:endParaRPr lang="en-GB"/>
                    </a:p>
                  </a:txBody>
                  <a:tcPr/>
                </a:tc>
                <a:tc>
                  <a:txBody>
                    <a:bodyPr/>
                    <a:lstStyle/>
                    <a:p>
                      <a:pPr algn="l">
                        <a:lnSpc>
                          <a:spcPct val="107000"/>
                        </a:lnSpc>
                      </a:pPr>
                      <a:endParaRPr lang="en-GB" sz="1400" kern="100">
                        <a:effectLst/>
                        <a:latin typeface="Aptos" panose="020B0004020202020204" pitchFamily="34" charset="0"/>
                      </a:endParaRPr>
                    </a:p>
                  </a:txBody>
                  <a:tcPr marL="68580" marR="68580" marT="0" marB="0"/>
                </a:tc>
                <a:tc>
                  <a:txBody>
                    <a:bodyPr/>
                    <a:lstStyle/>
                    <a:p>
                      <a:pPr algn="l">
                        <a:lnSpc>
                          <a:spcPct val="107000"/>
                        </a:lnSpc>
                      </a:pPr>
                      <a:endParaRPr lang="en-GB" sz="1400" kern="100">
                        <a:effectLst/>
                        <a:latin typeface="Aptos" panose="020B0004020202020204" pitchFamily="34" charset="0"/>
                      </a:endParaRPr>
                    </a:p>
                  </a:txBody>
                  <a:tcPr marL="68580" marR="68580" marT="0" marB="0"/>
                </a:tc>
                <a:tc>
                  <a:txBody>
                    <a:bodyPr/>
                    <a:lstStyle/>
                    <a:p>
                      <a:pPr algn="l">
                        <a:lnSpc>
                          <a:spcPct val="107000"/>
                        </a:lnSpc>
                      </a:pPr>
                      <a:endParaRPr lang="en-GB" sz="1400" kern="100">
                        <a:effectLst/>
                        <a:latin typeface="Aptos" panose="020B0004020202020204" pitchFamily="34" charset="0"/>
                      </a:endParaRPr>
                    </a:p>
                  </a:txBody>
                  <a:tcPr marL="68580" marR="68580" marT="0" marB="0"/>
                </a:tc>
                <a:extLst>
                  <a:ext uri="{0D108BD9-81ED-4DB2-BD59-A6C34878D82A}">
                    <a16:rowId xmlns:a16="http://schemas.microsoft.com/office/drawing/2014/main" val="1892480235"/>
                  </a:ext>
                </a:extLst>
              </a:tr>
              <a:tr h="482368">
                <a:tc>
                  <a:txBody>
                    <a:bodyPr/>
                    <a:lstStyle/>
                    <a:p>
                      <a:pPr algn="l">
                        <a:lnSpc>
                          <a:spcPct val="107000"/>
                        </a:lnSpc>
                        <a:spcAft>
                          <a:spcPts val="800"/>
                        </a:spcAft>
                      </a:pPr>
                      <a:r>
                        <a:rPr lang="en-GB" sz="1000" kern="0">
                          <a:effectLst/>
                        </a:rPr>
                        <a:t>Service category</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a:effectLst/>
                        </a:rPr>
                        <a:t>Service type</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dirty="0">
                          <a:effectLst/>
                        </a:rPr>
                        <a:t>Region</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dirty="0">
                          <a:effectLst/>
                        </a:rPr>
                        <a:t>Description</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a:effectLst/>
                        </a:rPr>
                        <a:t>Estimated monthly cost</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61848222"/>
                  </a:ext>
                </a:extLst>
              </a:tr>
              <a:tr h="319721">
                <a:tc>
                  <a:txBody>
                    <a:bodyPr/>
                    <a:lstStyle/>
                    <a:p>
                      <a:pPr algn="l">
                        <a:lnSpc>
                          <a:spcPct val="107000"/>
                        </a:lnSpc>
                        <a:spcAft>
                          <a:spcPts val="800"/>
                        </a:spcAft>
                      </a:pPr>
                      <a:r>
                        <a:rPr lang="en-GB" sz="1000" kern="0">
                          <a:effectLst/>
                        </a:rPr>
                        <a:t>Analytics</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a:effectLst/>
                        </a:rPr>
                        <a:t>Microsoft Fabric</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a:effectLst/>
                        </a:rPr>
                        <a:t>UK South</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dirty="0">
                          <a:effectLst/>
                        </a:rPr>
                        <a:t>F64, 64 Capacity units x 730 Hours, </a:t>
                      </a:r>
                      <a:r>
                        <a:rPr lang="en-GB" sz="1000" kern="0" dirty="0" err="1">
                          <a:effectLst/>
                        </a:rPr>
                        <a:t>OneLake</a:t>
                      </a:r>
                      <a:r>
                        <a:rPr lang="en-GB" sz="1000" kern="0" dirty="0">
                          <a:effectLst/>
                        </a:rPr>
                        <a:t> storage 5,000 GB</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a:effectLst/>
                        </a:rPr>
                        <a:t>£7,894.75</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84418100"/>
                  </a:ext>
                </a:extLst>
              </a:tr>
              <a:tr h="482368">
                <a:tc>
                  <a:txBody>
                    <a:bodyPr/>
                    <a:lstStyle/>
                    <a:p>
                      <a:pPr algn="l">
                        <a:lnSpc>
                          <a:spcPct val="107000"/>
                        </a:lnSpc>
                        <a:spcAft>
                          <a:spcPts val="800"/>
                        </a:spcAft>
                      </a:pPr>
                      <a:r>
                        <a:rPr lang="en-GB" sz="1000" kern="0">
                          <a:effectLst/>
                        </a:rPr>
                        <a:t>Analytics</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a:effectLst/>
                        </a:rPr>
                        <a:t>Azure Databricks</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dirty="0">
                          <a:effectLst/>
                        </a:rPr>
                        <a:t>UK South</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dirty="0">
                          <a:effectLst/>
                        </a:rPr>
                        <a:t>Jobs Compute Workload, Standard Tier, 1 F8SV2 (8 vCPU(s), 16 GB RAM), 1 Year Savings Plan, 1.5 DBU x 730 Hours</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a:effectLst/>
                        </a:rPr>
                        <a:t>£303.64</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58230786"/>
                  </a:ext>
                </a:extLst>
              </a:tr>
              <a:tr h="279538">
                <a:tc>
                  <a:txBody>
                    <a:bodyPr/>
                    <a:lstStyle/>
                    <a:p>
                      <a:pPr algn="l">
                        <a:lnSpc>
                          <a:spcPct val="107000"/>
                        </a:lnSpc>
                        <a:spcAft>
                          <a:spcPts val="800"/>
                        </a:spcAft>
                      </a:pPr>
                      <a:r>
                        <a:rPr lang="en-GB" sz="1000" kern="0">
                          <a:effectLst/>
                        </a:rPr>
                        <a:t>Support</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pPr>
                      <a:endParaRPr lang="en-GB" sz="1400" kern="100">
                        <a:effectLst/>
                        <a:latin typeface="Aptos" panose="020B0004020202020204" pitchFamily="34" charset="0"/>
                      </a:endParaRPr>
                    </a:p>
                  </a:txBody>
                  <a:tcPr marL="68580" marR="68580" marT="0" marB="0"/>
                </a:tc>
                <a:tc>
                  <a:txBody>
                    <a:bodyPr/>
                    <a:lstStyle/>
                    <a:p>
                      <a:pPr algn="l">
                        <a:lnSpc>
                          <a:spcPct val="107000"/>
                        </a:lnSpc>
                        <a:spcAft>
                          <a:spcPts val="800"/>
                        </a:spcAft>
                      </a:pPr>
                      <a:r>
                        <a:rPr lang="en-GB" sz="1000" kern="0" dirty="0">
                          <a:effectLst/>
                        </a:rPr>
                        <a:t>Support</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a:effectLst/>
                        </a:rPr>
                        <a:t> </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a:effectLst/>
                        </a:rPr>
                        <a:t>£0.00</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7513533"/>
                  </a:ext>
                </a:extLst>
              </a:tr>
              <a:tr h="319721">
                <a:tc>
                  <a:txBody>
                    <a:bodyPr/>
                    <a:lstStyle/>
                    <a:p>
                      <a:pPr algn="l">
                        <a:lnSpc>
                          <a:spcPct val="107000"/>
                        </a:lnSpc>
                      </a:pPr>
                      <a:endParaRPr lang="en-GB" sz="1400" kern="100">
                        <a:effectLst/>
                        <a:latin typeface="Aptos" panose="020B0004020202020204" pitchFamily="34" charset="0"/>
                      </a:endParaRPr>
                    </a:p>
                  </a:txBody>
                  <a:tcPr marL="68580" marR="68580" marT="0" marB="0"/>
                </a:tc>
                <a:tc>
                  <a:txBody>
                    <a:bodyPr/>
                    <a:lstStyle/>
                    <a:p>
                      <a:pPr algn="l">
                        <a:lnSpc>
                          <a:spcPct val="107000"/>
                        </a:lnSpc>
                      </a:pPr>
                      <a:endParaRPr lang="en-GB" sz="1400" kern="100">
                        <a:effectLst/>
                        <a:latin typeface="Aptos" panose="020B0004020202020204" pitchFamily="34" charset="0"/>
                      </a:endParaRPr>
                    </a:p>
                  </a:txBody>
                  <a:tcPr marL="68580" marR="68580" marT="0" marB="0"/>
                </a:tc>
                <a:tc>
                  <a:txBody>
                    <a:bodyPr/>
                    <a:lstStyle/>
                    <a:p>
                      <a:pPr algn="l">
                        <a:lnSpc>
                          <a:spcPct val="107000"/>
                        </a:lnSpc>
                        <a:spcAft>
                          <a:spcPts val="800"/>
                        </a:spcAft>
                      </a:pPr>
                      <a:r>
                        <a:rPr lang="en-GB" sz="1000" kern="0">
                          <a:effectLst/>
                        </a:rPr>
                        <a:t>Licensing Program</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dirty="0">
                          <a:effectLst/>
                        </a:rPr>
                        <a:t>Microsoft Customer Agreement (MCA)</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pPr>
                      <a:endParaRPr lang="en-GB" sz="1400" kern="100">
                        <a:effectLst/>
                        <a:latin typeface="Aptos" panose="020B0004020202020204" pitchFamily="34" charset="0"/>
                      </a:endParaRPr>
                    </a:p>
                  </a:txBody>
                  <a:tcPr marL="68580" marR="68580" marT="0" marB="0"/>
                </a:tc>
                <a:extLst>
                  <a:ext uri="{0D108BD9-81ED-4DB2-BD59-A6C34878D82A}">
                    <a16:rowId xmlns:a16="http://schemas.microsoft.com/office/drawing/2014/main" val="1593165402"/>
                  </a:ext>
                </a:extLst>
              </a:tr>
              <a:tr h="279538">
                <a:tc>
                  <a:txBody>
                    <a:bodyPr/>
                    <a:lstStyle/>
                    <a:p>
                      <a:pPr algn="l">
                        <a:lnSpc>
                          <a:spcPct val="107000"/>
                        </a:lnSpc>
                      </a:pPr>
                      <a:endParaRPr lang="en-GB" sz="1400" kern="100">
                        <a:effectLst/>
                        <a:latin typeface="Aptos" panose="020B0004020202020204" pitchFamily="34" charset="0"/>
                      </a:endParaRPr>
                    </a:p>
                  </a:txBody>
                  <a:tcPr marL="68580" marR="68580" marT="0" marB="0"/>
                </a:tc>
                <a:tc>
                  <a:txBody>
                    <a:bodyPr/>
                    <a:lstStyle/>
                    <a:p>
                      <a:pPr algn="l">
                        <a:lnSpc>
                          <a:spcPct val="107000"/>
                        </a:lnSpc>
                      </a:pPr>
                      <a:endParaRPr lang="en-GB" sz="1400" kern="100">
                        <a:effectLst/>
                        <a:latin typeface="Aptos" panose="020B0004020202020204" pitchFamily="34" charset="0"/>
                      </a:endParaRPr>
                    </a:p>
                  </a:txBody>
                  <a:tcPr marL="68580" marR="68580" marT="0" marB="0"/>
                </a:tc>
                <a:tc>
                  <a:txBody>
                    <a:bodyPr/>
                    <a:lstStyle/>
                    <a:p>
                      <a:pPr algn="l">
                        <a:lnSpc>
                          <a:spcPct val="107000"/>
                        </a:lnSpc>
                        <a:spcAft>
                          <a:spcPts val="800"/>
                        </a:spcAft>
                      </a:pPr>
                      <a:r>
                        <a:rPr lang="en-GB" sz="1000" kern="0">
                          <a:effectLst/>
                        </a:rPr>
                        <a:t>Billing Account</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pPr>
                      <a:endParaRPr lang="en-GB" sz="1400" kern="100" dirty="0">
                        <a:effectLst/>
                        <a:latin typeface="Aptos" panose="020B0004020202020204" pitchFamily="34" charset="0"/>
                      </a:endParaRPr>
                    </a:p>
                  </a:txBody>
                  <a:tcPr marL="68580" marR="68580" marT="0" marB="0"/>
                </a:tc>
                <a:tc>
                  <a:txBody>
                    <a:bodyPr/>
                    <a:lstStyle/>
                    <a:p>
                      <a:pPr algn="l">
                        <a:lnSpc>
                          <a:spcPct val="107000"/>
                        </a:lnSpc>
                      </a:pPr>
                      <a:endParaRPr lang="en-GB" sz="1400" kern="100">
                        <a:effectLst/>
                        <a:latin typeface="Aptos" panose="020B0004020202020204" pitchFamily="34" charset="0"/>
                      </a:endParaRPr>
                    </a:p>
                  </a:txBody>
                  <a:tcPr marL="68580" marR="68580" marT="0" marB="0"/>
                </a:tc>
                <a:extLst>
                  <a:ext uri="{0D108BD9-81ED-4DB2-BD59-A6C34878D82A}">
                    <a16:rowId xmlns:a16="http://schemas.microsoft.com/office/drawing/2014/main" val="3467429926"/>
                  </a:ext>
                </a:extLst>
              </a:tr>
              <a:tr h="279538">
                <a:tc>
                  <a:txBody>
                    <a:bodyPr/>
                    <a:lstStyle/>
                    <a:p>
                      <a:pPr algn="l">
                        <a:lnSpc>
                          <a:spcPct val="107000"/>
                        </a:lnSpc>
                      </a:pPr>
                      <a:endParaRPr lang="en-GB" sz="1400" kern="100">
                        <a:effectLst/>
                        <a:latin typeface="Aptos" panose="020B0004020202020204" pitchFamily="34" charset="0"/>
                      </a:endParaRPr>
                    </a:p>
                  </a:txBody>
                  <a:tcPr marL="68580" marR="68580" marT="0" marB="0"/>
                </a:tc>
                <a:tc>
                  <a:txBody>
                    <a:bodyPr/>
                    <a:lstStyle/>
                    <a:p>
                      <a:pPr algn="l">
                        <a:lnSpc>
                          <a:spcPct val="107000"/>
                        </a:lnSpc>
                      </a:pPr>
                      <a:endParaRPr lang="en-GB" sz="1400" kern="100">
                        <a:effectLst/>
                        <a:latin typeface="Aptos" panose="020B0004020202020204" pitchFamily="34" charset="0"/>
                      </a:endParaRPr>
                    </a:p>
                  </a:txBody>
                  <a:tcPr marL="68580" marR="68580" marT="0" marB="0"/>
                </a:tc>
                <a:tc>
                  <a:txBody>
                    <a:bodyPr/>
                    <a:lstStyle/>
                    <a:p>
                      <a:pPr algn="l">
                        <a:lnSpc>
                          <a:spcPct val="107000"/>
                        </a:lnSpc>
                        <a:spcAft>
                          <a:spcPts val="800"/>
                        </a:spcAft>
                      </a:pPr>
                      <a:r>
                        <a:rPr lang="en-GB" sz="1000" kern="0">
                          <a:effectLst/>
                        </a:rPr>
                        <a:t>Billing Profile</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pPr>
                      <a:endParaRPr lang="en-GB" sz="1400" kern="100" dirty="0">
                        <a:effectLst/>
                        <a:latin typeface="Aptos" panose="020B0004020202020204" pitchFamily="34" charset="0"/>
                      </a:endParaRPr>
                    </a:p>
                  </a:txBody>
                  <a:tcPr marL="68580" marR="68580" marT="0" marB="0"/>
                </a:tc>
                <a:tc>
                  <a:txBody>
                    <a:bodyPr/>
                    <a:lstStyle/>
                    <a:p>
                      <a:pPr algn="l">
                        <a:lnSpc>
                          <a:spcPct val="107000"/>
                        </a:lnSpc>
                      </a:pPr>
                      <a:endParaRPr lang="en-GB" sz="1400" kern="100" dirty="0">
                        <a:effectLst/>
                        <a:latin typeface="Aptos" panose="020B0004020202020204" pitchFamily="34" charset="0"/>
                      </a:endParaRPr>
                    </a:p>
                  </a:txBody>
                  <a:tcPr marL="68580" marR="68580" marT="0" marB="0"/>
                </a:tc>
                <a:extLst>
                  <a:ext uri="{0D108BD9-81ED-4DB2-BD59-A6C34878D82A}">
                    <a16:rowId xmlns:a16="http://schemas.microsoft.com/office/drawing/2014/main" val="4245375212"/>
                  </a:ext>
                </a:extLst>
              </a:tr>
              <a:tr h="279538">
                <a:tc>
                  <a:txBody>
                    <a:bodyPr/>
                    <a:lstStyle/>
                    <a:p>
                      <a:pPr algn="l">
                        <a:lnSpc>
                          <a:spcPct val="107000"/>
                        </a:lnSpc>
                      </a:pPr>
                      <a:endParaRPr lang="en-GB" sz="1400" kern="100">
                        <a:effectLst/>
                        <a:latin typeface="Aptos" panose="020B0004020202020204" pitchFamily="34" charset="0"/>
                      </a:endParaRPr>
                    </a:p>
                  </a:txBody>
                  <a:tcPr marL="68580" marR="68580" marT="0" marB="0"/>
                </a:tc>
                <a:tc>
                  <a:txBody>
                    <a:bodyPr/>
                    <a:lstStyle/>
                    <a:p>
                      <a:pPr algn="l">
                        <a:lnSpc>
                          <a:spcPct val="107000"/>
                        </a:lnSpc>
                      </a:pPr>
                      <a:endParaRPr lang="en-GB" sz="1400" kern="100">
                        <a:effectLst/>
                        <a:latin typeface="Aptos" panose="020B0004020202020204" pitchFamily="34" charset="0"/>
                      </a:endParaRPr>
                    </a:p>
                  </a:txBody>
                  <a:tcPr marL="68580" marR="68580" marT="0" marB="0"/>
                </a:tc>
                <a:tc>
                  <a:txBody>
                    <a:bodyPr/>
                    <a:lstStyle/>
                    <a:p>
                      <a:pPr algn="l">
                        <a:lnSpc>
                          <a:spcPct val="107000"/>
                        </a:lnSpc>
                        <a:spcAft>
                          <a:spcPts val="800"/>
                        </a:spcAft>
                      </a:pPr>
                      <a:r>
                        <a:rPr lang="en-GB" sz="1000" kern="0">
                          <a:effectLst/>
                        </a:rPr>
                        <a:t>Total</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dirty="0">
                          <a:effectLst/>
                        </a:rPr>
                        <a:t> </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en-GB" sz="1000" kern="0" dirty="0">
                          <a:effectLst/>
                        </a:rPr>
                        <a:t>£8,198.38</a:t>
                      </a:r>
                      <a:endParaRPr lang="en-GB"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6989149"/>
                  </a:ext>
                </a:extLst>
              </a:tr>
            </a:tbl>
          </a:graphicData>
        </a:graphic>
      </p:graphicFrame>
      <p:sp>
        <p:nvSpPr>
          <p:cNvPr id="7" name="Rectangle 2">
            <a:extLst>
              <a:ext uri="{FF2B5EF4-FFF2-40B4-BE49-F238E27FC236}">
                <a16:creationId xmlns:a16="http://schemas.microsoft.com/office/drawing/2014/main" id="{015B7F65-DE1E-DB67-7187-D0A1DBA42F18}"/>
              </a:ext>
            </a:extLst>
          </p:cNvPr>
          <p:cNvSpPr>
            <a:spLocks noChangeArrowheads="1"/>
          </p:cNvSpPr>
          <p:nvPr/>
        </p:nvSpPr>
        <p:spPr bwMode="auto">
          <a:xfrm>
            <a:off x="7217229" y="1165222"/>
            <a:ext cx="4528458"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14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Fabric Capacity Units:</a:t>
            </a:r>
            <a:endParaRPr kumimoji="0" lang="en-GB" altLang="en-US" sz="1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Pct val="100000"/>
              <a:buFont typeface="Symbol" panose="05050102010706020507" pitchFamily="18" charset="2"/>
              <a:buChar char=""/>
              <a:tabLst/>
            </a:pPr>
            <a:r>
              <a:rPr kumimoji="0" lang="en-GB" altLang="en-US" sz="14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F64 Capacity: 32 </a:t>
            </a:r>
            <a:r>
              <a:rPr kumimoji="0" lang="en-GB" altLang="en-US" sz="1400" i="0" u="none" strike="noStrike" cap="none" normalizeH="0" baseline="0" dirty="0" err="1">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vCores</a:t>
            </a:r>
            <a:r>
              <a:rPr kumimoji="0" lang="en-GB" altLang="en-US" sz="14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64 CU/sec, 5.5 million CU/day.</a:t>
            </a:r>
            <a:endParaRPr kumimoji="0" lang="en-GB" altLang="en-US" sz="24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Pct val="100000"/>
              <a:buFont typeface="Symbol" panose="05050102010706020507" pitchFamily="18" charset="2"/>
              <a:buChar char=""/>
              <a:tabLst/>
            </a:pPr>
            <a:r>
              <a:rPr kumimoji="0" lang="en-GB" altLang="en-US" sz="14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Monthly/Yearly Costs:</a:t>
            </a:r>
            <a:endParaRPr kumimoji="0" lang="en-GB" altLang="en-US" sz="1400" i="0" u="none" strike="noStrike" cap="none" normalizeH="0" baseline="0" dirty="0">
              <a:ln>
                <a:noFill/>
              </a:ln>
              <a:solidFill>
                <a:schemeClr val="tx1"/>
              </a:solidFill>
              <a:effectLst/>
            </a:endParaRPr>
          </a:p>
          <a:p>
            <a:pPr marL="914400" marR="0" lvl="2" indent="0" algn="l" defTabSz="914400" rtl="0" eaLnBrk="0" fontAlgn="base" latinLnBrk="0" hangingPunct="0">
              <a:lnSpc>
                <a:spcPct val="100000"/>
              </a:lnSpc>
              <a:spcBef>
                <a:spcPct val="0"/>
              </a:spcBef>
              <a:spcAft>
                <a:spcPct val="0"/>
              </a:spcAft>
              <a:buClrTx/>
              <a:buSzPct val="100000"/>
              <a:buFont typeface="Courier New" panose="02070309020205020404" pitchFamily="49" charset="0"/>
              <a:buChar char="o"/>
              <a:tabLst/>
            </a:pPr>
            <a:r>
              <a:rPr kumimoji="0" lang="en-GB" altLang="en-US" sz="14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64 CU: £7,513.51/month, £90,162.12/year.</a:t>
            </a:r>
            <a:endParaRPr kumimoji="0" lang="en-GB" altLang="en-US" sz="14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14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Azure Estimate:</a:t>
            </a:r>
            <a:endParaRPr kumimoji="0" lang="en-GB" altLang="en-US" sz="1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Pct val="100000"/>
              <a:buFont typeface="Symbol" panose="05050102010706020507" pitchFamily="18" charset="2"/>
              <a:buChar char=""/>
              <a:tabLst/>
            </a:pPr>
            <a:r>
              <a:rPr kumimoji="0" lang="en-GB" altLang="en-US" sz="14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Fabric Analytics: £7,894.75/month (F64, 64 CU, 5,000 GB </a:t>
            </a:r>
            <a:r>
              <a:rPr kumimoji="0" lang="en-GB" altLang="en-US" sz="1400" i="0" u="none" strike="noStrike" cap="none" normalizeH="0" baseline="0" dirty="0" err="1">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OneLake</a:t>
            </a:r>
            <a:r>
              <a:rPr kumimoji="0" lang="en-GB" altLang="en-US" sz="14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storage).</a:t>
            </a:r>
            <a:endParaRPr kumimoji="0" lang="en-GB" altLang="en-US" sz="24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Pct val="100000"/>
              <a:buFont typeface="Symbol" panose="05050102010706020507" pitchFamily="18" charset="2"/>
              <a:buChar char=""/>
              <a:tabLst/>
            </a:pPr>
            <a:r>
              <a:rPr kumimoji="0" lang="en-GB" altLang="en-US" sz="14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Azure Databricks: £303.64/month (Standard Tier, 1.5 DBU, 730 hours).</a:t>
            </a:r>
            <a:endParaRPr kumimoji="0" lang="en-GB" altLang="en-US" sz="24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Pct val="100000"/>
              <a:buFont typeface="Symbol" panose="05050102010706020507" pitchFamily="18" charset="2"/>
              <a:buChar char=""/>
              <a:tabLst/>
            </a:pPr>
            <a:r>
              <a:rPr kumimoji="0" lang="en-GB" altLang="en-US" sz="140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Total Estimated Monthly Cost: £8,198.38.</a:t>
            </a:r>
          </a:p>
          <a:p>
            <a:pPr marL="457200" marR="0" lvl="1" indent="0" algn="l" defTabSz="914400" rtl="0" eaLnBrk="0" fontAlgn="base" latinLnBrk="0" hangingPunct="0">
              <a:lnSpc>
                <a:spcPct val="100000"/>
              </a:lnSpc>
              <a:spcBef>
                <a:spcPct val="0"/>
              </a:spcBef>
              <a:spcAft>
                <a:spcPct val="0"/>
              </a:spcAft>
              <a:buClrTx/>
              <a:buSzPct val="100000"/>
              <a:buFont typeface="Symbol" panose="05050102010706020507" pitchFamily="18" charset="2"/>
              <a:buChar char=""/>
              <a:tabLst/>
            </a:pPr>
            <a:endParaRPr lang="en-GB" altLang="en-US" sz="1400" dirty="0">
              <a:latin typeface="Aptos" panose="020B0004020202020204" pitchFamily="34"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Pct val="100000"/>
              <a:buFont typeface="Symbol" panose="05050102010706020507" pitchFamily="18" charset="2"/>
              <a:buChar char=""/>
              <a:tabLst/>
            </a:pPr>
            <a:endParaRPr kumimoji="0" lang="en-GB" altLang="en-US" sz="1400" i="0" u="none" strike="noStrike" cap="none" normalizeH="0" baseline="0" dirty="0">
              <a:ln>
                <a:noFill/>
              </a:ln>
              <a:solidFill>
                <a:schemeClr val="tx1"/>
              </a:solidFill>
              <a:effectLst/>
              <a:latin typeface="Aptos" panose="020B0004020202020204" pitchFamily="34"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Pct val="100000"/>
              <a:buFont typeface="Symbol" panose="05050102010706020507" pitchFamily="18" charset="2"/>
              <a:buChar char=""/>
              <a:tabLst/>
            </a:pPr>
            <a:r>
              <a:rPr lang="en-GB" altLang="en-US" sz="1400" dirty="0">
                <a:solidFill>
                  <a:schemeClr val="tx2">
                    <a:lumMod val="50000"/>
                    <a:lumOff val="50000"/>
                  </a:schemeClr>
                </a:solidFill>
                <a:latin typeface="Aptos" panose="020B0004020202020204" pitchFamily="34" charset="0"/>
                <a:cs typeface="Times New Roman" panose="02020603050405020304" pitchFamily="18" charset="0"/>
              </a:rPr>
              <a:t>Note this cost includes the P1 Power BI Subscription Tier</a:t>
            </a:r>
            <a:endParaRPr kumimoji="0" lang="en-GB" altLang="en-US" sz="1400" i="0" u="none" strike="noStrike" cap="none" normalizeH="0" baseline="0" dirty="0">
              <a:ln>
                <a:noFill/>
              </a:ln>
              <a:solidFill>
                <a:schemeClr val="tx2">
                  <a:lumMod val="50000"/>
                  <a:lumOff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930B2AAA-D1C7-D56C-CD4D-B5944BA7C14B}"/>
              </a:ext>
            </a:extLst>
          </p:cNvPr>
          <p:cNvSpPr txBox="1"/>
          <p:nvPr/>
        </p:nvSpPr>
        <p:spPr>
          <a:xfrm>
            <a:off x="315686" y="110269"/>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8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2. Cost Analysis</a:t>
            </a:r>
            <a:endParaRPr kumimoji="0" lang="en-GB"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8344841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28D414-963A-5B75-CC7B-BD546D6FA4A5}"/>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6" name="Rectangle 25">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8A595FA-77AD-496C-4CDE-9BE33CD60CFB}"/>
              </a:ext>
            </a:extLst>
          </p:cNvPr>
          <p:cNvSpPr txBox="1"/>
          <p:nvPr/>
        </p:nvSpPr>
        <p:spPr>
          <a:xfrm>
            <a:off x="1057025" y="922644"/>
            <a:ext cx="5040285" cy="1169585"/>
          </a:xfrm>
          <a:prstGeom prst="rect">
            <a:avLst/>
          </a:prstGeom>
        </p:spPr>
        <p:txBody>
          <a:bodyPr vert="horz" lIns="91440" tIns="45720" rIns="91440" bIns="45720" rtlCol="0" anchor="b">
            <a:normAutofit/>
          </a:bodyPr>
          <a:lstStyle/>
          <a:p>
            <a:pPr>
              <a:lnSpc>
                <a:spcPct val="90000"/>
              </a:lnSpc>
              <a:spcBef>
                <a:spcPct val="0"/>
              </a:spcBef>
              <a:spcAft>
                <a:spcPts val="800"/>
              </a:spcAft>
            </a:pPr>
            <a:r>
              <a:rPr lang="en-US" sz="3700" b="1">
                <a:effectLst/>
                <a:latin typeface="+mj-lt"/>
                <a:ea typeface="+mj-ea"/>
                <a:cs typeface="+mj-cs"/>
              </a:rPr>
              <a:t>3. Migration from Azure Synapse</a:t>
            </a:r>
            <a:endParaRPr lang="en-US" sz="3700">
              <a:effectLst/>
              <a:latin typeface="+mj-lt"/>
              <a:ea typeface="+mj-ea"/>
              <a:cs typeface="+mj-cs"/>
            </a:endParaRPr>
          </a:p>
        </p:txBody>
      </p:sp>
      <p:sp>
        <p:nvSpPr>
          <p:cNvPr id="31" name="Rectangle 30">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37DCAA9-CE9E-9F20-CDAC-2A658A3A44D8}"/>
              </a:ext>
            </a:extLst>
          </p:cNvPr>
          <p:cNvSpPr txBox="1"/>
          <p:nvPr/>
        </p:nvSpPr>
        <p:spPr>
          <a:xfrm>
            <a:off x="1055715" y="2508105"/>
            <a:ext cx="5040285" cy="3632493"/>
          </a:xfrm>
          <a:prstGeom prst="rect">
            <a:avLst/>
          </a:prstGeom>
        </p:spPr>
        <p:txBody>
          <a:bodyPr vert="horz" lIns="91440" tIns="45720" rIns="91440" bIns="45720" rtlCol="0" anchor="ctr">
            <a:normAutofit fontScale="92500" lnSpcReduction="20000"/>
          </a:bodyPr>
          <a:lstStyle/>
          <a:p>
            <a:pPr marL="342900" lvl="0" indent="-228600">
              <a:lnSpc>
                <a:spcPct val="90000"/>
              </a:lnSpc>
              <a:spcAft>
                <a:spcPts val="800"/>
              </a:spcAft>
              <a:buSzPts val="1000"/>
              <a:buFont typeface="Arial" panose="020B0604020202020204" pitchFamily="34" charset="0"/>
              <a:buChar char="•"/>
              <a:tabLst>
                <a:tab pos="457200" algn="l"/>
              </a:tabLst>
            </a:pPr>
            <a:r>
              <a:rPr lang="en-US" sz="1700" b="1" dirty="0">
                <a:effectLst/>
              </a:rPr>
              <a:t>Notebook Migration:</a:t>
            </a:r>
            <a:endParaRPr lang="en-US" sz="1700" dirty="0">
              <a:effectLst/>
            </a:endParaRPr>
          </a:p>
          <a:p>
            <a:pPr marL="742950" lvl="1" indent="-228600">
              <a:lnSpc>
                <a:spcPct val="90000"/>
              </a:lnSpc>
              <a:spcAft>
                <a:spcPts val="800"/>
              </a:spcAft>
              <a:buSzPts val="1000"/>
              <a:buFont typeface="Arial" panose="020B0604020202020204" pitchFamily="34" charset="0"/>
              <a:buChar char="•"/>
              <a:tabLst>
                <a:tab pos="914400" algn="l"/>
              </a:tabLst>
            </a:pPr>
            <a:r>
              <a:rPr lang="en-US" sz="1700" dirty="0">
                <a:effectLst/>
              </a:rPr>
              <a:t>Option 1: Manually export/import notebooks (.</a:t>
            </a:r>
            <a:r>
              <a:rPr lang="en-US" sz="1700" dirty="0" err="1">
                <a:effectLst/>
              </a:rPr>
              <a:t>ipynb</a:t>
            </a:r>
            <a:r>
              <a:rPr lang="en-US" sz="1700" dirty="0">
                <a:effectLst/>
              </a:rPr>
              <a:t>) from Synapse to Fabric.</a:t>
            </a:r>
          </a:p>
          <a:p>
            <a:pPr marL="742950" lvl="1" indent="-228600">
              <a:lnSpc>
                <a:spcPct val="90000"/>
              </a:lnSpc>
              <a:spcAft>
                <a:spcPts val="800"/>
              </a:spcAft>
              <a:buSzPts val="1000"/>
              <a:buFont typeface="Arial" panose="020B0604020202020204" pitchFamily="34" charset="0"/>
              <a:buChar char="•"/>
              <a:tabLst>
                <a:tab pos="914400" algn="l"/>
              </a:tabLst>
            </a:pPr>
            <a:r>
              <a:rPr lang="en-US" sz="1700" dirty="0">
                <a:effectLst/>
              </a:rPr>
              <a:t>Option 2: Use scripts and APIs for automated migration</a:t>
            </a:r>
            <a:r>
              <a:rPr lang="en-US" sz="1700" b="1" dirty="0">
                <a:effectLst/>
              </a:rPr>
              <a:t>.</a:t>
            </a:r>
            <a:endParaRPr lang="en-US" sz="1700" dirty="0">
              <a:effectLst/>
            </a:endParaRPr>
          </a:p>
          <a:p>
            <a:pPr marL="342900" lvl="0" indent="-228600">
              <a:lnSpc>
                <a:spcPct val="90000"/>
              </a:lnSpc>
              <a:spcAft>
                <a:spcPts val="800"/>
              </a:spcAft>
              <a:buSzPts val="1000"/>
              <a:buFont typeface="Arial" panose="020B0604020202020204" pitchFamily="34" charset="0"/>
              <a:buChar char="•"/>
              <a:tabLst>
                <a:tab pos="457200" algn="l"/>
              </a:tabLst>
            </a:pPr>
            <a:r>
              <a:rPr lang="en-US" sz="1700" b="1" dirty="0">
                <a:effectLst/>
              </a:rPr>
              <a:t>Data Migration:</a:t>
            </a:r>
            <a:endParaRPr lang="en-US" sz="1700" dirty="0">
              <a:effectLst/>
            </a:endParaRPr>
          </a:p>
          <a:p>
            <a:pPr marL="742950" lvl="1" indent="-228600">
              <a:lnSpc>
                <a:spcPct val="90000"/>
              </a:lnSpc>
              <a:spcAft>
                <a:spcPts val="800"/>
              </a:spcAft>
              <a:buSzPts val="1000"/>
              <a:buFont typeface="Arial" panose="020B0604020202020204" pitchFamily="34" charset="0"/>
              <a:buChar char="•"/>
              <a:tabLst>
                <a:tab pos="914400" algn="l"/>
              </a:tabLst>
            </a:pPr>
            <a:r>
              <a:rPr lang="en-US" sz="1700" dirty="0">
                <a:effectLst/>
              </a:rPr>
              <a:t>Option 1: Use </a:t>
            </a:r>
            <a:r>
              <a:rPr lang="en-US" sz="1700" dirty="0" err="1">
                <a:effectLst/>
              </a:rPr>
              <a:t>OneLake</a:t>
            </a:r>
            <a:r>
              <a:rPr lang="en-US" sz="1700" dirty="0">
                <a:effectLst/>
              </a:rPr>
              <a:t> shortcuts to avoid data copying if already using ADLS Gen2.</a:t>
            </a:r>
          </a:p>
          <a:p>
            <a:pPr marL="742950" lvl="1" indent="-228600">
              <a:lnSpc>
                <a:spcPct val="90000"/>
              </a:lnSpc>
              <a:spcAft>
                <a:spcPts val="800"/>
              </a:spcAft>
              <a:buSzPts val="1000"/>
              <a:buFont typeface="Arial" panose="020B0604020202020204" pitchFamily="34" charset="0"/>
              <a:buChar char="•"/>
              <a:tabLst>
                <a:tab pos="914400" algn="l"/>
              </a:tabLst>
            </a:pPr>
            <a:r>
              <a:rPr lang="en-US" sz="1700" dirty="0">
                <a:effectLst/>
              </a:rPr>
              <a:t>Option 2: Migrate data to </a:t>
            </a:r>
            <a:r>
              <a:rPr lang="en-US" sz="1700" dirty="0" err="1">
                <a:effectLst/>
              </a:rPr>
              <a:t>OneLake</a:t>
            </a:r>
            <a:r>
              <a:rPr lang="en-US" sz="1700" dirty="0">
                <a:effectLst/>
              </a:rPr>
              <a:t> as the default storage layer and update notebooks/Spark jobs to read/write from </a:t>
            </a:r>
            <a:r>
              <a:rPr lang="en-US" sz="1700" dirty="0" err="1">
                <a:effectLst/>
              </a:rPr>
              <a:t>OneLake</a:t>
            </a:r>
            <a:r>
              <a:rPr lang="en-US" sz="1700" dirty="0">
                <a:effectLst/>
              </a:rPr>
              <a:t>.</a:t>
            </a:r>
          </a:p>
          <a:p>
            <a:pPr marL="742950" lvl="1" indent="-228600">
              <a:lnSpc>
                <a:spcPct val="90000"/>
              </a:lnSpc>
              <a:spcAft>
                <a:spcPts val="800"/>
              </a:spcAft>
              <a:buSzPts val="1000"/>
              <a:buFont typeface="Arial" panose="020B0604020202020204" pitchFamily="34" charset="0"/>
              <a:buChar char="•"/>
              <a:tabLst>
                <a:tab pos="914400" algn="l"/>
              </a:tabLst>
            </a:pPr>
            <a:r>
              <a:rPr lang="en-US" sz="1700" dirty="0"/>
              <a:t>Insert Stored procedures in the Lakehouse using the SQL </a:t>
            </a:r>
            <a:r>
              <a:rPr lang="en-US" sz="1700" dirty="0" err="1"/>
              <a:t>endpoint.Access</a:t>
            </a:r>
            <a:r>
              <a:rPr lang="en-US" sz="1700" dirty="0"/>
              <a:t> can be done in </a:t>
            </a:r>
            <a:r>
              <a:rPr lang="en-US" sz="1700" dirty="0" err="1"/>
              <a:t>Vscode</a:t>
            </a:r>
            <a:r>
              <a:rPr lang="en-US" sz="1700" dirty="0"/>
              <a:t>/Azure Data </a:t>
            </a:r>
            <a:r>
              <a:rPr lang="en-US" sz="1700" dirty="0" err="1"/>
              <a:t>Sudio</a:t>
            </a:r>
            <a:endParaRPr lang="en-US" sz="1700" dirty="0">
              <a:effectLst/>
            </a:endParaRPr>
          </a:p>
        </p:txBody>
      </p:sp>
      <p:pic>
        <p:nvPicPr>
          <p:cNvPr id="5" name="Picture 4" descr="A logo with arrows and clouds&#10;&#10;Description automatically generated">
            <a:extLst>
              <a:ext uri="{FF2B5EF4-FFF2-40B4-BE49-F238E27FC236}">
                <a16:creationId xmlns:a16="http://schemas.microsoft.com/office/drawing/2014/main" id="{DF7A44BD-BC98-40CD-AFCB-16980BDE120F}"/>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440855" y="774285"/>
            <a:ext cx="3400743" cy="2581173"/>
          </a:xfrm>
          <a:prstGeom prst="rect">
            <a:avLst/>
          </a:prstGeom>
        </p:spPr>
      </p:pic>
      <p:pic>
        <p:nvPicPr>
          <p:cNvPr id="4" name="Picture 3">
            <a:extLst>
              <a:ext uri="{FF2B5EF4-FFF2-40B4-BE49-F238E27FC236}">
                <a16:creationId xmlns:a16="http://schemas.microsoft.com/office/drawing/2014/main" id="{1049EA3E-0328-4BFB-01EF-76688B6540A2}"/>
              </a:ext>
            </a:extLst>
          </p:cNvPr>
          <p:cNvPicPr>
            <a:picLocks noChangeAspect="1"/>
          </p:cNvPicPr>
          <p:nvPr/>
        </p:nvPicPr>
        <p:blipFill>
          <a:blip r:embed="rId5"/>
          <a:stretch>
            <a:fillRect/>
          </a:stretch>
        </p:blipFill>
        <p:spPr>
          <a:xfrm>
            <a:off x="6946667" y="3850677"/>
            <a:ext cx="4389120" cy="2029967"/>
          </a:xfrm>
          <a:prstGeom prst="rect">
            <a:avLst/>
          </a:prstGeom>
        </p:spPr>
      </p:pic>
      <p:sp>
        <p:nvSpPr>
          <p:cNvPr id="6" name="TextBox 5">
            <a:extLst>
              <a:ext uri="{FF2B5EF4-FFF2-40B4-BE49-F238E27FC236}">
                <a16:creationId xmlns:a16="http://schemas.microsoft.com/office/drawing/2014/main" id="{45B461A4-26EA-76FC-3DD6-0D8433EA56C2}"/>
              </a:ext>
            </a:extLst>
          </p:cNvPr>
          <p:cNvSpPr txBox="1"/>
          <p:nvPr/>
        </p:nvSpPr>
        <p:spPr>
          <a:xfrm>
            <a:off x="8231588" y="3155403"/>
            <a:ext cx="2610010" cy="200055"/>
          </a:xfrm>
          <a:prstGeom prst="rect">
            <a:avLst/>
          </a:prstGeom>
          <a:solidFill>
            <a:srgbClr val="000000"/>
          </a:solidFill>
        </p:spPr>
        <p:txBody>
          <a:bodyPr wrap="none" rtlCol="0">
            <a:spAutoFit/>
          </a:bodyPr>
          <a:lstStyle/>
          <a:p>
            <a:pPr algn="r">
              <a:spcAft>
                <a:spcPts val="600"/>
              </a:spcAft>
            </a:pPr>
            <a:r>
              <a:rPr lang="en-GB" sz="700" dirty="0">
                <a:solidFill>
                  <a:srgbClr val="FFFFFF"/>
                </a:solidFill>
                <a:hlinkClick r:id="rId4" tooltip="https://blog.hametbenoit.info/2019/02/05/azure-want-to-influence-the-next-capabilities-for-azure-migrate/">
                  <a:extLst>
                    <a:ext uri="{A12FA001-AC4F-418D-AE19-62706E023703}">
                      <ahyp:hlinkClr xmlns:ahyp="http://schemas.microsoft.com/office/drawing/2018/hyperlinkcolor" val="tx"/>
                    </a:ext>
                  </a:extLst>
                </a:hlinkClick>
              </a:rPr>
              <a:t>This Photo</a:t>
            </a:r>
            <a:r>
              <a:rPr lang="en-GB" sz="700" dirty="0">
                <a:solidFill>
                  <a:srgbClr val="FFFFFF"/>
                </a:solidFill>
              </a:rPr>
              <a:t> by Unknown Author is licensed under </a:t>
            </a:r>
            <a:r>
              <a:rPr lang="en-GB" sz="700" dirty="0">
                <a:solidFill>
                  <a:srgbClr val="FFFFFF"/>
                </a:solidFill>
                <a:hlinkClick r:id="rId6" tooltip="https://creativecommons.org/licenses/by-nc-nd/3.0/">
                  <a:extLst>
                    <a:ext uri="{A12FA001-AC4F-418D-AE19-62706E023703}">
                      <ahyp:hlinkClr xmlns:ahyp="http://schemas.microsoft.com/office/drawing/2018/hyperlinkcolor" val="tx"/>
                    </a:ext>
                  </a:extLst>
                </a:hlinkClick>
              </a:rPr>
              <a:t>CC BY-NC-ND</a:t>
            </a:r>
            <a:endParaRPr lang="en-GB" sz="700" dirty="0">
              <a:solidFill>
                <a:srgbClr val="FFFFFF"/>
              </a:solidFill>
            </a:endParaRPr>
          </a:p>
        </p:txBody>
      </p:sp>
    </p:spTree>
    <p:extLst>
      <p:ext uri="{BB962C8B-B14F-4D97-AF65-F5344CB8AC3E}">
        <p14:creationId xmlns:p14="http://schemas.microsoft.com/office/powerpoint/2010/main" val="2711543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61CD6-3559-B01A-15B7-84B50FFF744D}"/>
            </a:ext>
          </a:extLst>
        </p:cNvPr>
        <p:cNvGrpSpPr/>
        <p:nvPr/>
      </p:nvGrpSpPr>
      <p:grpSpPr>
        <a:xfrm>
          <a:off x="0" y="0"/>
          <a:ext cx="0" cy="0"/>
          <a:chOff x="0" y="0"/>
          <a:chExt cx="0" cy="0"/>
        </a:xfrm>
      </p:grpSpPr>
      <p:sp>
        <p:nvSpPr>
          <p:cNvPr id="5" name="Rectangle 8">
            <a:extLst>
              <a:ext uri="{FF2B5EF4-FFF2-40B4-BE49-F238E27FC236}">
                <a16:creationId xmlns:a16="http://schemas.microsoft.com/office/drawing/2014/main" id="{0EED22BE-8A03-64DE-3EFC-FC6075204F77}"/>
              </a:ext>
            </a:extLst>
          </p:cNvPr>
          <p:cNvSpPr>
            <a:spLocks noChangeArrowheads="1"/>
          </p:cNvSpPr>
          <p:nvPr/>
        </p:nvSpPr>
        <p:spPr bwMode="auto">
          <a:xfrm rot="10800000" flipV="1">
            <a:off x="315134" y="689581"/>
            <a:ext cx="111039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16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Managed Entra ID: Granular access control at the workspace and resource level.</a:t>
            </a:r>
            <a:endParaRPr kumimoji="0" lang="en-GB" altLang="en-US" sz="1600" b="0" i="0" u="none" strike="noStrike" cap="none" normalizeH="0" baseline="0" dirty="0">
              <a:ln>
                <a:noFill/>
              </a:ln>
              <a:solidFill>
                <a:schemeClr val="tx1"/>
              </a:solidFill>
              <a:effectLst/>
            </a:endParaRPr>
          </a:p>
        </p:txBody>
      </p:sp>
      <p:sp>
        <p:nvSpPr>
          <p:cNvPr id="6" name="Rectangle 9">
            <a:extLst>
              <a:ext uri="{FF2B5EF4-FFF2-40B4-BE49-F238E27FC236}">
                <a16:creationId xmlns:a16="http://schemas.microsoft.com/office/drawing/2014/main" id="{EF6AC5B9-67BC-FDAB-9A54-A8F2A1A9C595}"/>
              </a:ext>
            </a:extLst>
          </p:cNvPr>
          <p:cNvSpPr>
            <a:spLocks noChangeArrowheads="1"/>
          </p:cNvSpPr>
          <p:nvPr/>
        </p:nvSpPr>
        <p:spPr bwMode="auto">
          <a:xfrm rot="10800000" flipV="1">
            <a:off x="97420" y="1324596"/>
            <a:ext cx="111039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12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RBAC Role: Assign Storage Blob Data Contributor role to Fabric Managed Identity for secure access.</a:t>
            </a:r>
            <a:endParaRPr kumimoji="0" lang="en-GB" altLang="en-US" sz="20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12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Private Endpoints are created to allow for outbound and inbound data access</a:t>
            </a:r>
            <a:endParaRPr kumimoji="0" lang="en-GB" altLang="en-US" sz="1200" b="1" i="0" u="none" strike="noStrike" cap="none" normalizeH="0" baseline="0" dirty="0">
              <a:ln>
                <a:noFill/>
              </a:ln>
              <a:solidFill>
                <a:schemeClr val="tx1"/>
              </a:solidFill>
              <a:effectLst/>
            </a:endParaRPr>
          </a:p>
        </p:txBody>
      </p:sp>
      <p:sp>
        <p:nvSpPr>
          <p:cNvPr id="7" name="Rectangle 10">
            <a:extLst>
              <a:ext uri="{FF2B5EF4-FFF2-40B4-BE49-F238E27FC236}">
                <a16:creationId xmlns:a16="http://schemas.microsoft.com/office/drawing/2014/main" id="{B550B2D3-7190-9423-71E2-F58AE6DB11B2}"/>
              </a:ext>
            </a:extLst>
          </p:cNvPr>
          <p:cNvSpPr>
            <a:spLocks noChangeArrowheads="1"/>
          </p:cNvSpPr>
          <p:nvPr/>
        </p:nvSpPr>
        <p:spPr bwMode="auto">
          <a:xfrm flipV="1">
            <a:off x="1088020" y="6599237"/>
            <a:ext cx="11103980" cy="98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3" name="TextBox 2">
            <a:extLst>
              <a:ext uri="{FF2B5EF4-FFF2-40B4-BE49-F238E27FC236}">
                <a16:creationId xmlns:a16="http://schemas.microsoft.com/office/drawing/2014/main" id="{8D3FB783-3BF5-C2FE-BCF6-A2F9155BEE83}"/>
              </a:ext>
            </a:extLst>
          </p:cNvPr>
          <p:cNvSpPr txBox="1"/>
          <p:nvPr/>
        </p:nvSpPr>
        <p:spPr>
          <a:xfrm>
            <a:off x="399221" y="174916"/>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8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4. Security &amp; Access Control</a:t>
            </a:r>
            <a:endParaRPr kumimoji="0" lang="en-GB" altLang="en-US" sz="1800" b="0" i="0" u="none" strike="noStrike" cap="none" normalizeH="0" baseline="0" dirty="0">
              <a:ln>
                <a:noFill/>
              </a:ln>
              <a:solidFill>
                <a:schemeClr val="tx1"/>
              </a:solidFill>
              <a:effectLst/>
            </a:endParaRPr>
          </a:p>
        </p:txBody>
      </p:sp>
      <p:pic>
        <p:nvPicPr>
          <p:cNvPr id="4" name="Picture 3" descr="A screenshot of a computer&#10;&#10;Description automatically generated">
            <a:extLst>
              <a:ext uri="{FF2B5EF4-FFF2-40B4-BE49-F238E27FC236}">
                <a16:creationId xmlns:a16="http://schemas.microsoft.com/office/drawing/2014/main" id="{3BB5C9D0-45F5-3AED-F2B4-121D6B6D2AEE}"/>
              </a:ext>
            </a:extLst>
          </p:cNvPr>
          <p:cNvPicPr>
            <a:picLocks noChangeAspect="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0" y="2004685"/>
            <a:ext cx="4098453" cy="3528720"/>
          </a:xfrm>
          <a:prstGeom prst="rect">
            <a:avLst/>
          </a:prstGeom>
          <a:noFill/>
          <a:ln>
            <a:noFill/>
          </a:ln>
        </p:spPr>
      </p:pic>
      <p:pic>
        <p:nvPicPr>
          <p:cNvPr id="8" name="Picture 7" descr="A screenshot of a computer&#10;&#10;Description automatically generated">
            <a:extLst>
              <a:ext uri="{FF2B5EF4-FFF2-40B4-BE49-F238E27FC236}">
                <a16:creationId xmlns:a16="http://schemas.microsoft.com/office/drawing/2014/main" id="{E92068ED-BF43-DC9F-DEB5-D9D5FD6878B0}"/>
              </a:ext>
            </a:extLst>
          </p:cNvPr>
          <p:cNvPicPr>
            <a:picLocks noChangeAspect="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4563491" y="2093968"/>
            <a:ext cx="7060115" cy="3452885"/>
          </a:xfrm>
          <a:prstGeom prst="rect">
            <a:avLst/>
          </a:prstGeom>
          <a:noFill/>
          <a:ln>
            <a:noFill/>
          </a:ln>
        </p:spPr>
      </p:pic>
    </p:spTree>
    <p:extLst>
      <p:ext uri="{BB962C8B-B14F-4D97-AF65-F5344CB8AC3E}">
        <p14:creationId xmlns:p14="http://schemas.microsoft.com/office/powerpoint/2010/main" val="1923611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B4759-C7C2-7E4C-154D-672A08F467A4}"/>
            </a:ext>
          </a:extLst>
        </p:cNvPr>
        <p:cNvGrpSpPr/>
        <p:nvPr/>
      </p:nvGrpSpPr>
      <p:grpSpPr>
        <a:xfrm>
          <a:off x="0" y="0"/>
          <a:ext cx="0" cy="0"/>
          <a:chOff x="0" y="0"/>
          <a:chExt cx="0" cy="0"/>
        </a:xfrm>
      </p:grpSpPr>
      <p:pic>
        <p:nvPicPr>
          <p:cNvPr id="3075" name="Picture 3" descr="A diagram of a computer work space&#10;&#10;Description automatically generated">
            <a:extLst>
              <a:ext uri="{FF2B5EF4-FFF2-40B4-BE49-F238E27FC236}">
                <a16:creationId xmlns:a16="http://schemas.microsoft.com/office/drawing/2014/main" id="{6B758706-890A-B50B-666D-97C4FCD7F3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3710" y="1148605"/>
            <a:ext cx="5543246" cy="2559864"/>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A screenshot of a computer&#10;&#10;Description automatically generated">
            <a:extLst>
              <a:ext uri="{FF2B5EF4-FFF2-40B4-BE49-F238E27FC236}">
                <a16:creationId xmlns:a16="http://schemas.microsoft.com/office/drawing/2014/main" id="{9294DC3D-DC1C-5E38-5383-4C4576D029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 y="1148605"/>
            <a:ext cx="6291633" cy="2656148"/>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1" descr="A screenshot of a computer&#10;&#10;Description automatically generated">
            <a:extLst>
              <a:ext uri="{FF2B5EF4-FFF2-40B4-BE49-F238E27FC236}">
                <a16:creationId xmlns:a16="http://schemas.microsoft.com/office/drawing/2014/main" id="{F6FBFFC4-C348-1D79-B7B4-40ED0B7E35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377" y="4162824"/>
            <a:ext cx="6063566" cy="259928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018B6F86-4488-E486-866C-15CE34D64536}"/>
              </a:ext>
            </a:extLst>
          </p:cNvPr>
          <p:cNvSpPr>
            <a:spLocks noChangeArrowheads="1"/>
          </p:cNvSpPr>
          <p:nvPr/>
        </p:nvSpPr>
        <p:spPr bwMode="auto">
          <a:xfrm>
            <a:off x="228376" y="570995"/>
            <a:ext cx="1119657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12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Development Process: Developers can work in isolated environments (local IDE or Fabric workspace).</a:t>
            </a:r>
            <a:endParaRPr kumimoji="0" lang="en-GB" altLang="en-US" sz="1200" b="0" i="0" u="none" strike="noStrike" cap="none" normalizeH="0" baseline="0" dirty="0">
              <a:ln>
                <a:noFill/>
              </a:ln>
              <a:solidFill>
                <a:schemeClr val="tx1"/>
              </a:solidFill>
              <a:effectLst/>
            </a:endParaRPr>
          </a:p>
        </p:txBody>
      </p:sp>
      <p:sp>
        <p:nvSpPr>
          <p:cNvPr id="3" name="Rectangle 5">
            <a:extLst>
              <a:ext uri="{FF2B5EF4-FFF2-40B4-BE49-F238E27FC236}">
                <a16:creationId xmlns:a16="http://schemas.microsoft.com/office/drawing/2014/main" id="{648BA01D-8701-FC08-D9DD-72998E076489}"/>
              </a:ext>
            </a:extLst>
          </p:cNvPr>
          <p:cNvSpPr>
            <a:spLocks noChangeArrowheads="1"/>
          </p:cNvSpPr>
          <p:nvPr/>
        </p:nvSpPr>
        <p:spPr bwMode="auto">
          <a:xfrm>
            <a:off x="1452622" y="2229090"/>
            <a:ext cx="11196577" cy="133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4" name="Rectangle 6">
            <a:extLst>
              <a:ext uri="{FF2B5EF4-FFF2-40B4-BE49-F238E27FC236}">
                <a16:creationId xmlns:a16="http://schemas.microsoft.com/office/drawing/2014/main" id="{5D5DEF6D-B71D-94B1-47A0-F05A5B28470F}"/>
              </a:ext>
            </a:extLst>
          </p:cNvPr>
          <p:cNvSpPr>
            <a:spLocks noChangeArrowheads="1"/>
          </p:cNvSpPr>
          <p:nvPr/>
        </p:nvSpPr>
        <p:spPr bwMode="auto">
          <a:xfrm>
            <a:off x="7442214" y="4979462"/>
            <a:ext cx="391885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14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CI/CD Integration: Environments support CI/CD processes, enabling smooth deployment of updates to production.</a:t>
            </a:r>
            <a:endParaRPr kumimoji="0" lang="en-GB" altLang="en-US" sz="1400" b="0" i="0" u="none" strike="noStrike" cap="none" normalizeH="0" baseline="0" dirty="0">
              <a:ln>
                <a:noFill/>
              </a:ln>
              <a:solidFill>
                <a:schemeClr val="tx1"/>
              </a:solidFill>
              <a:effectLst/>
            </a:endParaRPr>
          </a:p>
        </p:txBody>
      </p:sp>
      <p:sp>
        <p:nvSpPr>
          <p:cNvPr id="5" name="Rectangle 7">
            <a:extLst>
              <a:ext uri="{FF2B5EF4-FFF2-40B4-BE49-F238E27FC236}">
                <a16:creationId xmlns:a16="http://schemas.microsoft.com/office/drawing/2014/main" id="{4F825C00-5BF9-9AC3-BD78-933AC014A785}"/>
              </a:ext>
            </a:extLst>
          </p:cNvPr>
          <p:cNvSpPr>
            <a:spLocks noChangeArrowheads="1"/>
          </p:cNvSpPr>
          <p:nvPr/>
        </p:nvSpPr>
        <p:spPr bwMode="auto">
          <a:xfrm>
            <a:off x="995422" y="7120178"/>
            <a:ext cx="11196577" cy="133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7" name="TextBox 6">
            <a:extLst>
              <a:ext uri="{FF2B5EF4-FFF2-40B4-BE49-F238E27FC236}">
                <a16:creationId xmlns:a16="http://schemas.microsoft.com/office/drawing/2014/main" id="{52E9C161-DB48-4ED6-D1C9-E6945EA9A119}"/>
              </a:ext>
            </a:extLst>
          </p:cNvPr>
          <p:cNvSpPr txBox="1"/>
          <p:nvPr/>
        </p:nvSpPr>
        <p:spPr>
          <a:xfrm>
            <a:off x="228377" y="173702"/>
            <a:ext cx="63246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8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5. CI/CD &amp; Environments</a:t>
            </a:r>
            <a:endParaRPr kumimoji="0" lang="en-GB"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72684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5BB52-3AD5-D7ED-02AD-495E58005E5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4BDEC22-4A3C-0CD9-5F0F-AA3BAB4EBF4E}"/>
              </a:ext>
            </a:extLst>
          </p:cNvPr>
          <p:cNvSpPr txBox="1"/>
          <p:nvPr/>
        </p:nvSpPr>
        <p:spPr>
          <a:xfrm>
            <a:off x="355277" y="316588"/>
            <a:ext cx="5040285" cy="1169585"/>
          </a:xfrm>
          <a:prstGeom prst="rect">
            <a:avLst/>
          </a:prstGeom>
        </p:spPr>
        <p:txBody>
          <a:bodyPr vert="horz" lIns="91440" tIns="45720" rIns="91440" bIns="45720" rtlCol="0" anchor="b">
            <a:normAutofit lnSpcReduction="10000"/>
          </a:bodyPr>
          <a:lstStyle/>
          <a:p>
            <a:pPr>
              <a:lnSpc>
                <a:spcPct val="90000"/>
              </a:lnSpc>
              <a:spcBef>
                <a:spcPct val="0"/>
              </a:spcBef>
              <a:spcAft>
                <a:spcPts val="800"/>
              </a:spcAft>
            </a:pPr>
            <a:r>
              <a:rPr lang="en-GB" sz="4000" b="1" dirty="0">
                <a:solidFill>
                  <a:srgbClr val="000000"/>
                </a:solidFill>
                <a:effectLst/>
                <a:latin typeface="Aptos" panose="020B0004020202020204" pitchFamily="34" charset="0"/>
              </a:rPr>
              <a:t>Environments &amp; Spark pool Cluster</a:t>
            </a:r>
            <a:endParaRPr lang="en-US" sz="3700" dirty="0">
              <a:effectLst/>
              <a:latin typeface="+mj-lt"/>
              <a:ea typeface="+mj-ea"/>
              <a:cs typeface="+mj-cs"/>
            </a:endParaRPr>
          </a:p>
        </p:txBody>
      </p:sp>
      <p:sp>
        <p:nvSpPr>
          <p:cNvPr id="2" name="TextBox 1">
            <a:extLst>
              <a:ext uri="{FF2B5EF4-FFF2-40B4-BE49-F238E27FC236}">
                <a16:creationId xmlns:a16="http://schemas.microsoft.com/office/drawing/2014/main" id="{662851E9-0CD2-3906-7E67-F9DE53490BED}"/>
              </a:ext>
            </a:extLst>
          </p:cNvPr>
          <p:cNvSpPr txBox="1"/>
          <p:nvPr/>
        </p:nvSpPr>
        <p:spPr>
          <a:xfrm>
            <a:off x="190598" y="1636222"/>
            <a:ext cx="6096000" cy="646331"/>
          </a:xfrm>
          <a:prstGeom prst="rect">
            <a:avLst/>
          </a:prstGeom>
          <a:noFill/>
        </p:spPr>
        <p:txBody>
          <a:bodyPr wrap="square">
            <a:spAutoFit/>
          </a:bodyPr>
          <a:lstStyle/>
          <a:p>
            <a:r>
              <a:rPr lang="en-GB" sz="1200" dirty="0"/>
              <a:t>In </a:t>
            </a:r>
            <a:r>
              <a:rPr lang="en-GB" sz="1200" b="1" dirty="0"/>
              <a:t>Microsoft Fabric</a:t>
            </a:r>
            <a:r>
              <a:rPr lang="en-GB" sz="1200" dirty="0"/>
              <a:t>, you can logically segregate environments and Spark pool clusters using a structured approach that aligns with </a:t>
            </a:r>
            <a:r>
              <a:rPr lang="en-GB" sz="1200" b="1" dirty="0"/>
              <a:t>best practices for governance, scalability, and security</a:t>
            </a:r>
            <a:r>
              <a:rPr lang="en-GB" sz="1200" dirty="0"/>
              <a:t>. Below is a </a:t>
            </a:r>
            <a:r>
              <a:rPr lang="en-GB" sz="1200" b="1" dirty="0"/>
              <a:t>visual layout</a:t>
            </a:r>
            <a:r>
              <a:rPr lang="en-GB" sz="1200" dirty="0"/>
              <a:t> that illustrates this segregation</a:t>
            </a:r>
          </a:p>
        </p:txBody>
      </p:sp>
      <p:pic>
        <p:nvPicPr>
          <p:cNvPr id="11" name="Picture 10">
            <a:extLst>
              <a:ext uri="{FF2B5EF4-FFF2-40B4-BE49-F238E27FC236}">
                <a16:creationId xmlns:a16="http://schemas.microsoft.com/office/drawing/2014/main" id="{FFF7B7B2-8090-2D51-13B4-70BA9C38DA63}"/>
              </a:ext>
            </a:extLst>
          </p:cNvPr>
          <p:cNvPicPr>
            <a:picLocks noChangeAspect="1"/>
          </p:cNvPicPr>
          <p:nvPr/>
        </p:nvPicPr>
        <p:blipFill>
          <a:blip r:embed="rId3"/>
          <a:stretch>
            <a:fillRect/>
          </a:stretch>
        </p:blipFill>
        <p:spPr>
          <a:xfrm>
            <a:off x="5992139" y="3483578"/>
            <a:ext cx="6199861" cy="3205887"/>
          </a:xfrm>
          <a:prstGeom prst="rect">
            <a:avLst/>
          </a:prstGeom>
        </p:spPr>
      </p:pic>
      <p:graphicFrame>
        <p:nvGraphicFramePr>
          <p:cNvPr id="12" name="Diagram 11">
            <a:extLst>
              <a:ext uri="{FF2B5EF4-FFF2-40B4-BE49-F238E27FC236}">
                <a16:creationId xmlns:a16="http://schemas.microsoft.com/office/drawing/2014/main" id="{9581BEF3-D919-F1B2-EFA2-21B6FAA00412}"/>
              </a:ext>
            </a:extLst>
          </p:cNvPr>
          <p:cNvGraphicFramePr/>
          <p:nvPr>
            <p:extLst>
              <p:ext uri="{D42A27DB-BD31-4B8C-83A1-F6EECF244321}">
                <p14:modId xmlns:p14="http://schemas.microsoft.com/office/powerpoint/2010/main" val="2169714771"/>
              </p:ext>
            </p:extLst>
          </p:nvPr>
        </p:nvGraphicFramePr>
        <p:xfrm>
          <a:off x="193061" y="2399416"/>
          <a:ext cx="5364716" cy="43520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Rectangle 1">
            <a:extLst>
              <a:ext uri="{FF2B5EF4-FFF2-40B4-BE49-F238E27FC236}">
                <a16:creationId xmlns:a16="http://schemas.microsoft.com/office/drawing/2014/main" id="{D66F824E-29B0-DD23-9537-A22593BA0A35}"/>
              </a:ext>
            </a:extLst>
          </p:cNvPr>
          <p:cNvSpPr>
            <a:spLocks noChangeArrowheads="1"/>
          </p:cNvSpPr>
          <p:nvPr/>
        </p:nvSpPr>
        <p:spPr bwMode="auto">
          <a:xfrm rot="10800000" flipV="1">
            <a:off x="6425609" y="168535"/>
            <a:ext cx="5411114"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Dedicated Workspaces per Environment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Keep </a:t>
            </a:r>
            <a:r>
              <a:rPr kumimoji="0" lang="en-US" altLang="en-US" sz="900" b="1" i="0" u="none" strike="noStrike" cap="none" normalizeH="0" baseline="0" dirty="0">
                <a:ln>
                  <a:noFill/>
                </a:ln>
                <a:solidFill>
                  <a:schemeClr val="tx1"/>
                </a:solidFill>
                <a:effectLst/>
                <a:latin typeface="Arial" panose="020B0604020202020204" pitchFamily="34" charset="0"/>
              </a:rPr>
              <a:t>separate Fabric workspaces</a:t>
            </a:r>
            <a:r>
              <a:rPr kumimoji="0" lang="en-US" altLang="en-US" sz="900" b="0" i="0" u="none" strike="noStrike" cap="none" normalizeH="0" baseline="0" dirty="0">
                <a:ln>
                  <a:noFill/>
                </a:ln>
                <a:solidFill>
                  <a:schemeClr val="tx1"/>
                </a:solidFill>
                <a:effectLst/>
                <a:latin typeface="Arial" panose="020B0604020202020204" pitchFamily="34" charset="0"/>
              </a:rPr>
              <a:t> for </a:t>
            </a:r>
            <a:r>
              <a:rPr kumimoji="0" lang="en-US" altLang="en-US" sz="900" b="0" i="0" u="none" strike="noStrike" cap="none" normalizeH="0" baseline="0" dirty="0">
                <a:ln>
                  <a:noFill/>
                </a:ln>
                <a:solidFill>
                  <a:schemeClr val="tx1"/>
                </a:solidFill>
                <a:effectLst/>
                <a:latin typeface="Arial Unicode MS"/>
              </a:rPr>
              <a:t>Dev</a:t>
            </a:r>
            <a:r>
              <a:rPr kumimoji="0" lang="en-US" altLang="en-US" sz="900" b="0" i="0" u="none" strike="noStrike" cap="none" normalizeH="0" baseline="0" dirty="0">
                <a:ln>
                  <a:noFill/>
                </a:ln>
                <a:solidFill>
                  <a:schemeClr val="tx1"/>
                </a:solidFill>
                <a:effectLst/>
              </a:rPr>
              <a:t>, </a:t>
            </a:r>
            <a:r>
              <a:rPr kumimoji="0" lang="en-US" altLang="en-US" sz="900" b="0" i="0" u="none" strike="noStrike" cap="none" normalizeH="0" baseline="0" dirty="0">
                <a:ln>
                  <a:noFill/>
                </a:ln>
                <a:solidFill>
                  <a:schemeClr val="tx1"/>
                </a:solidFill>
                <a:effectLst/>
                <a:latin typeface="Arial Unicode MS"/>
              </a:rPr>
              <a:t>Test</a:t>
            </a:r>
            <a:r>
              <a:rPr kumimoji="0" lang="en-US" altLang="en-US" sz="900" b="0" i="0" u="none" strike="noStrike" cap="none" normalizeH="0" baseline="0" dirty="0">
                <a:ln>
                  <a:noFill/>
                </a:ln>
                <a:solidFill>
                  <a:schemeClr val="tx1"/>
                </a:solidFill>
                <a:effectLst/>
              </a:rPr>
              <a:t>, and </a:t>
            </a:r>
            <a:r>
              <a:rPr kumimoji="0" lang="en-US" altLang="en-US" sz="900" b="0" i="0" u="none" strike="noStrike" cap="none" normalizeH="0" baseline="0" dirty="0">
                <a:ln>
                  <a:noFill/>
                </a:ln>
                <a:solidFill>
                  <a:schemeClr val="tx1"/>
                </a:solidFill>
                <a:effectLst/>
                <a:latin typeface="Arial Unicode MS"/>
              </a:rPr>
              <a:t>Prod</a:t>
            </a:r>
            <a:r>
              <a:rPr kumimoji="0" lang="en-US" altLang="en-US" sz="900" b="0" i="0" u="none" strike="noStrike" cap="none" normalizeH="0" baseline="0" dirty="0">
                <a:ln>
                  <a:noFill/>
                </a:ln>
                <a:solidFill>
                  <a:schemeClr val="tx1"/>
                </a:solidFill>
                <a:effectLst/>
              </a:rPr>
              <a:t> to </a:t>
            </a:r>
            <a:r>
              <a:rPr kumimoji="0" lang="en-US" altLang="en-US" sz="900" b="1" i="0" u="none" strike="noStrike" cap="none" normalizeH="0" baseline="0" dirty="0">
                <a:ln>
                  <a:noFill/>
                </a:ln>
                <a:solidFill>
                  <a:schemeClr val="tx1"/>
                </a:solidFill>
                <a:effectLst/>
                <a:latin typeface="Arial" panose="020B0604020202020204" pitchFamily="34" charset="0"/>
              </a:rPr>
              <a:t>avoid cross-contamination</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Separate Spark Pools per Environment</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Assign </a:t>
            </a:r>
            <a:r>
              <a:rPr kumimoji="0" lang="en-US" altLang="en-US" sz="900" b="1" i="0" u="none" strike="noStrike" cap="none" normalizeH="0" baseline="0" dirty="0">
                <a:ln>
                  <a:noFill/>
                </a:ln>
                <a:solidFill>
                  <a:schemeClr val="tx1"/>
                </a:solidFill>
                <a:effectLst/>
                <a:latin typeface="Arial" panose="020B0604020202020204" pitchFamily="34" charset="0"/>
              </a:rPr>
              <a:t>different Spark Pools</a:t>
            </a:r>
            <a:r>
              <a:rPr kumimoji="0" lang="en-US" altLang="en-US" sz="900" b="0" i="0" u="none" strike="noStrike" cap="none" normalizeH="0" baseline="0" dirty="0">
                <a:ln>
                  <a:noFill/>
                </a:ln>
                <a:solidFill>
                  <a:schemeClr val="tx1"/>
                </a:solidFill>
                <a:effectLst/>
                <a:latin typeface="Arial" panose="020B0604020202020204" pitchFamily="34" charset="0"/>
              </a:rPr>
              <a:t> (</a:t>
            </a:r>
            <a:r>
              <a:rPr kumimoji="0" lang="en-US" altLang="en-US" sz="900" b="0" i="0" u="none" strike="noStrike" cap="none" normalizeH="0" baseline="0" dirty="0">
                <a:ln>
                  <a:noFill/>
                </a:ln>
                <a:solidFill>
                  <a:schemeClr val="tx1"/>
                </a:solidFill>
                <a:effectLst/>
                <a:latin typeface="Arial Unicode MS"/>
              </a:rPr>
              <a:t>Dev-Spark-Pool</a:t>
            </a:r>
            <a:r>
              <a:rPr kumimoji="0" lang="en-US" altLang="en-US" sz="900" b="0" i="0" u="none" strike="noStrike" cap="none" normalizeH="0" baseline="0" dirty="0">
                <a:ln>
                  <a:noFill/>
                </a:ln>
                <a:solidFill>
                  <a:schemeClr val="tx1"/>
                </a:solidFill>
                <a:effectLst/>
              </a:rPr>
              <a:t>, </a:t>
            </a:r>
            <a:r>
              <a:rPr kumimoji="0" lang="en-US" altLang="en-US" sz="900" b="0" i="0" u="none" strike="noStrike" cap="none" normalizeH="0" baseline="0" dirty="0">
                <a:ln>
                  <a:noFill/>
                </a:ln>
                <a:solidFill>
                  <a:schemeClr val="tx1"/>
                </a:solidFill>
                <a:effectLst/>
                <a:latin typeface="Arial Unicode MS"/>
              </a:rPr>
              <a:t>Test-Spark-Pool</a:t>
            </a:r>
            <a:r>
              <a:rPr kumimoji="0" lang="en-US" altLang="en-US" sz="900" b="0" i="0" u="none" strike="noStrike" cap="none" normalizeH="0" baseline="0" dirty="0">
                <a:ln>
                  <a:noFill/>
                </a:ln>
                <a:solidFill>
                  <a:schemeClr val="tx1"/>
                </a:solidFill>
                <a:effectLst/>
              </a:rPr>
              <a:t>, </a:t>
            </a:r>
            <a:r>
              <a:rPr kumimoji="0" lang="en-US" altLang="en-US" sz="900" b="0" i="0" u="none" strike="noStrike" cap="none" normalizeH="0" baseline="0" dirty="0">
                <a:ln>
                  <a:noFill/>
                </a:ln>
                <a:solidFill>
                  <a:schemeClr val="tx1"/>
                </a:solidFill>
                <a:effectLst/>
                <a:latin typeface="Arial Unicode MS"/>
              </a:rPr>
              <a:t>Prod-Spark-Pool</a:t>
            </a:r>
            <a:r>
              <a:rPr kumimoji="0" lang="en-US" altLang="en-US" sz="900" b="0" i="0" u="none" strike="noStrike" cap="none" normalizeH="0" baseline="0" dirty="0">
                <a:ln>
                  <a:noFill/>
                </a:ln>
                <a:solidFill>
                  <a:schemeClr val="tx1"/>
                </a:solidFill>
                <a:effectLst/>
              </a:rPr>
              <a:t>) based on the environment to </a:t>
            </a:r>
            <a:r>
              <a:rPr kumimoji="0" lang="en-US" altLang="en-US" sz="900" b="1" i="0" u="none" strike="noStrike" cap="none" normalizeH="0" baseline="0" dirty="0">
                <a:ln>
                  <a:noFill/>
                </a:ln>
                <a:solidFill>
                  <a:schemeClr val="tx1"/>
                </a:solidFill>
                <a:effectLst/>
                <a:latin typeface="Arial" panose="020B0604020202020204" pitchFamily="34" charset="0"/>
              </a:rPr>
              <a:t>control performance, compute resources, and access levels</a:t>
            </a:r>
            <a:r>
              <a:rPr kumimoji="0" lang="en-US" altLang="en-US" sz="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Resource Allocation Strategy</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Dev:</a:t>
            </a:r>
            <a:r>
              <a:rPr kumimoji="0" lang="en-US" altLang="en-US" sz="900" b="0" i="0" u="none" strike="noStrike" cap="none" normalizeH="0" baseline="0" dirty="0">
                <a:ln>
                  <a:noFill/>
                </a:ln>
                <a:solidFill>
                  <a:schemeClr val="tx1"/>
                </a:solidFill>
                <a:effectLst/>
                <a:latin typeface="Arial" panose="020B0604020202020204" pitchFamily="34" charset="0"/>
              </a:rPr>
              <a:t> Lower compute resources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Test:</a:t>
            </a:r>
            <a:r>
              <a:rPr kumimoji="0" lang="en-US" altLang="en-US" sz="900" b="0" i="0" u="none" strike="noStrike" cap="none" normalizeH="0" baseline="0" dirty="0">
                <a:ln>
                  <a:noFill/>
                </a:ln>
                <a:solidFill>
                  <a:schemeClr val="tx1"/>
                </a:solidFill>
                <a:effectLst/>
                <a:latin typeface="Arial" panose="020B0604020202020204" pitchFamily="34" charset="0"/>
              </a:rPr>
              <a:t> Moderate compute resources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Prod:</a:t>
            </a:r>
            <a:r>
              <a:rPr kumimoji="0" lang="en-US" altLang="en-US" sz="900" b="0" i="0" u="none" strike="noStrike" cap="none" normalizeH="0" baseline="0" dirty="0">
                <a:ln>
                  <a:noFill/>
                </a:ln>
                <a:solidFill>
                  <a:schemeClr val="tx1"/>
                </a:solidFill>
                <a:effectLst/>
                <a:latin typeface="Arial" panose="020B0604020202020204" pitchFamily="34" charset="0"/>
              </a:rPr>
              <a:t> High compute resources, autoscaling enabled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Access Control &amp; Security</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Arial" panose="020B0604020202020204" pitchFamily="34" charset="0"/>
              </a:rPr>
              <a:t>RBAC (Role-Based Access Control)</a:t>
            </a:r>
            <a:r>
              <a:rPr kumimoji="0" lang="en-US" altLang="en-US" sz="900" b="0" i="0" u="none" strike="noStrike" cap="none" normalizeH="0" baseline="0" dirty="0">
                <a:ln>
                  <a:noFill/>
                </a:ln>
                <a:solidFill>
                  <a:schemeClr val="tx1"/>
                </a:solidFill>
                <a:effectLst/>
                <a:latin typeface="Arial" panose="020B0604020202020204" pitchFamily="34" charset="0"/>
              </a:rPr>
              <a:t> ensures only relevant teams access the right environment.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11AB1B80-7479-A69F-A9C0-6940D79C1517}"/>
              </a:ext>
            </a:extLst>
          </p:cNvPr>
          <p:cNvSpPr txBox="1"/>
          <p:nvPr/>
        </p:nvSpPr>
        <p:spPr>
          <a:xfrm>
            <a:off x="6095999" y="2615708"/>
            <a:ext cx="5993911" cy="646331"/>
          </a:xfrm>
          <a:prstGeom prst="rect">
            <a:avLst/>
          </a:prstGeom>
          <a:noFill/>
        </p:spPr>
        <p:txBody>
          <a:bodyPr wrap="square">
            <a:spAutoFit/>
          </a:bodyPr>
          <a:lstStyle/>
          <a:p>
            <a:r>
              <a:rPr lang="en-GB" sz="1200" i="0" dirty="0">
                <a:solidFill>
                  <a:srgbClr val="242424"/>
                </a:solidFill>
                <a:effectLst/>
                <a:latin typeface="Segoe UI" panose="020B0502040204020203" pitchFamily="34" charset="0"/>
              </a:rPr>
              <a:t>Spark compute configuration This</a:t>
            </a:r>
            <a:r>
              <a:rPr lang="en-GB" sz="1200" b="0" i="0" dirty="0">
                <a:solidFill>
                  <a:srgbClr val="242424"/>
                </a:solidFill>
                <a:effectLst/>
                <a:latin typeface="Segoe UI" panose="020B0502040204020203" pitchFamily="34" charset="0"/>
              </a:rPr>
              <a:t> configuration applies to all notebooks and Spark job definitions in this environment. When you select a pool, the settings in that pool serve as limits for any environment-level pool details you customize. </a:t>
            </a:r>
            <a:endParaRPr lang="en-GB" sz="1200" dirty="0"/>
          </a:p>
        </p:txBody>
      </p:sp>
    </p:spTree>
    <p:extLst>
      <p:ext uri="{BB962C8B-B14F-4D97-AF65-F5344CB8AC3E}">
        <p14:creationId xmlns:p14="http://schemas.microsoft.com/office/powerpoint/2010/main" val="2545893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7F52A-2817-0565-2FF4-7ECAC0A98D51}"/>
            </a:ext>
          </a:extLst>
        </p:cNvPr>
        <p:cNvGrpSpPr/>
        <p:nvPr/>
      </p:nvGrpSpPr>
      <p:grpSpPr>
        <a:xfrm>
          <a:off x="0" y="0"/>
          <a:ext cx="0" cy="0"/>
          <a:chOff x="0" y="0"/>
          <a:chExt cx="0" cy="0"/>
        </a:xfrm>
      </p:grpSpPr>
      <p:pic>
        <p:nvPicPr>
          <p:cNvPr id="4099" name="Picture 3" descr="A screenshot of a computer&#10;&#10;Description automatically generated">
            <a:extLst>
              <a:ext uri="{FF2B5EF4-FFF2-40B4-BE49-F238E27FC236}">
                <a16:creationId xmlns:a16="http://schemas.microsoft.com/office/drawing/2014/main" id="{C78D43EB-104B-FBCF-35FD-F5E0B2AC91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724" y="692944"/>
            <a:ext cx="5578476" cy="296386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A screenshot of a computer&#10;&#10;Description automatically generated">
            <a:extLst>
              <a:ext uri="{FF2B5EF4-FFF2-40B4-BE49-F238E27FC236}">
                <a16:creationId xmlns:a16="http://schemas.microsoft.com/office/drawing/2014/main" id="{481866BA-B222-84D2-97B3-9CD4E15CAB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64" y="3878263"/>
            <a:ext cx="5758636" cy="2682875"/>
          </a:xfrm>
          <a:prstGeom prst="rect">
            <a:avLst/>
          </a:prstGeom>
          <a:noFill/>
          <a:extLst>
            <a:ext uri="{909E8E84-426E-40DD-AFC4-6F175D3DCCD1}">
              <a14:hiddenFill xmlns:a14="http://schemas.microsoft.com/office/drawing/2010/main">
                <a:solidFill>
                  <a:srgbClr val="FFFFFF"/>
                </a:solidFill>
              </a14:hiddenFill>
            </a:ext>
          </a:extLst>
        </p:spPr>
      </p:pic>
      <p:pic>
        <p:nvPicPr>
          <p:cNvPr id="4097" name="Picture 1" descr="A screenshot of a computer&#10;&#10;Description automatically generated">
            <a:extLst>
              <a:ext uri="{FF2B5EF4-FFF2-40B4-BE49-F238E27FC236}">
                <a16:creationId xmlns:a16="http://schemas.microsoft.com/office/drawing/2014/main" id="{070B42B0-6152-00BB-2107-3E53F475D3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0640" y="709734"/>
            <a:ext cx="5758636" cy="329721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270E9B3B-EBD7-B0FF-7AC5-731CCC06F5CD}"/>
              </a:ext>
            </a:extLst>
          </p:cNvPr>
          <p:cNvSpPr>
            <a:spLocks noChangeArrowheads="1"/>
          </p:cNvSpPr>
          <p:nvPr/>
        </p:nvSpPr>
        <p:spPr bwMode="auto">
          <a:xfrm>
            <a:off x="6096001" y="137559"/>
            <a:ext cx="6096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14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Purview: Data cataloguing, lineage tracking, and permission management.</a:t>
            </a:r>
            <a:endParaRPr kumimoji="0" lang="en-GB" altLang="en-US" sz="1400" b="0" i="0" u="none" strike="noStrike" cap="none" normalizeH="0" baseline="0" dirty="0">
              <a:ln>
                <a:noFill/>
              </a:ln>
              <a:solidFill>
                <a:schemeClr val="tx1"/>
              </a:solidFill>
              <a:effectLst/>
            </a:endParaRPr>
          </a:p>
        </p:txBody>
      </p:sp>
      <p:sp>
        <p:nvSpPr>
          <p:cNvPr id="3" name="Rectangle 5">
            <a:extLst>
              <a:ext uri="{FF2B5EF4-FFF2-40B4-BE49-F238E27FC236}">
                <a16:creationId xmlns:a16="http://schemas.microsoft.com/office/drawing/2014/main" id="{A47FA597-F25A-D80A-D87A-116586522B90}"/>
              </a:ext>
            </a:extLst>
          </p:cNvPr>
          <p:cNvSpPr>
            <a:spLocks noChangeArrowheads="1"/>
          </p:cNvSpPr>
          <p:nvPr/>
        </p:nvSpPr>
        <p:spPr bwMode="auto">
          <a:xfrm>
            <a:off x="457200" y="34210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4" name="Rectangle 6">
            <a:extLst>
              <a:ext uri="{FF2B5EF4-FFF2-40B4-BE49-F238E27FC236}">
                <a16:creationId xmlns:a16="http://schemas.microsoft.com/office/drawing/2014/main" id="{E89205DD-AF9A-70E1-8C70-489ED142B040}"/>
              </a:ext>
            </a:extLst>
          </p:cNvPr>
          <p:cNvSpPr>
            <a:spLocks noChangeArrowheads="1"/>
          </p:cNvSpPr>
          <p:nvPr/>
        </p:nvSpPr>
        <p:spPr bwMode="auto">
          <a:xfrm>
            <a:off x="6220640" y="4318176"/>
            <a:ext cx="54497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12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Monitoring: Built-in monitoring for pipeline performance and script optimization.</a:t>
            </a:r>
            <a:endParaRPr kumimoji="0" lang="en-GB" altLang="en-US" sz="1200" b="0" i="0" u="none" strike="noStrike" cap="none" normalizeH="0" baseline="0" dirty="0">
              <a:ln>
                <a:noFill/>
              </a:ln>
              <a:solidFill>
                <a:schemeClr val="tx1"/>
              </a:solidFill>
              <a:effectLst/>
            </a:endParaRPr>
          </a:p>
        </p:txBody>
      </p:sp>
      <p:sp>
        <p:nvSpPr>
          <p:cNvPr id="5" name="Rectangle 7">
            <a:extLst>
              <a:ext uri="{FF2B5EF4-FFF2-40B4-BE49-F238E27FC236}">
                <a16:creationId xmlns:a16="http://schemas.microsoft.com/office/drawing/2014/main" id="{B98E2942-5B61-F8A6-2A4E-935FA55C98E1}"/>
              </a:ext>
            </a:extLst>
          </p:cNvPr>
          <p:cNvSpPr>
            <a:spLocks noChangeArrowheads="1"/>
          </p:cNvSpPr>
          <p:nvPr/>
        </p:nvSpPr>
        <p:spPr bwMode="auto">
          <a:xfrm>
            <a:off x="457200" y="99679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8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7. Common Issues &amp; Solutions</a:t>
            </a:r>
            <a:endParaRPr kumimoji="0" lang="en-GB"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8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Throttling: Solved by creating designated Spark pools to segregate usage and testing.</a:t>
            </a:r>
            <a:endParaRPr kumimoji="0" lang="en-GB" altLang="en-US" sz="1100" b="0"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800" b="1"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Compute Queue: Scheduled runs can be managed through specific pools.</a:t>
            </a:r>
            <a:endParaRPr kumimoji="0" lang="en-GB"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5B10DC60-0345-7132-A08B-DE8E4F8BFDD4}"/>
              </a:ext>
            </a:extLst>
          </p:cNvPr>
          <p:cNvSpPr txBox="1"/>
          <p:nvPr/>
        </p:nvSpPr>
        <p:spPr>
          <a:xfrm>
            <a:off x="0" y="32625"/>
            <a:ext cx="63246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8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6. Monitoring &amp; Purview Integration</a:t>
            </a:r>
            <a:endParaRPr kumimoji="0" lang="en-GB"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525900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ABE2AE94-3170-BD19-8AE2-E3D6D63BA310}"/>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1" kern="1200">
                <a:solidFill>
                  <a:srgbClr val="FFFFFF"/>
                </a:solidFill>
                <a:latin typeface="+mj-lt"/>
                <a:ea typeface="+mj-ea"/>
                <a:cs typeface="+mj-cs"/>
              </a:rPr>
              <a:t>Features and Benefits</a:t>
            </a:r>
          </a:p>
        </p:txBody>
      </p:sp>
    </p:spTree>
    <p:extLst>
      <p:ext uri="{BB962C8B-B14F-4D97-AF65-F5344CB8AC3E}">
        <p14:creationId xmlns:p14="http://schemas.microsoft.com/office/powerpoint/2010/main" val="1404495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loud computing digital concept">
            <a:extLst>
              <a:ext uri="{FF2B5EF4-FFF2-40B4-BE49-F238E27FC236}">
                <a16:creationId xmlns:a16="http://schemas.microsoft.com/office/drawing/2014/main" id="{0E3B60DC-A080-4EEB-98F6-13B7F677D07D}"/>
              </a:ext>
            </a:extLst>
          </p:cNvPr>
          <p:cNvPicPr>
            <a:picLocks noGrp="1" noChangeAspect="1"/>
          </p:cNvPicPr>
          <p:nvPr>
            <p:ph sz="half" idx="1"/>
          </p:nvPr>
        </p:nvPicPr>
        <p:blipFill>
          <a:blip r:embed="rId3"/>
          <a:srcRect l="39922" r="13672" b="-2"/>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109B528-5496-BAF0-09E6-543D6C010542}"/>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100000"/>
              </a:lnSpc>
            </a:pPr>
            <a:r>
              <a:rPr lang="en-US" sz="4000" b="1"/>
              <a:t>Features and Benefits</a:t>
            </a:r>
          </a:p>
        </p:txBody>
      </p:sp>
      <p:sp>
        <p:nvSpPr>
          <p:cNvPr id="4" name="Content Placeholder 3">
            <a:extLst>
              <a:ext uri="{FF2B5EF4-FFF2-40B4-BE49-F238E27FC236}">
                <a16:creationId xmlns:a16="http://schemas.microsoft.com/office/drawing/2014/main" id="{B474819B-D8A9-16AB-6FF1-8BEF6FEAEDD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GB" sz="1400" b="1"/>
              <a:t>Seamless Azure Integration</a:t>
            </a:r>
          </a:p>
          <a:p>
            <a:pPr marL="0" lvl="1" indent="0">
              <a:buNone/>
            </a:pPr>
            <a:r>
              <a:rPr lang="en-GB" sz="1400"/>
              <a:t>Microsoft Fabric provides seamless integration with Azure, allowing organizations to leverage cloud capabilities effortlessly.</a:t>
            </a:r>
          </a:p>
          <a:p>
            <a:pPr marL="0" indent="0">
              <a:spcBef>
                <a:spcPts val="2500"/>
              </a:spcBef>
              <a:buNone/>
            </a:pPr>
            <a:r>
              <a:rPr lang="en-GB" sz="1400" b="1"/>
              <a:t>Scalability</a:t>
            </a:r>
          </a:p>
          <a:p>
            <a:pPr marL="0" lvl="1" indent="0">
              <a:buNone/>
            </a:pPr>
            <a:r>
              <a:rPr lang="en-GB" sz="1400"/>
              <a:t>The platform offers scalability that enables organizations to grow their data strategies in line with business needs.</a:t>
            </a:r>
          </a:p>
          <a:p>
            <a:pPr marL="0" indent="0">
              <a:spcBef>
                <a:spcPts val="2500"/>
              </a:spcBef>
              <a:buNone/>
            </a:pPr>
            <a:r>
              <a:rPr lang="en-GB" sz="1400" b="1"/>
              <a:t>Advanced Analytics Support</a:t>
            </a:r>
          </a:p>
          <a:p>
            <a:pPr marL="0" lvl="1" indent="0">
              <a:buNone/>
            </a:pPr>
            <a:r>
              <a:rPr lang="en-GB" sz="1400"/>
              <a:t>With support for advanced analytics, Microsoft Fabric helps organizations derive actionable insights from their data.</a:t>
            </a:r>
          </a:p>
        </p:txBody>
      </p:sp>
    </p:spTree>
    <p:extLst>
      <p:ext uri="{BB962C8B-B14F-4D97-AF65-F5344CB8AC3E}">
        <p14:creationId xmlns:p14="http://schemas.microsoft.com/office/powerpoint/2010/main" val="1268977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D1F13DC-145E-4492-8BF4-6F782FC5E2DF}"/>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1" kern="1200">
                <a:solidFill>
                  <a:srgbClr val="FFFFFF"/>
                </a:solidFill>
                <a:latin typeface="+mj-lt"/>
                <a:ea typeface="+mj-ea"/>
                <a:cs typeface="+mj-cs"/>
              </a:rPr>
              <a:t>Conclusion</a:t>
            </a:r>
          </a:p>
        </p:txBody>
      </p:sp>
    </p:spTree>
    <p:extLst>
      <p:ext uri="{BB962C8B-B14F-4D97-AF65-F5344CB8AC3E}">
        <p14:creationId xmlns:p14="http://schemas.microsoft.com/office/powerpoint/2010/main" val="3002829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 name="Arc 2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216875-62B9-6440-6015-08C3CF8A4C64}"/>
              </a:ext>
            </a:extLst>
          </p:cNvPr>
          <p:cNvSpPr>
            <a:spLocks noGrp="1"/>
          </p:cNvSpPr>
          <p:nvPr>
            <p:ph type="title"/>
          </p:nvPr>
        </p:nvSpPr>
        <p:spPr>
          <a:xfrm>
            <a:off x="5894962" y="479493"/>
            <a:ext cx="5458838" cy="1325563"/>
          </a:xfrm>
        </p:spPr>
        <p:txBody>
          <a:bodyPr vert="horz" lIns="91440" tIns="45720" rIns="91440" bIns="45720" rtlCol="0" anchor="ctr">
            <a:normAutofit/>
          </a:bodyPr>
          <a:lstStyle/>
          <a:p>
            <a:pPr>
              <a:spcAft>
                <a:spcPts val="800"/>
              </a:spcAft>
            </a:pPr>
            <a:r>
              <a:rPr lang="en-US" sz="2100" b="1" kern="1200">
                <a:solidFill>
                  <a:schemeClr val="tx1"/>
                </a:solidFill>
                <a:effectLst/>
                <a:latin typeface="+mj-lt"/>
                <a:ea typeface="+mj-ea"/>
                <a:cs typeface="+mj-cs"/>
              </a:rPr>
              <a:t>Common Issues </a:t>
            </a:r>
            <a:br>
              <a:rPr lang="en-US" sz="2100" kern="1200">
                <a:solidFill>
                  <a:schemeClr val="tx1"/>
                </a:solidFill>
                <a:effectLst/>
                <a:latin typeface="+mj-lt"/>
                <a:ea typeface="+mj-ea"/>
                <a:cs typeface="+mj-cs"/>
              </a:rPr>
            </a:br>
            <a:r>
              <a:rPr lang="en-US" sz="2100" kern="1200">
                <a:solidFill>
                  <a:schemeClr val="tx1"/>
                </a:solidFill>
                <a:effectLst/>
                <a:latin typeface="+mj-lt"/>
                <a:ea typeface="+mj-ea"/>
                <a:cs typeface="+mj-cs"/>
              </a:rPr>
              <a:t>Below was highlighted within the Data Meeting which was initially our main concern when using Fabric</a:t>
            </a:r>
          </a:p>
        </p:txBody>
      </p:sp>
      <p:sp>
        <p:nvSpPr>
          <p:cNvPr id="23" name="Freeform: Shape 2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Picture 8" descr="A screenshot of a computer&#10;&#10;Description automatically generated">
            <a:extLst>
              <a:ext uri="{FF2B5EF4-FFF2-40B4-BE49-F238E27FC236}">
                <a16:creationId xmlns:a16="http://schemas.microsoft.com/office/drawing/2014/main" id="{1148CA54-BB28-A958-41ED-49DDAFB02D9D}"/>
              </a:ext>
            </a:extLst>
          </p:cNvPr>
          <p:cNvPicPr>
            <a:picLocks noChangeAspect="1"/>
          </p:cNvPicPr>
          <p:nvPr/>
        </p:nvPicPr>
        <p:blipFill>
          <a:blip r:embed="rId3"/>
          <a:stretch>
            <a:fillRect/>
          </a:stretch>
        </p:blipFill>
        <p:spPr>
          <a:xfrm>
            <a:off x="703182" y="985296"/>
            <a:ext cx="4777381" cy="4717663"/>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 name="Content Placeholder 3">
            <a:extLst>
              <a:ext uri="{FF2B5EF4-FFF2-40B4-BE49-F238E27FC236}">
                <a16:creationId xmlns:a16="http://schemas.microsoft.com/office/drawing/2014/main" id="{BBDC7CE0-79A9-899D-16C6-CC20F4E06B9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94962" y="1984443"/>
            <a:ext cx="5458838" cy="4192520"/>
          </a:xfrm>
        </p:spPr>
        <p:txBody>
          <a:bodyPr>
            <a:normAutofit/>
          </a:bodyPr>
          <a:lstStyle/>
          <a:p>
            <a:pPr marL="0" indent="0">
              <a:buNone/>
            </a:pPr>
            <a:r>
              <a:rPr lang="en-GB" sz="2400" b="1" dirty="0"/>
              <a:t>Throttle Problem</a:t>
            </a:r>
            <a:endParaRPr lang="en-GB" sz="2400" dirty="0"/>
          </a:p>
          <a:p>
            <a:r>
              <a:rPr lang="en-GB" sz="2400" dirty="0"/>
              <a:t>Solution creating designated spark pool within an environment allows us to segregate usage and test.</a:t>
            </a:r>
          </a:p>
          <a:p>
            <a:r>
              <a:rPr lang="en-GB" sz="2400" dirty="0"/>
              <a:t>Environments also works within the CI/CD process this is now in production for MS Fabric</a:t>
            </a:r>
          </a:p>
          <a:p>
            <a:pPr marL="0" indent="0">
              <a:buNone/>
            </a:pPr>
            <a:r>
              <a:rPr lang="en-GB" sz="2400" b="1" dirty="0"/>
              <a:t>No Queue against the compute </a:t>
            </a:r>
            <a:endParaRPr lang="en-GB" sz="2400" dirty="0"/>
          </a:p>
          <a:p>
            <a:r>
              <a:rPr lang="en-GB" sz="2400" dirty="0"/>
              <a:t>Scheduled runs can be done through specific pools and then run.</a:t>
            </a:r>
          </a:p>
        </p:txBody>
      </p:sp>
    </p:spTree>
    <p:extLst>
      <p:ext uri="{BB962C8B-B14F-4D97-AF65-F5344CB8AC3E}">
        <p14:creationId xmlns:p14="http://schemas.microsoft.com/office/powerpoint/2010/main" val="4150091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3" name="Arc 2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57EF361-C45F-0244-2693-513EBEC33F29}"/>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kern="1200" dirty="0">
                <a:solidFill>
                  <a:schemeClr val="tx1"/>
                </a:solidFill>
                <a:latin typeface="+mj-lt"/>
                <a:ea typeface="+mj-ea"/>
                <a:cs typeface="+mj-cs"/>
              </a:rPr>
              <a:t>Conclusion and Next Steps</a:t>
            </a:r>
          </a:p>
        </p:txBody>
      </p:sp>
      <p:sp>
        <p:nvSpPr>
          <p:cNvPr id="25" name="Freeform: Shape 2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descr="A screenshot of a phone&#10;&#10;Description automatically generated">
            <a:extLst>
              <a:ext uri="{FF2B5EF4-FFF2-40B4-BE49-F238E27FC236}">
                <a16:creationId xmlns:a16="http://schemas.microsoft.com/office/drawing/2014/main" id="{5C5C97BF-22AE-D771-2A32-42DC38AD9AF2}"/>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2121" b="22880"/>
          <a:stretch/>
        </p:blipFill>
        <p:spPr>
          <a:xfrm>
            <a:off x="703182" y="2672318"/>
            <a:ext cx="4777381" cy="134362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5" name="TextBox 4">
            <a:extLst>
              <a:ext uri="{FF2B5EF4-FFF2-40B4-BE49-F238E27FC236}">
                <a16:creationId xmlns:a16="http://schemas.microsoft.com/office/drawing/2014/main" id="{EB3AC9A7-A897-5535-77FB-5BD0307C01D2}"/>
              </a:ext>
            </a:extLst>
          </p:cNvPr>
          <p:cNvSpPr txBox="1"/>
          <p:nvPr/>
        </p:nvSpPr>
        <p:spPr>
          <a:xfrm>
            <a:off x="5894962" y="1984443"/>
            <a:ext cx="5458838" cy="4192520"/>
          </a:xfrm>
          <a:prstGeom prst="rect">
            <a:avLst/>
          </a:prstGeom>
        </p:spPr>
        <p:txBody>
          <a:bodyPr vert="horz" lIns="91440" tIns="45720" rIns="91440" bIns="45720" rtlCol="0">
            <a:normAutofit/>
          </a:bodyPr>
          <a:lstStyle/>
          <a:p>
            <a:pPr lvl="0" indent="-228600">
              <a:lnSpc>
                <a:spcPct val="90000"/>
              </a:lnSpc>
              <a:spcAft>
                <a:spcPts val="600"/>
              </a:spcAft>
              <a:buFont typeface="Arial" panose="020B0604020202020204" pitchFamily="34" charset="0"/>
              <a:buChar char="•"/>
            </a:pPr>
            <a:endParaRPr lang="en-US"/>
          </a:p>
          <a:p>
            <a:pPr lvl="0" indent="-228600">
              <a:lnSpc>
                <a:spcPct val="90000"/>
              </a:lnSpc>
              <a:spcAft>
                <a:spcPts val="600"/>
              </a:spcAft>
              <a:buFont typeface="Arial" panose="020B0604020202020204" pitchFamily="34" charset="0"/>
              <a:buChar char="•"/>
            </a:pPr>
            <a:r>
              <a:rPr lang="en-US"/>
              <a:t>Microsoft Fabric offers high-speed data ingestion, cost-effective scalability, and seamless migration options from Azure Synapse. With robust security, CI/CD integration, and monitoring capabilities, Fabric is a strong candidate for modern data analytics workloads. The POC highlights its ability to handle large-scale data processing efficiently while maintaining cost control.</a:t>
            </a:r>
          </a:p>
        </p:txBody>
      </p:sp>
      <p:sp>
        <p:nvSpPr>
          <p:cNvPr id="6" name="TextBox 5">
            <a:extLst>
              <a:ext uri="{FF2B5EF4-FFF2-40B4-BE49-F238E27FC236}">
                <a16:creationId xmlns:a16="http://schemas.microsoft.com/office/drawing/2014/main" id="{C82FD97C-34EF-DEA3-195F-05E659BD2C52}"/>
              </a:ext>
            </a:extLst>
          </p:cNvPr>
          <p:cNvSpPr txBox="1"/>
          <p:nvPr/>
        </p:nvSpPr>
        <p:spPr>
          <a:xfrm>
            <a:off x="9894575" y="6657945"/>
            <a:ext cx="2297425" cy="200055"/>
          </a:xfrm>
          <a:prstGeom prst="rect">
            <a:avLst/>
          </a:prstGeom>
          <a:solidFill>
            <a:srgbClr val="000000"/>
          </a:solidFill>
        </p:spPr>
        <p:txBody>
          <a:bodyPr wrap="none" rtlCol="0">
            <a:spAutoFit/>
          </a:bodyPr>
          <a:lstStyle/>
          <a:p>
            <a:pPr algn="r">
              <a:spcAft>
                <a:spcPts val="600"/>
              </a:spcAft>
            </a:pPr>
            <a:r>
              <a:rPr lang="en-GB" sz="700">
                <a:solidFill>
                  <a:srgbClr val="FFFFFF"/>
                </a:solidFill>
                <a:hlinkClick r:id="rId4" tooltip="https://dtaxi.tistory.com/entry/Microsoft-Fabric-%EC%9D%B4%EB%9E%80">
                  <a:extLst>
                    <a:ext uri="{A12FA001-AC4F-418D-AE19-62706E023703}">
                      <ahyp:hlinkClr xmlns:ahyp="http://schemas.microsoft.com/office/drawing/2018/hyperlinkcolor" val="tx"/>
                    </a:ext>
                  </a:extLst>
                </a:hlinkClick>
              </a:rPr>
              <a:t>This Photo</a:t>
            </a:r>
            <a:r>
              <a:rPr lang="en-GB" sz="700">
                <a:solidFill>
                  <a:srgbClr val="FFFFFF"/>
                </a:solidFill>
              </a:rPr>
              <a:t> by Unknown Author is licensed under </a:t>
            </a:r>
            <a:r>
              <a:rPr lang="en-GB" sz="700">
                <a:solidFill>
                  <a:srgbClr val="FFFFFF"/>
                </a:solidFill>
                <a:hlinkClick r:id="rId5" tooltip="https://creativecommons.org/licenses/by/3.0/">
                  <a:extLst>
                    <a:ext uri="{A12FA001-AC4F-418D-AE19-62706E023703}">
                      <ahyp:hlinkClr xmlns:ahyp="http://schemas.microsoft.com/office/drawing/2018/hyperlinkcolor" val="tx"/>
                    </a:ext>
                  </a:extLst>
                </a:hlinkClick>
              </a:rPr>
              <a:t>CC BY</a:t>
            </a:r>
            <a:endParaRPr lang="en-GB" sz="700">
              <a:solidFill>
                <a:srgbClr val="FFFFFF"/>
              </a:solidFill>
            </a:endParaRPr>
          </a:p>
        </p:txBody>
      </p:sp>
    </p:spTree>
    <p:extLst>
      <p:ext uri="{BB962C8B-B14F-4D97-AF65-F5344CB8AC3E}">
        <p14:creationId xmlns:p14="http://schemas.microsoft.com/office/powerpoint/2010/main" val="626357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c354b2-85b0-47f5-b222-07b48d774ee3}" enabled="0" method="" siteId="{37c354b2-85b0-47f5-b222-07b48d774ee3}" removed="1"/>
</clbl:labelList>
</file>

<file path=docProps/app.xml><?xml version="1.0" encoding="utf-8"?>
<Properties xmlns="http://schemas.openxmlformats.org/officeDocument/2006/extended-properties" xmlns:vt="http://schemas.openxmlformats.org/officeDocument/2006/docPropsVTypes">
  <TotalTime>1306</TotalTime>
  <Words>1498</Words>
  <Application>Microsoft Office PowerPoint</Application>
  <PresentationFormat>Widescreen</PresentationFormat>
  <Paragraphs>206</Paragraphs>
  <Slides>18</Slides>
  <Notes>15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Aptos</vt:lpstr>
      <vt:lpstr>Aptos Display</vt:lpstr>
      <vt:lpstr>Aptos Narrow</vt:lpstr>
      <vt:lpstr>Arial</vt:lpstr>
      <vt:lpstr>Arial Unicode MS</vt:lpstr>
      <vt:lpstr>Calibri</vt:lpstr>
      <vt:lpstr>Courier New</vt:lpstr>
      <vt:lpstr>Grandview Display</vt:lpstr>
      <vt:lpstr>Lato</vt:lpstr>
      <vt:lpstr>Segoe UI</vt:lpstr>
      <vt:lpstr>Symbol</vt:lpstr>
      <vt:lpstr>Office Theme</vt:lpstr>
      <vt:lpstr>PowerPoint Presentation</vt:lpstr>
      <vt:lpstr>Agenda Overview</vt:lpstr>
      <vt:lpstr>Introduction to Microsoft Fabric</vt:lpstr>
      <vt:lpstr>What is Microsoft Fabric?</vt:lpstr>
      <vt:lpstr>Core Components of Microsoft Fabric</vt:lpstr>
      <vt:lpstr>POC Assessment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Features and Benefits</vt:lpstr>
      <vt:lpstr>Features and Benefits</vt:lpstr>
      <vt:lpstr>Conclusion</vt:lpstr>
      <vt:lpstr>Common Issues  Below was highlighted within the Data Meeting which was initially our main concern when using Fabric</vt:lpstr>
      <vt:lpstr>Conclusion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Jacques Isaacs</dc:creator>
  <cp:lastModifiedBy>ISAACS, Jacques (NHS NORFOLK AND WAVENEY ICB - 26A)</cp:lastModifiedBy>
  <cp:revision>9</cp:revision>
  <dcterms:created xsi:type="dcterms:W3CDTF">2025-01-28T12:11:31Z</dcterms:created>
  <dcterms:modified xsi:type="dcterms:W3CDTF">2025-03-18T17:48:33Z</dcterms:modified>
</cp:coreProperties>
</file>